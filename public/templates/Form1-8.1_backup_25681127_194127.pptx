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bookmarkIdSeed="5">
  <p:sldMasterIdLst>
    <p:sldMasterId id="2147483660" r:id="rId1"/>
  </p:sldMasterIdLst>
  <p:notesMasterIdLst>
    <p:notesMasterId r:id="rId37"/>
  </p:notesMasterIdLst>
  <p:sldIdLst>
    <p:sldId id="256" r:id="rId2"/>
    <p:sldId id="257" r:id="rId3"/>
    <p:sldId id="259" r:id="rId4"/>
    <p:sldId id="260" r:id="rId5"/>
    <p:sldId id="261" r:id="rId6"/>
    <p:sldId id="258" r:id="rId7"/>
    <p:sldId id="264" r:id="rId8"/>
    <p:sldId id="265" r:id="rId9"/>
    <p:sldId id="266" r:id="rId10"/>
    <p:sldId id="304" r:id="rId11"/>
    <p:sldId id="269" r:id="rId12"/>
    <p:sldId id="303" r:id="rId13"/>
    <p:sldId id="270" r:id="rId14"/>
    <p:sldId id="271" r:id="rId15"/>
    <p:sldId id="273" r:id="rId16"/>
    <p:sldId id="275" r:id="rId17"/>
    <p:sldId id="292" r:id="rId18"/>
    <p:sldId id="293" r:id="rId19"/>
    <p:sldId id="294" r:id="rId20"/>
    <p:sldId id="295" r:id="rId21"/>
    <p:sldId id="291" r:id="rId22"/>
    <p:sldId id="296" r:id="rId23"/>
    <p:sldId id="297" r:id="rId24"/>
    <p:sldId id="298" r:id="rId25"/>
    <p:sldId id="299" r:id="rId26"/>
    <p:sldId id="302" r:id="rId27"/>
    <p:sldId id="305" r:id="rId28"/>
    <p:sldId id="306" r:id="rId29"/>
    <p:sldId id="307" r:id="rId30"/>
    <p:sldId id="308" r:id="rId31"/>
    <p:sldId id="309" r:id="rId32"/>
    <p:sldId id="310" r:id="rId33"/>
    <p:sldId id="311" r:id="rId34"/>
    <p:sldId id="312" r:id="rId35"/>
    <p:sldId id="313" r:id="rId36"/>
  </p:sldIdLst>
  <p:sldSz cx="6858000" cy="9906000" type="A4"/>
  <p:notesSz cx="6888163" cy="100187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ปก+รองปก" id="{EC736CEC-9211-41A8-B70F-583B4FB10510}">
          <p14:sldIdLst>
            <p14:sldId id="256"/>
            <p14:sldId id="257"/>
          </p14:sldIdLst>
        </p14:section>
        <p14:section name="ส่วนที่ 1" id="{D50AB56A-B0A4-47EC-8304-C9D6C3542473}">
          <p14:sldIdLst>
            <p14:sldId id="259"/>
            <p14:sldId id="260"/>
            <p14:sldId id="261"/>
          </p14:sldIdLst>
        </p14:section>
        <p14:section name="ส่วนที่ 2" id="{F5398674-01CD-4682-96EC-6514B21F1C12}">
          <p14:sldIdLst>
            <p14:sldId id="258"/>
            <p14:sldId id="264"/>
            <p14:sldId id="265"/>
            <p14:sldId id="266"/>
            <p14:sldId id="304"/>
            <p14:sldId id="269"/>
            <p14:sldId id="303"/>
            <p14:sldId id="270"/>
            <p14:sldId id="271"/>
            <p14:sldId id="273"/>
          </p14:sldIdLst>
        </p14:section>
        <p14:section name="ส่วนที่ 3" id="{034FB1D7-3A84-467B-A129-17A8E2BC9B92}">
          <p14:sldIdLst>
            <p14:sldId id="275"/>
            <p14:sldId id="292"/>
            <p14:sldId id="293"/>
            <p14:sldId id="294"/>
            <p14:sldId id="295"/>
            <p14:sldId id="291"/>
            <p14:sldId id="296"/>
            <p14:sldId id="297"/>
          </p14:sldIdLst>
        </p14:section>
        <p14:section name="ความเห็นผู้ตรวจสอบ" id="{D9B85854-E9ED-4836-BE8B-5D991938FECD}">
          <p14:sldIdLst>
            <p14:sldId id="298"/>
            <p14:sldId id="299"/>
          </p14:sldIdLst>
        </p14:section>
        <p14:section name="แผนเข้า 1 รอบ" id="{623B5D8E-E079-4154-8869-6F626597FDF3}">
          <p14:sldIdLst>
            <p14:sldId id="302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>
    <p:extLst>
      <p:ext uri="{19B8F6BF-5375-455C-9EA6-DF929625EA0E}">
        <p15:presenceInfo xmlns:p15="http://schemas.microsoft.com/office/powerpoint/2012/main" userId="adm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สไตล์สีปานกลาง 2 - เน้น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382" autoAdjust="0"/>
    <p:restoredTop sz="94660"/>
  </p:normalViewPr>
  <p:slideViewPr>
    <p:cSldViewPr snapToGrid="0">
      <p:cViewPr varScale="1">
        <p:scale>
          <a:sx n="80" d="100"/>
          <a:sy n="80" d="100"/>
        </p:scale>
        <p:origin x="16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ัวกระดาษ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ตัวแทนวันที่ 2"/>
          <p:cNvSpPr>
            <a:spLocks noGrp="1"/>
          </p:cNvSpPr>
          <p:nvPr>
            <p:ph type="dt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683E9-DF2E-4DF0-AB46-9B0970C7D65B}" type="datetimeFigureOut">
              <a:rPr lang="th-TH" smtClean="0"/>
              <a:t>27/11/68</a:t>
            </a:fld>
            <a:endParaRPr lang="th-TH"/>
          </a:p>
        </p:txBody>
      </p:sp>
      <p:sp>
        <p:nvSpPr>
          <p:cNvPr id="4" name="ตัวแทนรูปบนสไลด์ 3"/>
          <p:cNvSpPr>
            <a:spLocks noGrp="1" noRot="1" noChangeAspect="1"/>
          </p:cNvSpPr>
          <p:nvPr>
            <p:ph type="sldImg" idx="2"/>
          </p:nvPr>
        </p:nvSpPr>
        <p:spPr>
          <a:xfrm>
            <a:off x="2273300" y="1252538"/>
            <a:ext cx="2341563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ตัวแทนบันทึกย่อ 4"/>
          <p:cNvSpPr>
            <a:spLocks noGrp="1"/>
          </p:cNvSpPr>
          <p:nvPr>
            <p:ph type="body" sz="quarter" idx="3"/>
          </p:nvPr>
        </p:nvSpPr>
        <p:spPr>
          <a:xfrm>
            <a:off x="688975" y="4821238"/>
            <a:ext cx="5510213" cy="39449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4"/>
          </p:nvPr>
        </p:nvSpPr>
        <p:spPr>
          <a:xfrm>
            <a:off x="0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5"/>
          </p:nvPr>
        </p:nvSpPr>
        <p:spPr>
          <a:xfrm>
            <a:off x="3902075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2E1393-ACCC-405E-A693-BCF6546E2FD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68606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th-TH"/>
              <a:t>คลิกเพื่อแก้ไขสไตล์ชื่อเรื่องรองต้นแบบ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27/11/68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27531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27/11/68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80156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27/11/68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82244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27/11/68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94803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27/11/68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04124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27/11/68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15770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27/11/68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67087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27/11/68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73660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th-TH"/>
              <a:t>คลิกไอคอนเพื่อเพิ่มรูปภาพ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27/11/68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86178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27/11/68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7526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27/11/68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88410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371250-1DA1-492F-B55C-E13D8C50DE57}" type="datetimeFigureOut">
              <a:rPr lang="th-TH" smtClean="0"/>
              <a:t>27/11/68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33339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vscode-file://vscode-app/c:/Users/admin/AppData/Local/Programs/Microsoft%20VS%20Code/resources/app/out/vs/code/electron-browser/workbench/workbench.html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กลุ่ม 3">
            <a:extLst>
              <a:ext uri="{FF2B5EF4-FFF2-40B4-BE49-F238E27FC236}">
                <a16:creationId xmlns:a16="http://schemas.microsoft.com/office/drawing/2014/main" id="{EE5639E8-AE10-4213-BD15-52DDC12FFB13}"/>
              </a:ext>
            </a:extLst>
          </p:cNvPr>
          <p:cNvGrpSpPr/>
          <p:nvPr/>
        </p:nvGrpSpPr>
        <p:grpSpPr>
          <a:xfrm>
            <a:off x="-18" y="0"/>
            <a:ext cx="1082626" cy="9917730"/>
            <a:chOff x="-18" y="0"/>
            <a:chExt cx="1082626" cy="9917730"/>
          </a:xfrm>
        </p:grpSpPr>
        <p:sp>
          <p:nvSpPr>
            <p:cNvPr id="5" name="รูปแบบอิสระ: รูปร่าง 4">
              <a:extLst>
                <a:ext uri="{FF2B5EF4-FFF2-40B4-BE49-F238E27FC236}">
                  <a16:creationId xmlns:a16="http://schemas.microsoft.com/office/drawing/2014/main" id="{128EB913-E5C5-41D0-9194-631308F1C89B}"/>
                </a:ext>
              </a:extLst>
            </p:cNvPr>
            <p:cNvSpPr/>
            <p:nvPr/>
          </p:nvSpPr>
          <p:spPr>
            <a:xfrm rot="16200000">
              <a:off x="-1693893" y="7366580"/>
              <a:ext cx="4245046" cy="857251"/>
            </a:xfrm>
            <a:custGeom>
              <a:avLst/>
              <a:gdLst>
                <a:gd name="connsiteX0" fmla="*/ 4245046 w 4245046"/>
                <a:gd name="connsiteY0" fmla="*/ 0 h 857251"/>
                <a:gd name="connsiteX1" fmla="*/ 2852150 w 4245046"/>
                <a:gd name="connsiteY1" fmla="*/ 857251 h 857251"/>
                <a:gd name="connsiteX2" fmla="*/ 0 w 4245046"/>
                <a:gd name="connsiteY2" fmla="*/ 857251 h 857251"/>
                <a:gd name="connsiteX3" fmla="*/ 0 w 4245046"/>
                <a:gd name="connsiteY3" fmla="*/ 0 h 857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5046" h="857251">
                  <a:moveTo>
                    <a:pt x="4245046" y="0"/>
                  </a:moveTo>
                  <a:lnTo>
                    <a:pt x="2852150" y="857251"/>
                  </a:lnTo>
                  <a:lnTo>
                    <a:pt x="0" y="857251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lumMod val="65000"/>
                    <a:lumOff val="35000"/>
                    <a:shade val="30000"/>
                    <a:satMod val="115000"/>
                  </a:schemeClr>
                </a:gs>
                <a:gs pos="50000">
                  <a:schemeClr val="tx1">
                    <a:lumMod val="65000"/>
                    <a:lumOff val="35000"/>
                    <a:shade val="67500"/>
                    <a:satMod val="115000"/>
                  </a:schemeClr>
                </a:gs>
                <a:gs pos="100000">
                  <a:schemeClr val="tx1">
                    <a:lumMod val="65000"/>
                    <a:lumOff val="35000"/>
                    <a:shade val="100000"/>
                    <a:satMod val="11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th-TH"/>
            </a:p>
          </p:txBody>
        </p:sp>
        <p:sp>
          <p:nvSpPr>
            <p:cNvPr id="6" name="สี่เหลี่ยมผืนผ้า 5">
              <a:extLst>
                <a:ext uri="{FF2B5EF4-FFF2-40B4-BE49-F238E27FC236}">
                  <a16:creationId xmlns:a16="http://schemas.microsoft.com/office/drawing/2014/main" id="{F5B0A30A-A45F-4C71-898A-509DF4B6C143}"/>
                </a:ext>
              </a:extLst>
            </p:cNvPr>
            <p:cNvSpPr/>
            <p:nvPr/>
          </p:nvSpPr>
          <p:spPr>
            <a:xfrm>
              <a:off x="0" y="0"/>
              <a:ext cx="558000" cy="9906000"/>
            </a:xfrm>
            <a:prstGeom prst="rect">
              <a:avLst/>
            </a:pr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grpSp>
          <p:nvGrpSpPr>
            <p:cNvPr id="7" name="กลุ่ม 6">
              <a:extLst>
                <a:ext uri="{FF2B5EF4-FFF2-40B4-BE49-F238E27FC236}">
                  <a16:creationId xmlns:a16="http://schemas.microsoft.com/office/drawing/2014/main" id="{CD3F742D-9086-4C15-89BB-FAACB35B2EBB}"/>
                </a:ext>
              </a:extLst>
            </p:cNvPr>
            <p:cNvGrpSpPr/>
            <p:nvPr/>
          </p:nvGrpSpPr>
          <p:grpSpPr>
            <a:xfrm>
              <a:off x="-18" y="4610448"/>
              <a:ext cx="1082626" cy="5307282"/>
              <a:chOff x="-18" y="4610448"/>
              <a:chExt cx="1082626" cy="5307282"/>
            </a:xfrm>
            <a:solidFill>
              <a:srgbClr val="000000"/>
            </a:solidFill>
            <a:effectLst/>
          </p:grpSpPr>
          <p:sp>
            <p:nvSpPr>
              <p:cNvPr id="8" name="รูปแบบอิสระ: รูปร่าง 7">
                <a:extLst>
                  <a:ext uri="{FF2B5EF4-FFF2-40B4-BE49-F238E27FC236}">
                    <a16:creationId xmlns:a16="http://schemas.microsoft.com/office/drawing/2014/main" id="{D6F6E28F-DC1C-4A86-B5E8-B96BDE041948}"/>
                  </a:ext>
                </a:extLst>
              </p:cNvPr>
              <p:cNvSpPr/>
              <p:nvPr/>
            </p:nvSpPr>
            <p:spPr>
              <a:xfrm rot="16200000">
                <a:off x="-799824" y="5410266"/>
                <a:ext cx="1781882" cy="182245"/>
              </a:xfrm>
              <a:custGeom>
                <a:avLst/>
                <a:gdLst>
                  <a:gd name="connsiteX0" fmla="*/ 1781882 w 1781882"/>
                  <a:gd name="connsiteY0" fmla="*/ 0 h 182245"/>
                  <a:gd name="connsiteX1" fmla="*/ 1485763 w 1781882"/>
                  <a:gd name="connsiteY1" fmla="*/ 182245 h 182245"/>
                  <a:gd name="connsiteX2" fmla="*/ 0 w 1781882"/>
                  <a:gd name="connsiteY2" fmla="*/ 182245 h 182245"/>
                  <a:gd name="connsiteX3" fmla="*/ 296119 w 1781882"/>
                  <a:gd name="connsiteY3" fmla="*/ 0 h 182245"/>
                  <a:gd name="connsiteX4" fmla="*/ 346681 w 1781882"/>
                  <a:gd name="connsiteY4" fmla="*/ 0 h 182245"/>
                  <a:gd name="connsiteX5" fmla="*/ 87288 w 1781882"/>
                  <a:gd name="connsiteY5" fmla="*/ 159642 h 182245"/>
                  <a:gd name="connsiteX6" fmla="*/ 1472119 w 1781882"/>
                  <a:gd name="connsiteY6" fmla="*/ 159642 h 182245"/>
                  <a:gd name="connsiteX7" fmla="*/ 1731512 w 1781882"/>
                  <a:gd name="connsiteY7" fmla="*/ 0 h 182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81882" h="182245">
                    <a:moveTo>
                      <a:pt x="1781882" y="0"/>
                    </a:moveTo>
                    <a:lnTo>
                      <a:pt x="1485763" y="182245"/>
                    </a:lnTo>
                    <a:lnTo>
                      <a:pt x="0" y="182245"/>
                    </a:lnTo>
                    <a:lnTo>
                      <a:pt x="296119" y="0"/>
                    </a:lnTo>
                    <a:lnTo>
                      <a:pt x="346681" y="0"/>
                    </a:lnTo>
                    <a:lnTo>
                      <a:pt x="87288" y="159642"/>
                    </a:lnTo>
                    <a:lnTo>
                      <a:pt x="1472119" y="159642"/>
                    </a:lnTo>
                    <a:lnTo>
                      <a:pt x="17315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th-TH"/>
              </a:p>
            </p:txBody>
          </p:sp>
          <p:sp>
            <p:nvSpPr>
              <p:cNvPr id="9" name="รูปแบบอิสระ: รูปร่าง 8">
                <a:extLst>
                  <a:ext uri="{FF2B5EF4-FFF2-40B4-BE49-F238E27FC236}">
                    <a16:creationId xmlns:a16="http://schemas.microsoft.com/office/drawing/2014/main" id="{3001167F-EDF1-4E03-84F2-119B31E0AD62}"/>
                  </a:ext>
                </a:extLst>
              </p:cNvPr>
              <p:cNvSpPr/>
              <p:nvPr/>
            </p:nvSpPr>
            <p:spPr>
              <a:xfrm rot="16200000">
                <a:off x="-90415" y="8744706"/>
                <a:ext cx="1488796" cy="857251"/>
              </a:xfrm>
              <a:custGeom>
                <a:avLst/>
                <a:gdLst>
                  <a:gd name="connsiteX0" fmla="*/ 1488796 w 1488796"/>
                  <a:gd name="connsiteY0" fmla="*/ 0 h 857251"/>
                  <a:gd name="connsiteX1" fmla="*/ 95900 w 1488796"/>
                  <a:gd name="connsiteY1" fmla="*/ 857251 h 857251"/>
                  <a:gd name="connsiteX2" fmla="*/ 0 w 1488796"/>
                  <a:gd name="connsiteY2" fmla="*/ 857251 h 857251"/>
                  <a:gd name="connsiteX3" fmla="*/ 0 w 1488796"/>
                  <a:gd name="connsiteY3" fmla="*/ 834648 h 857251"/>
                  <a:gd name="connsiteX4" fmla="*/ 82256 w 1488796"/>
                  <a:gd name="connsiteY4" fmla="*/ 834648 h 857251"/>
                  <a:gd name="connsiteX5" fmla="*/ 1397765 w 1488796"/>
                  <a:gd name="connsiteY5" fmla="*/ 25024 h 857251"/>
                  <a:gd name="connsiteX6" fmla="*/ 12934 w 1488796"/>
                  <a:gd name="connsiteY6" fmla="*/ 25024 h 857251"/>
                  <a:gd name="connsiteX7" fmla="*/ 0 w 1488796"/>
                  <a:gd name="connsiteY7" fmla="*/ 32984 h 857251"/>
                  <a:gd name="connsiteX8" fmla="*/ 0 w 1488796"/>
                  <a:gd name="connsiteY8" fmla="*/ 1867 h 857251"/>
                  <a:gd name="connsiteX9" fmla="*/ 3033 w 1488796"/>
                  <a:gd name="connsiteY9" fmla="*/ 0 h 857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88796" h="857251">
                    <a:moveTo>
                      <a:pt x="1488796" y="0"/>
                    </a:moveTo>
                    <a:lnTo>
                      <a:pt x="95900" y="857251"/>
                    </a:lnTo>
                    <a:lnTo>
                      <a:pt x="0" y="857251"/>
                    </a:lnTo>
                    <a:lnTo>
                      <a:pt x="0" y="834648"/>
                    </a:lnTo>
                    <a:lnTo>
                      <a:pt x="82256" y="834648"/>
                    </a:lnTo>
                    <a:lnTo>
                      <a:pt x="1397765" y="25024"/>
                    </a:lnTo>
                    <a:lnTo>
                      <a:pt x="12934" y="25024"/>
                    </a:lnTo>
                    <a:lnTo>
                      <a:pt x="0" y="32984"/>
                    </a:lnTo>
                    <a:lnTo>
                      <a:pt x="0" y="1867"/>
                    </a:lnTo>
                    <a:lnTo>
                      <a:pt x="303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th-TH"/>
              </a:p>
            </p:txBody>
          </p:sp>
          <p:sp>
            <p:nvSpPr>
              <p:cNvPr id="10" name="รูปแบบอิสระ: รูปร่าง 9">
                <a:extLst>
                  <a:ext uri="{FF2B5EF4-FFF2-40B4-BE49-F238E27FC236}">
                    <a16:creationId xmlns:a16="http://schemas.microsoft.com/office/drawing/2014/main" id="{CB03B835-F666-44A4-9DD8-C116B3D3986E}"/>
                  </a:ext>
                </a:extLst>
              </p:cNvPr>
              <p:cNvSpPr/>
              <p:nvPr/>
            </p:nvSpPr>
            <p:spPr>
              <a:xfrm rot="16200000">
                <a:off x="-888274" y="8260002"/>
                <a:ext cx="2241832" cy="465319"/>
              </a:xfrm>
              <a:custGeom>
                <a:avLst/>
                <a:gdLst>
                  <a:gd name="connsiteX0" fmla="*/ 2241832 w 2241832"/>
                  <a:gd name="connsiteY0" fmla="*/ 0 h 465319"/>
                  <a:gd name="connsiteX1" fmla="*/ 1485763 w 2241832"/>
                  <a:gd name="connsiteY1" fmla="*/ 465319 h 465319"/>
                  <a:gd name="connsiteX2" fmla="*/ 0 w 2241832"/>
                  <a:gd name="connsiteY2" fmla="*/ 465319 h 465319"/>
                  <a:gd name="connsiteX3" fmla="*/ 756069 w 2241832"/>
                  <a:gd name="connsiteY3" fmla="*/ 0 h 465319"/>
                  <a:gd name="connsiteX4" fmla="*/ 806630 w 2241832"/>
                  <a:gd name="connsiteY4" fmla="*/ 0 h 465319"/>
                  <a:gd name="connsiteX5" fmla="*/ 87288 w 2241832"/>
                  <a:gd name="connsiteY5" fmla="*/ 442716 h 465319"/>
                  <a:gd name="connsiteX6" fmla="*/ 1472119 w 2241832"/>
                  <a:gd name="connsiteY6" fmla="*/ 442716 h 465319"/>
                  <a:gd name="connsiteX7" fmla="*/ 2191462 w 2241832"/>
                  <a:gd name="connsiteY7" fmla="*/ 0 h 4653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41832" h="465319">
                    <a:moveTo>
                      <a:pt x="2241832" y="0"/>
                    </a:moveTo>
                    <a:lnTo>
                      <a:pt x="1485763" y="465319"/>
                    </a:lnTo>
                    <a:lnTo>
                      <a:pt x="0" y="465319"/>
                    </a:lnTo>
                    <a:lnTo>
                      <a:pt x="756069" y="0"/>
                    </a:lnTo>
                    <a:lnTo>
                      <a:pt x="806630" y="0"/>
                    </a:lnTo>
                    <a:lnTo>
                      <a:pt x="87288" y="442716"/>
                    </a:lnTo>
                    <a:lnTo>
                      <a:pt x="1472119" y="442716"/>
                    </a:lnTo>
                    <a:lnTo>
                      <a:pt x="219146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th-TH"/>
              </a:p>
            </p:txBody>
          </p:sp>
          <p:sp>
            <p:nvSpPr>
              <p:cNvPr id="11" name="รูปแบบอิสระ: รูปร่าง 10">
                <a:extLst>
                  <a:ext uri="{FF2B5EF4-FFF2-40B4-BE49-F238E27FC236}">
                    <a16:creationId xmlns:a16="http://schemas.microsoft.com/office/drawing/2014/main" id="{3A6FCB8B-6C46-42D4-83CF-33B530A539AA}"/>
                  </a:ext>
                </a:extLst>
              </p:cNvPr>
              <p:cNvSpPr/>
              <p:nvPr/>
            </p:nvSpPr>
            <p:spPr>
              <a:xfrm rot="16200000">
                <a:off x="-1010704" y="7280062"/>
                <a:ext cx="2878659" cy="857251"/>
              </a:xfrm>
              <a:custGeom>
                <a:avLst/>
                <a:gdLst>
                  <a:gd name="connsiteX0" fmla="*/ 2787628 w 2878659"/>
                  <a:gd name="connsiteY0" fmla="*/ 25024 h 857251"/>
                  <a:gd name="connsiteX1" fmla="*/ 1402797 w 2878659"/>
                  <a:gd name="connsiteY1" fmla="*/ 25024 h 857251"/>
                  <a:gd name="connsiteX2" fmla="*/ 87288 w 2878659"/>
                  <a:gd name="connsiteY2" fmla="*/ 834648 h 857251"/>
                  <a:gd name="connsiteX3" fmla="*/ 1472119 w 2878659"/>
                  <a:gd name="connsiteY3" fmla="*/ 834648 h 857251"/>
                  <a:gd name="connsiteX4" fmla="*/ 2878659 w 2878659"/>
                  <a:gd name="connsiteY4" fmla="*/ 0 h 857251"/>
                  <a:gd name="connsiteX5" fmla="*/ 1485763 w 2878659"/>
                  <a:gd name="connsiteY5" fmla="*/ 857251 h 857251"/>
                  <a:gd name="connsiteX6" fmla="*/ 0 w 2878659"/>
                  <a:gd name="connsiteY6" fmla="*/ 857251 h 857251"/>
                  <a:gd name="connsiteX7" fmla="*/ 1392896 w 2878659"/>
                  <a:gd name="connsiteY7" fmla="*/ 0 h 857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878659" h="857251">
                    <a:moveTo>
                      <a:pt x="2787628" y="25024"/>
                    </a:moveTo>
                    <a:lnTo>
                      <a:pt x="1402797" y="25024"/>
                    </a:lnTo>
                    <a:lnTo>
                      <a:pt x="87288" y="834648"/>
                    </a:lnTo>
                    <a:lnTo>
                      <a:pt x="1472119" y="834648"/>
                    </a:lnTo>
                    <a:close/>
                    <a:moveTo>
                      <a:pt x="2878659" y="0"/>
                    </a:moveTo>
                    <a:lnTo>
                      <a:pt x="1485763" y="857251"/>
                    </a:lnTo>
                    <a:lnTo>
                      <a:pt x="0" y="857251"/>
                    </a:lnTo>
                    <a:lnTo>
                      <a:pt x="13928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th-TH"/>
              </a:p>
            </p:txBody>
          </p:sp>
          <p:sp>
            <p:nvSpPr>
              <p:cNvPr id="12" name="รูปแบบอิสระ: รูปร่าง 11">
                <a:extLst>
                  <a:ext uri="{FF2B5EF4-FFF2-40B4-BE49-F238E27FC236}">
                    <a16:creationId xmlns:a16="http://schemas.microsoft.com/office/drawing/2014/main" id="{F5C55352-908C-4B6E-83BA-EB7222C00A51}"/>
                  </a:ext>
                </a:extLst>
              </p:cNvPr>
              <p:cNvSpPr/>
              <p:nvPr/>
            </p:nvSpPr>
            <p:spPr>
              <a:xfrm rot="16200000">
                <a:off x="-950259" y="6263214"/>
                <a:ext cx="2564238" cy="663742"/>
              </a:xfrm>
              <a:custGeom>
                <a:avLst/>
                <a:gdLst>
                  <a:gd name="connsiteX0" fmla="*/ 2564238 w 2564238"/>
                  <a:gd name="connsiteY0" fmla="*/ 0 h 663742"/>
                  <a:gd name="connsiteX1" fmla="*/ 1485763 w 2564238"/>
                  <a:gd name="connsiteY1" fmla="*/ 663742 h 663742"/>
                  <a:gd name="connsiteX2" fmla="*/ 0 w 2564238"/>
                  <a:gd name="connsiteY2" fmla="*/ 663742 h 663742"/>
                  <a:gd name="connsiteX3" fmla="*/ 1078475 w 2564238"/>
                  <a:gd name="connsiteY3" fmla="*/ 0 h 663742"/>
                  <a:gd name="connsiteX4" fmla="*/ 1129036 w 2564238"/>
                  <a:gd name="connsiteY4" fmla="*/ 0 h 663742"/>
                  <a:gd name="connsiteX5" fmla="*/ 87288 w 2564238"/>
                  <a:gd name="connsiteY5" fmla="*/ 641139 h 663742"/>
                  <a:gd name="connsiteX6" fmla="*/ 1472119 w 2564238"/>
                  <a:gd name="connsiteY6" fmla="*/ 641139 h 663742"/>
                  <a:gd name="connsiteX7" fmla="*/ 2513867 w 2564238"/>
                  <a:gd name="connsiteY7" fmla="*/ 0 h 6637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64238" h="663742">
                    <a:moveTo>
                      <a:pt x="2564238" y="0"/>
                    </a:moveTo>
                    <a:lnTo>
                      <a:pt x="1485763" y="663742"/>
                    </a:lnTo>
                    <a:lnTo>
                      <a:pt x="0" y="663742"/>
                    </a:lnTo>
                    <a:lnTo>
                      <a:pt x="1078475" y="0"/>
                    </a:lnTo>
                    <a:lnTo>
                      <a:pt x="1129036" y="0"/>
                    </a:lnTo>
                    <a:lnTo>
                      <a:pt x="87288" y="641139"/>
                    </a:lnTo>
                    <a:lnTo>
                      <a:pt x="1472119" y="641139"/>
                    </a:lnTo>
                    <a:lnTo>
                      <a:pt x="251386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th-TH"/>
              </a:p>
            </p:txBody>
          </p:sp>
        </p:grpSp>
      </p:grpSp>
      <p:sp>
        <p:nvSpPr>
          <p:cNvPr id="16" name="สี่เหลี่ยมผืนผ้า 15">
            <a:extLst>
              <a:ext uri="{FF2B5EF4-FFF2-40B4-BE49-F238E27FC236}">
                <a16:creationId xmlns:a16="http://schemas.microsoft.com/office/drawing/2014/main" id="{368B26DA-8EF1-435D-977E-A77DB92D501E}"/>
              </a:ext>
            </a:extLst>
          </p:cNvPr>
          <p:cNvSpPr/>
          <p:nvPr/>
        </p:nvSpPr>
        <p:spPr>
          <a:xfrm>
            <a:off x="558000" y="635028"/>
            <a:ext cx="6300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h-TH" sz="3600" b="1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ea typeface="Times New Roman" panose="02020603050405020304" pitchFamily="18" charset="0"/>
                <a:cs typeface="Angsana New" panose="02020603050405020304" pitchFamily="18" charset="-34"/>
              </a:rPr>
              <a:t>รายงานผลการตรวจสอบป้ายปี {{10year}} </a:t>
            </a:r>
            <a:r>
              <a:rPr lang="th-TH" sz="3600" b="1" dirty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ea typeface="Times New Roman" panose="02020603050405020304" pitchFamily="18" charset="0"/>
                <a:cs typeface="Angsana New" panose="02020603050405020304" pitchFamily="18" charset="-34"/>
              </a:rPr>
              <a:t> </a:t>
            </a:r>
          </a:p>
          <a:p>
            <a:pPr algn="ctr"/>
            <a:r>
              <a:rPr lang="th-TH" sz="2200" b="1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ea typeface="Times New Roman" panose="02020603050405020304" pitchFamily="18" charset="0"/>
                <a:cs typeface="Angsana New" panose="02020603050405020304" pitchFamily="18" charset="-34"/>
              </a:rPr>
              <a:t>ตามกฎกระทรวงว่าด้วยการควบคุมป้ายหรือสิ่งที่สร้างขึ้น สำหรับติดหรือตั้งป้าย</a:t>
            </a:r>
          </a:p>
          <a:p>
            <a:pPr algn="ctr"/>
            <a:r>
              <a:rPr lang="th-TH" sz="2200" b="1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ea typeface="Times New Roman" panose="02020603050405020304" pitchFamily="18" charset="0"/>
                <a:cs typeface="Angsana New" panose="02020603050405020304" pitchFamily="18" charset="-34"/>
              </a:rPr>
              <a:t>ตามกฎหมายว่าด้วยการควบคุมอาคาร พ.ศ. 2558</a:t>
            </a:r>
          </a:p>
        </p:txBody>
      </p:sp>
      <p:sp>
        <p:nvSpPr>
          <p:cNvPr id="17" name="สี่เหลี่ยมผืนผ้า 16">
            <a:extLst>
              <a:ext uri="{FF2B5EF4-FFF2-40B4-BE49-F238E27FC236}">
                <a16:creationId xmlns:a16="http://schemas.microsoft.com/office/drawing/2014/main" id="{62DCC26B-0398-4FB4-96AE-B045F7057165}"/>
              </a:ext>
            </a:extLst>
          </p:cNvPr>
          <p:cNvSpPr/>
          <p:nvPr/>
        </p:nvSpPr>
        <p:spPr>
          <a:xfrm>
            <a:off x="558000" y="7383949"/>
            <a:ext cx="6299996" cy="15788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th-TH" sz="2200" b="1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ป้ายโฆษณา {{10inst}}</a:t>
            </a:r>
            <a:endParaRPr lang="en-US" sz="2200" dirty="0">
              <a:solidFill>
                <a:srgbClr val="FF0000"/>
              </a:solidFill>
              <a:latin typeface="Calibri" panose="020F0502020204030204" pitchFamily="34" charset="0"/>
              <a:ea typeface="Times New Roman" panose="02020603050405020304" pitchFamily="18" charset="0"/>
              <a:cs typeface="+mj-cs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th-TH" sz="2200" b="1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ป้าย</a:t>
            </a:r>
            <a:r>
              <a:rPr lang="en-US" dirty="0">
                <a:cs typeface="+mj-cs"/>
              </a:rPr>
              <a:t> {{10comp}}</a:t>
            </a:r>
            <a:br>
              <a:rPr lang="th-TH" dirty="0">
                <a:cs typeface="+mj-cs"/>
              </a:rPr>
            </a:br>
            <a:r>
              <a:rPr lang="en-US" dirty="0">
                <a:cs typeface="+mj-cs"/>
              </a:rPr>
              <a:t>{{10addr}}</a:t>
            </a:r>
            <a:br>
              <a:rPr lang="th-TH" sz="2200" b="1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</a:br>
            <a:endParaRPr lang="th-TH" sz="2200" dirty="0">
              <a:solidFill>
                <a:srgbClr val="FF0000"/>
              </a:solidFill>
              <a:cs typeface="+mj-cs"/>
            </a:endParaRPr>
          </a:p>
        </p:txBody>
      </p:sp>
      <p:pic>
        <p:nvPicPr>
          <p:cNvPr id="23" name="รูปภาพ 22">
            <a:extLst>
              <a:ext uri="{FF2B5EF4-FFF2-40B4-BE49-F238E27FC236}">
                <a16:creationId xmlns:a16="http://schemas.microsoft.com/office/drawing/2014/main" id="{8A81F717-FB4D-4114-AEB2-419D42ECABE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10" r="11270"/>
          <a:stretch/>
        </p:blipFill>
        <p:spPr>
          <a:xfrm>
            <a:off x="6115488" y="9010591"/>
            <a:ext cx="666311" cy="859541"/>
          </a:xfrm>
          <a:prstGeom prst="rect">
            <a:avLst/>
          </a:prstGeom>
        </p:spPr>
      </p:pic>
      <p:pic>
        <p:nvPicPr>
          <p:cNvPr id="25" name="รูปภาพ 24">
            <a:extLst>
              <a:ext uri="{FF2B5EF4-FFF2-40B4-BE49-F238E27FC236}">
                <a16:creationId xmlns:a16="http://schemas.microsoft.com/office/drawing/2014/main" id="{234916E3-4C50-4580-A2F2-0376231646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1992" y="9010590"/>
            <a:ext cx="525875" cy="895409"/>
          </a:xfrm>
          <a:prstGeom prst="rect">
            <a:avLst/>
          </a:prstGeom>
        </p:spPr>
      </p:pic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86F43D53-E364-0CBE-1286-BA8711F4D19A}"/>
              </a:ext>
            </a:extLst>
          </p:cNvPr>
          <p:cNvSpPr txBox="1"/>
          <p:nvPr/>
        </p:nvSpPr>
        <p:spPr>
          <a:xfrm>
            <a:off x="3082356" y="4241115"/>
            <a:ext cx="1251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{{10pimg}}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4241232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สี่เหลี่ยมผืนผ้า 9">
            <a:extLst>
              <a:ext uri="{FF2B5EF4-FFF2-40B4-BE49-F238E27FC236}">
                <a16:creationId xmlns:a16="http://schemas.microsoft.com/office/drawing/2014/main" id="{4C470274-8401-4B12-BCAC-AFDB63ABE11D}"/>
              </a:ext>
            </a:extLst>
          </p:cNvPr>
          <p:cNvSpPr/>
          <p:nvPr/>
        </p:nvSpPr>
        <p:spPr>
          <a:xfrm>
            <a:off x="558000" y="8523921"/>
            <a:ext cx="6300000" cy="5878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Professional </a:t>
            </a:r>
            <a:r>
              <a:rPr lang="en-US" sz="2800" b="1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Partner</a:t>
            </a:r>
            <a:r>
              <a:rPr lang="en-US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For Safe Buildings</a:t>
            </a: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  <a:p>
            <a:r>
              <a:t>{{report.year}}</a:t>
            </a:r>
          </a:p>
        </p:txBody>
      </p:sp>
      <p:pic>
        <p:nvPicPr>
          <p:cNvPr id="11" name="รูปภาพ 10">
            <a:extLst>
              <a:ext uri="{FF2B5EF4-FFF2-40B4-BE49-F238E27FC236}">
                <a16:creationId xmlns:a16="http://schemas.microsoft.com/office/drawing/2014/main" id="{7CDD9673-3CC1-4CC1-97C0-CB1B28D465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5062" y="7628512"/>
            <a:ext cx="525875" cy="895409"/>
          </a:xfrm>
          <a:prstGeom prst="rect">
            <a:avLst/>
          </a:prstGeom>
        </p:spPr>
      </p:pic>
      <p:sp>
        <p:nvSpPr>
          <p:cNvPr id="6" name="สี่เหลี่ยมผืนผ้า 5">
            <a:extLst>
              <a:ext uri="{FF2B5EF4-FFF2-40B4-BE49-F238E27FC236}">
                <a16:creationId xmlns:a16="http://schemas.microsoft.com/office/drawing/2014/main" id="{C3F456F1-9AD5-40C1-84A4-24134360E5C5}"/>
              </a:ext>
            </a:extLst>
          </p:cNvPr>
          <p:cNvSpPr/>
          <p:nvPr/>
        </p:nvSpPr>
        <p:spPr>
          <a:xfrm>
            <a:off x="558000" y="4583496"/>
            <a:ext cx="6300000" cy="623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th-TH" sz="3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สำหรับผู้ตรวจสอบอาคาร</a:t>
            </a:r>
            <a:endParaRPr lang="en-US" sz="3000" dirty="0">
              <a:effectLst/>
              <a:latin typeface="Angsana New" panose="02020603050405020304" pitchFamily="18" charset="-34"/>
              <a:ea typeface="Times New Roman" panose="02020603050405020304" pitchFamily="18" charset="0"/>
              <a:cs typeface="Angsana New" panose="02020603050405020304" pitchFamily="18" charset="-34"/>
            </a:endParaRPr>
          </a:p>
        </p:txBody>
      </p:sp>
      <p:sp>
        <p:nvSpPr>
          <p:cNvPr id="7" name="สี่เหลี่ยมผืนผ้า 6">
            <a:extLst>
              <a:ext uri="{FF2B5EF4-FFF2-40B4-BE49-F238E27FC236}">
                <a16:creationId xmlns:a16="http://schemas.microsoft.com/office/drawing/2014/main" id="{9379CEDF-146F-4E7C-A9BD-E9333000EA86}"/>
              </a:ext>
            </a:extLst>
          </p:cNvPr>
          <p:cNvSpPr/>
          <p:nvPr/>
        </p:nvSpPr>
        <p:spPr>
          <a:xfrm>
            <a:off x="558000" y="536889"/>
            <a:ext cx="6300000" cy="72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th-TH" sz="3600" b="1" dirty="0">
                <a:latin typeface="Angsana New" panose="02020603050405020304" pitchFamily="18" charset="-34"/>
                <a:ea typeface="Times New Roman" panose="02020603050405020304" pitchFamily="18" charset="0"/>
                <a:cs typeface="Angsana New" panose="02020603050405020304" pitchFamily="18" charset="-34"/>
              </a:rPr>
              <a:t>รายละเอียดการตรวจสอบป้าย</a:t>
            </a:r>
            <a:endParaRPr lang="en-US" sz="3600" dirty="0">
              <a:effectLst/>
              <a:latin typeface="Angsana New" panose="02020603050405020304" pitchFamily="18" charset="-34"/>
              <a:ea typeface="Times New Roman" panose="02020603050405020304" pitchFamily="18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084899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sz="24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1 ขอบเขตของการตรวจสอบป้าย</a:t>
            </a:r>
          </a:p>
          <a:p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>
              <a:tabLst>
                <a:tab pos="177800" algn="l"/>
              </a:tabLst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1.	</a:t>
            </a:r>
            <a:r>
              <a:rPr lang="th-TH" sz="1600" b="1" u="sng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ขอบเขตของผู้ตรวจสอบอาคาร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</a:p>
          <a:p>
            <a:pPr indent="355600" algn="thaiDist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การตรวจสอบสภาพป้ายและอุปกรณ์ประกอบต่าง ๆ ของป้าย อาจมีข้อจำกัดต่าง ๆ ที่ไม่สามารถตรวจสอบได้ตามที่กำหนดและตามที่ต้องการได้ ดังนั้น จึงจำเป็นต้องกำหนดขอบเขตของ ผู้ตรวจสอบ ดังนี้</a:t>
            </a:r>
          </a:p>
          <a:p>
            <a:pPr indent="355600" algn="thaiDist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“ผู้ตรวจสอบมีหน้าที่ตรวจสอบ สังเกตด้วยสายตาพร้อมด้วยเครื่องมือพื้นฐานเท่านั้น จะไม่รวมถึงการทดสอบที่อาศัยเครื่องมือพิเศษเฉพาะ ทำรายงาน รวบรวมและสรุปผลการ วิเคราะห์ ทางด้านความมั่นคงแข็งแรง และระบบต่าง ๆ ที่เกี่ยวข้องเพื่อความปลอดภัยของชีวิตและทรัพย์สิน แล้วจัดทำรายงานผลการตรวจสอบสภาพป้ายและอุปกรณ์ประกอบของป้ายที่ทำการตรวจสอบนั้นให้แก่เจ้าของป้าย เพื่อให้เจ้าของป้ายเสนอรายงานผลการตรวจสอบป้ายและอุปกรณ์ประกอบของป้ายต่อเจ้าพนักงานท้องถิ่นเป็นประจำทุกสามปี</a:t>
            </a:r>
          </a:p>
          <a:p>
            <a:pPr indent="355600" algn="thaiDist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ผู้ตรวจสอบต้องตรวจสอบป้ายและอุปกรณ์ประกอบของป้ายโดยพิจารณาตามหลักเกณฑ์หรือมาตรฐานดังต่อไปนี้</a:t>
            </a:r>
          </a:p>
          <a:p>
            <a:pPr indent="355600" algn="thaiDist">
              <a:tabLst>
                <a:tab pos="5334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1.	หลักเกณฑ์ตามที่ได้กำหนดไว้ในกฎหมายว่าด้วยการควบคุมอาคาร หรือตามกฎหมายอื่นที่เกี่ยวข้องที่ใช้บังคับอยู่ในขณะที่มีการก่อสร้างป้ายนั้น หรือ</a:t>
            </a:r>
          </a:p>
          <a:p>
            <a:pPr indent="355600" algn="thaiDist">
              <a:tabLst>
                <a:tab pos="5334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	มาตรฐานความปลอดภัยของสถาบันของทางราชการ สภาวิศวกร หรือสภาสถาปนิก ทั้งนี้ </a:t>
            </a:r>
            <a:r>
              <a:rPr lang="th-TH" sz="1600" u="sng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ณ สถานที่ วัน และเวลาที่ทำการตรวจสอบตามที่ระบุในรายงานเท่านั้น”</a:t>
            </a:r>
          </a:p>
          <a:p>
            <a:pPr indent="355600" algn="thaiDist"/>
            <a:endParaRPr lang="th-TH" sz="1000" u="sng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>
              <a:tabLst>
                <a:tab pos="1778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	</a:t>
            </a:r>
            <a:r>
              <a:rPr lang="th-TH" sz="1600" b="1" u="sng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รายละเอียดในการตรวจสอบ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5600" algn="thaiDist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ผู้ตรวจสอบต้องตรวจสอบ และทำรายงานการตรวจสอบสภาพป้ายและอุปกรณ์ต่าง ๆ ของป้าย ดังต่อไปนี้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5600" algn="thaiDist">
              <a:tabLst>
                <a:tab pos="6223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2.1	การตรวจสอบความมั่นคงแข็งแรงของป้ายหรือสิ่งที่สร้างขึ้นสำหรับติดหรือตั้งป้าย อย่างน้อยต้องทำการตรวจสอบ ดังต่อไปนี้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(1)	การต่อเติมดัดแปลงปรับปรุงขนาดของป้ายหรือสิ่งที่สร้างขึ้นสำหรับติดหรือตั้งป้าย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(2)	การเปลี่ยนแปลงน้ำหนักของแผ่นป้าย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(3)	การเปลี่ยนแปลงวัสดุของป้ายหรือสิ่งที่สร้างขึ้นสำหรับติดหรือตั้งป้าย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(4)	การชำรุดสึกหรอของป้ายหรือสิ่งที่สร้างขึ้นสำหรับติดหรือตั้งป้าย 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(5)	การวิบัติของป้ายหรือสิ่งที่สร้างขึ้นสำหรับติดหรือตั้งป้าย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</a:t>
            </a: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6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)	ความมั่นคงแข็งแรงของโครงสร้างและฐานรากของสิ่งที่สร้างขึ้นสำหรับติดหรือตั้งป้าย (กรณีป้ายที่ตั้งบนพื้นดิน)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(7)	ความมั่นคงแข็งแรงของอาคารที่ติดตั้งป้าย (กรณีป้ายที่ติดหรือตั้งบนหลังคา หรือดาดฟ้าของอาคาร หรือบนส่วนหนึ่งส่วนใดของอาคาร)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(8)	การเชื่อมยึดระหว่างแผ่นป้ายกับสิ่งที่สร้างขึ้นสำหรับติดหรือตั้งป้าย การเชื่อมยึดระหว่างชิ้นส่วนต่าง ๆ ของสิ่งที่สร้างขึ้นสำหรับติดหรือตั้งป้าย และการเชื่อมยึด ระหว่างสิ่งที่สร้างขึ้นสำหรับติดหรือตั้งป้ายกับฐานรากหรืออาคาร</a:t>
            </a:r>
            <a:endParaRPr lang="th-TH" sz="1600" u="sng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2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901089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5600" algn="thaiDist">
              <a:tabLst>
                <a:tab pos="6223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2.2	การตรวจสอบระบบและอุปกรณ์ประกอบของป้ายอย่างน้อยต้องทำการตรวจสอบ ดังต่อไปนี้</a:t>
            </a: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(1)	ระบบไฟฟ้าแสงสว่างและระบบไฟฟ้ากำลัง</a:t>
            </a: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(2)	ระบบป้องกันฟ้าผ่า (ถ้ามี)</a:t>
            </a: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(3)	ระบบอุปกรณ์ประกอบอื่น ๆ (ถ้ามี)</a:t>
            </a:r>
          </a:p>
          <a:p>
            <a:pPr indent="355600" algn="thaiDist">
              <a:tabLst>
                <a:tab pos="6223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2.3	การตรวจสอบระบบโครงสร้าง</a:t>
            </a:r>
          </a:p>
          <a:p>
            <a:pPr indent="355600" algn="thaiDist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ผู้ตรวจสอบจะตรวจสอบด้วยสายตา ทำรายงาน และประเมินโครงสร้างตามรายละเอียด ดังต่อไปนี้</a:t>
            </a: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(1)	ส่วนของฐานราก (ถ้ามี)</a:t>
            </a: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(2)	ระบบโครงสร้าง</a:t>
            </a: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(3)	การเสื่อมสภาพของโครงสร้างที่จะมีผลกระทบต่อความมั่นคงแข็งแรงของระบบโครงสร้างอาคาร</a:t>
            </a: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(4)	ความเสียหายและอันตรายของโครงสร้าง เช่น ความเสียหายเนื่องจากอัคคีภัยความเสียหายจากการแอ่นตัวของโครงข้อหมุน เป็นต้น</a:t>
            </a: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(5)	สภาพการใช้งานตามที่เห็น</a:t>
            </a:r>
          </a:p>
          <a:p>
            <a:pPr indent="355600" algn="thaiDist">
              <a:tabLst>
                <a:tab pos="622300" algn="l"/>
              </a:tabLst>
            </a:pP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.4	การตรวจสอบระบบและอุปกรณ์ประกอบของป้าย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 algn="thaiDist">
              <a:tabLst>
                <a:tab pos="10795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2.4.1	ระบบไฟฟ้าแสงสว่างและระบบไฟฟ้ากำลัง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723900" indent="355600" algn="thaiDist">
              <a:tabLst>
                <a:tab pos="1524000" algn="l"/>
              </a:tabLst>
            </a:pP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4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.1.</a:t>
            </a: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	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ผู้ตรวจสอบจะตรวจสอบด้วยสายตา เครื่องมือหรือเครื่องวัดชนิดพกพาทำรายงานและ ประเมินระบบไฟฟ้าและบริภัณฑ์ไฟฟ้า ดังนี้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079500" indent="355600" algn="thaiDist">
              <a:tabLst>
                <a:tab pos="16129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(1)	สภาพสายไฟฟ้า ขนาดกระแสของสาย จุดต่อสาย และอุณหภูมิขั้วต่อสาย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079500" indent="355600" algn="thaiDist">
              <a:tabLst>
                <a:tab pos="16129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(2)	ท่อร้อยสาย รางเดินสาย และรางเคเบิล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079500" indent="355600" algn="thaiDist">
              <a:tabLst>
                <a:tab pos="16129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(3)	ขนาดเครื่องป้องกันกระแสเกินและพิกัดตัดกระแสของบริภัณฑ์ประธาน แผงย่อย และแผงวงจรย่อย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079500" indent="355600" algn="thaiDist">
              <a:tabLst>
                <a:tab pos="16129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(4)	เครื่องตัดไฟรั่ว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079500" indent="355600" algn="thaiDist">
              <a:tabLst>
                <a:tab pos="16129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(5)	การต่อลงดินของบริภัณฑ์ ขนาดตัวนำต่อลงดิน และความต่อเนื่องลงดินของท่อร้อยสาย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079500" indent="355600" algn="thaiDist">
              <a:tabLst>
                <a:tab pos="16129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รางเดินสาย รางเคเบิล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079500" indent="355600" algn="thaiDist">
              <a:tabLst>
                <a:tab pos="16129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(6)	รายการอื่นตามตารางรายการตรวจสอบ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723900" indent="355600" algn="thaiDist">
              <a:tabLst>
                <a:tab pos="1524000" algn="l"/>
              </a:tabLst>
            </a:pP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2.4.1.2	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ผู้ตรวจสอบไม่ต้องตรวจสอบในลักษณะดังนี้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079500" indent="355600" algn="thaiDist">
              <a:tabLst>
                <a:tab pos="16129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(1)	วัดหรือทดสอบแผงสวิตช์ ที่ต้องให้สายวัดสัมผัสกับบริภัณฑ์ในขณะที่แผงสวิตช์นั้นมีไฟหรือใช้งานอยู่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079500" indent="355600" algn="thaiDist">
              <a:tabLst>
                <a:tab pos="16129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(2)	ทดสอบการใช้งานอุปกรณ์ป้องกันกระแสเกิน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079500" indent="355600" algn="thaiDist">
              <a:tabLst>
                <a:tab pos="16129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(3)	ถอดออกหรือรื้อบริภัณฑ์ไฟฟ้า นอกจากเพียงเปิดฝาแผงสวิตช์ แผงควบคุม เพื่อตรวจสภาพบริภัณฑ์</a:t>
            </a:r>
          </a:p>
          <a:p>
            <a:r>
              <a:t>{{report.signTitle}}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3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695848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>
              <a:tabLst>
                <a:tab pos="10795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2.4.2	ระบบป้องกันฟ้าผ่า (ถ้ามี)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723900" indent="355600">
              <a:tabLst>
                <a:tab pos="12573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(1)	ตรวจสอบระบบตัวนำล่อฟ้า ตัวนำต่อลงดินครอบคลุมครบถ้วน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723900" indent="355600">
              <a:tabLst>
                <a:tab pos="12573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(2)	ตรวจสอบระบบรากสายดิน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723900" indent="355600">
              <a:tabLst>
                <a:tab pos="12573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(3)	ตรวจสอบจุดต่อประสานศักย์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723900" indent="355600">
              <a:tabLst>
                <a:tab pos="12573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(4)	ตรวจสอบ การดูแลรักษา ซ่อมบำรุง และการทดสอบระบบในอดีตที่ผ่านมา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>
              <a:tabLst>
                <a:tab pos="10795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2.4.3	ระบบอุปกรณ์ประกอบอื่น ๆ (ถ้ามี)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ผู้ตรวจสอบจะตรวจสอบด้วยสายตา ทำรายงานและประเมินความปลอดภัยของอุปกรณ์ประกอบ   ต่าง ๆ ดังต่อไปนี้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723900" indent="355600">
              <a:tabLst>
                <a:tab pos="1257300" algn="l"/>
              </a:tabLst>
            </a:pP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(1)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	สภาพบันไดขึ้นลง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723900" indent="355600">
              <a:tabLst>
                <a:tab pos="1257300" algn="l"/>
              </a:tabLst>
            </a:pP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(2)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	สภาพราวจับ และราวกันตก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723900" indent="355600">
              <a:tabLst>
                <a:tab pos="1257300" algn="l"/>
              </a:tabLst>
            </a:pP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(3)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	อุปกรณ์ประกอบอื่นตามที่เห็นสมควร</a:t>
            </a:r>
          </a:p>
          <a:p>
            <a:r>
              <a:t>{{report.signTitle}}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4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252999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90588A81-9A43-42C9-A5C3-1D88B529226E}"/>
              </a:ext>
            </a:extLst>
          </p:cNvPr>
          <p:cNvSpPr txBox="1"/>
          <p:nvPr/>
        </p:nvSpPr>
        <p:spPr>
          <a:xfrm>
            <a:off x="558000" y="8196281"/>
            <a:ext cx="63000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177800" algn="l"/>
              </a:tabLst>
            </a:pPr>
            <a:r>
              <a:rPr lang="th-TH" sz="1000" dirty="0">
                <a:latin typeface="Angsana New" panose="02020603050405020304" pitchFamily="18" charset="-34"/>
                <a:cs typeface="Angsana New" panose="02020603050405020304" pitchFamily="18" charset="-34"/>
              </a:rPr>
              <a:t>**	กฎกระทรวง ว่าด้วยการควบคุมป้ายหรือสิ่งที่สร้างขึ้นสำหรับติดหรือตั้งป้าย ตามกฎหมายว่าด้วยการควบคุมอาคาร</a:t>
            </a:r>
            <a:endParaRPr lang="en-US" sz="1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>
              <a:tabLst>
                <a:tab pos="177800" algn="l"/>
              </a:tabLst>
            </a:pPr>
            <a:r>
              <a:rPr lang="th-TH" sz="1000" dirty="0">
                <a:latin typeface="Angsana New" panose="02020603050405020304" pitchFamily="18" charset="-34"/>
                <a:cs typeface="Angsana New" panose="02020603050405020304" pitchFamily="18" charset="-34"/>
              </a:rPr>
              <a:t>ข้อ ๓ กฎกระทรวงนี้ให้ใช้บังคับกับป้ายหรือสิ่งที่สร้างขึ้นสำหรับติดหรือตั้งป้ายที่มีลักษณะอย่างใดอย่างหนึ่งดังต่อไปนี้</a:t>
            </a:r>
            <a:endParaRPr lang="en-US" sz="1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>
              <a:tabLst>
                <a:tab pos="177800" algn="l"/>
              </a:tabLst>
            </a:pPr>
            <a:r>
              <a:rPr lang="th-TH" sz="1000" dirty="0">
                <a:latin typeface="Angsana New" panose="02020603050405020304" pitchFamily="18" charset="-34"/>
                <a:cs typeface="Angsana New" panose="02020603050405020304" pitchFamily="18" charset="-34"/>
              </a:rPr>
              <a:t>(๑)	ที่สร้างขึ้นโดยมีความสูงจากระดับฐานหรือระดับพื้นดินที่ก่อสร้างตั้งแต่ ๑๐ เมตร ขึ้นไป</a:t>
            </a:r>
            <a:endParaRPr lang="en-US" sz="1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>
              <a:tabLst>
                <a:tab pos="177800" algn="l"/>
              </a:tabLst>
            </a:pPr>
            <a:r>
              <a:rPr lang="th-TH" sz="1000" dirty="0">
                <a:latin typeface="Angsana New" panose="02020603050405020304" pitchFamily="18" charset="-34"/>
                <a:cs typeface="Angsana New" panose="02020603050405020304" pitchFamily="18" charset="-34"/>
              </a:rPr>
              <a:t>(๒)	ที่ติดหรือตั้งไว้เหนือที่สาธารณะสูงจากระดับพื้นดินเกิน ๒.๕๐ เมตร และมีพื้นที่ของป้ายเกิน ๑ ตารางเมตร หรือมีน้ำหนักรวมทั้งโครงสร้างเกิน ๑๐ กิโลกรัม</a:t>
            </a:r>
            <a:endParaRPr lang="en-US" sz="1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>
              <a:tabLst>
                <a:tab pos="177800" algn="l"/>
              </a:tabLst>
            </a:pPr>
            <a:r>
              <a:rPr lang="th-TH" sz="1000" dirty="0">
                <a:latin typeface="Angsana New" panose="02020603050405020304" pitchFamily="18" charset="-34"/>
                <a:cs typeface="Angsana New" panose="02020603050405020304" pitchFamily="18" charset="-34"/>
              </a:rPr>
              <a:t>(๓)	ที่ติดหรือตั้งไว้ในระยะห่างจากที่สาธารณะซึ่งเมื่อวัดในทางราบแล้ว ระยะห่างจากที่สาธารณะมีน้อยกว่าความสูงของป้ายนั้นเมื่อวัดจากพื้นดิน และมีความกว้างของ</a:t>
            </a:r>
            <a:endParaRPr lang="en-US" sz="1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>
              <a:tabLst>
                <a:tab pos="177800" algn="l"/>
              </a:tabLst>
            </a:pPr>
            <a:r>
              <a:rPr lang="th-TH" sz="1000" dirty="0">
                <a:latin typeface="Angsana New" panose="02020603050405020304" pitchFamily="18" charset="-34"/>
                <a:cs typeface="Angsana New" panose="02020603050405020304" pitchFamily="18" charset="-34"/>
              </a:rPr>
              <a:t>ป้ายเกิน ๕๐ เซนติเมตร หรือมีความยาวเกิน ๑ เมตร หรือมีพื้นที่ของป้ายเกิน ๕</a:t>
            </a:r>
            <a:r>
              <a:rPr lang="en-US" sz="1000" dirty="0">
                <a:latin typeface="Angsana New" panose="02020603050405020304" pitchFamily="18" charset="-34"/>
                <a:cs typeface="Angsana New" panose="02020603050405020304" pitchFamily="18" charset="-34"/>
              </a:rPr>
              <a:t>,</a:t>
            </a:r>
            <a:r>
              <a:rPr lang="th-TH" sz="1000" dirty="0">
                <a:latin typeface="Angsana New" panose="02020603050405020304" pitchFamily="18" charset="-34"/>
                <a:cs typeface="Angsana New" panose="02020603050405020304" pitchFamily="18" charset="-34"/>
              </a:rPr>
              <a:t>๐๐๐ ตารางเซนติเมตร หรือมีน้ำหนักของป้ายหรือสิ่งที่สร้างขึ้นสำหรับติดหรือตั้งป้ายอย่างใด</a:t>
            </a:r>
            <a:endParaRPr lang="en-US" sz="1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sz="1000" dirty="0">
                <a:latin typeface="Angsana New" panose="02020603050405020304" pitchFamily="18" charset="-34"/>
                <a:cs typeface="Angsana New" panose="02020603050405020304" pitchFamily="18" charset="-34"/>
              </a:rPr>
              <a:t>อย่างหนึ่งหรือรวมกันเกิน ๑๐ กิโลกรัม</a:t>
            </a:r>
            <a:endParaRPr lang="en-US" sz="1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sz="24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</a:t>
            </a:r>
            <a:r>
              <a:rPr lang="en-US" sz="24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 </a:t>
            </a:r>
            <a:r>
              <a:rPr lang="th-TH" sz="24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ข้อมูลทั่วไปของป้าย</a:t>
            </a:r>
          </a:p>
          <a:p>
            <a:endParaRPr lang="en-US" sz="1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56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</a:t>
            </a: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เป็นข้อมูลทั่วไปของป้ายที่ผู้ตรวจสอบต้องลงบันทึกในหัวข้อต่าง ๆ และอาจเพิ่มเติมได้เพื่อให้ข้อมูลสมบูรณ์ยิ่งขึ้น ในบางรายการจะต้องประสานงานกับเจ้าของและผู้ดูแลป้ายเพื่อให้ได้ข้อมูลเหล่านั้น รายการใดที่ไม่สามารถหาข้อมูลได้ให้เว้นว่าง หรือแจ้งหมายเหตุไว้</a:t>
            </a:r>
          </a:p>
          <a:p>
            <a:endParaRPr lang="en-US" sz="1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>
              <a:tabLst>
                <a:tab pos="174625" algn="l"/>
              </a:tabLst>
            </a:pP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1.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	ข้อมูลป้ายและสถานที่ตั้งป้าย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ชื่อป้าย {{12tx22}}  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ตั้งอยู่เลขที่ {{12tx1}}  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หมู่ที่ {{12tx2}}    ตรอก {{12tx3}}</a:t>
            </a: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/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ซอย  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ถนน {{12tx4}}   ตำบล {{12tx5}}</a:t>
            </a: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/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แขวง</a:t>
            </a: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 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อำเภอ {{12tx6}}</a:t>
            </a: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/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เขต  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จังหวัด {{12tx7}}    รหัสไปรษณีย์ {{12tx8}}  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โทรศัพท์ {{12tx9}}    โทรสาร {{12tx10}}  </a:t>
            </a:r>
            <a:endParaRPr lang="th-TH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endParaRPr lang="en-US" sz="1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{{12rd11}} มี ข้อมูลการได้รับใบอนุญาตก่อสร้างจากเจ้าพนักงานท้องถิ่น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ได้รับใบอนุญาตก่อสร้างจากเจ้าพนักงานท้องถิ่น 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เมื่อวันที่ {{12tx12}}  </a:t>
            </a:r>
            <a:b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</a:b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{{12rd13}} มี แบบแปลนเดิม 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{{12rd14}} ไม่มี แบบแปลนเดิม ( กรณีที่ไม่มีแบบแปลนหรือแผนผังรายการเกี่ยวกับการก่อสร้าง ให้เจ้าของป้ายจัดหาหรือจัดทำแบบแปลนสำหรับใช้ในการตรวจสอบป้ายและอุปกรณ์ประกอบของป้ายให้กับผู้ตรวจสอบอาคาร )</a:t>
            </a:r>
          </a:p>
          <a:p>
            <a:pPr marL="177800"/>
            <a:endParaRPr lang="th-TH" sz="1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{{12rdPunk}} ไม่มี ข้อมูลการได้รับใบอนุญาตก่อสร้างจากเจ้าพนักงานท้องถิ่น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อายุของป้าย {{12tx15}}</a:t>
            </a: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ปี</a:t>
            </a:r>
            <a:endParaRPr lang="en-US" sz="1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{{12rd16}} ป้ายไม่เข้าข่ายต้องขออนุญาตก่อสร้าง **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thaiDist">
              <a:tabLst>
                <a:tab pos="895350" algn="l"/>
              </a:tabLst>
              <a:defRPr/>
            </a:pP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5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509000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ctr"/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แผนที่แสดงตำแหน่งที่ตั้งของป้ายโดยสังเขป</a:t>
            </a:r>
          </a:p>
          <a:p>
            <a:r>
              <a:t>{{mapImg}}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6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2" name="ตาราง 1">
            <a:extLst>
              <a:ext uri="{FF2B5EF4-FFF2-40B4-BE49-F238E27FC236}">
                <a16:creationId xmlns:a16="http://schemas.microsoft.com/office/drawing/2014/main" id="{5C6F893A-4D24-4E33-8B2A-DD98900B58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097680"/>
              </p:ext>
            </p:extLst>
          </p:nvPr>
        </p:nvGraphicFramePr>
        <p:xfrm>
          <a:off x="667255" y="5002234"/>
          <a:ext cx="2088000" cy="11216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72000">
                  <a:extLst>
                    <a:ext uri="{9D8B030D-6E8A-4147-A177-3AD203B41FA5}">
                      <a16:colId xmlns:a16="http://schemas.microsoft.com/office/drawing/2014/main" val="430941709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9915930"/>
                    </a:ext>
                  </a:extLst>
                </a:gridCol>
              </a:tblGrid>
              <a:tr h="25209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LATITUDE</a:t>
                      </a:r>
                      <a:endParaRPr lang="en-US" sz="11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{{location.coordinate.lat}}</a:t>
                      </a:r>
                      <a:endParaRPr lang="en-US" sz="1100" b="1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8747296"/>
                  </a:ext>
                </a:extLst>
              </a:tr>
              <a:tr h="25209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LONGITUDE</a:t>
                      </a:r>
                      <a:endParaRPr lang="en-US" sz="1100" b="1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{{location.coordinate.lng}}</a:t>
                      </a:r>
                      <a:endParaRPr lang="en-US" sz="1100" b="1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813626"/>
                  </a:ext>
                </a:extLst>
              </a:tr>
            </a:tbl>
          </a:graphicData>
        </a:graphic>
      </p:graphicFrame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E4FFCA45-A23B-493B-88B3-3A8C341CDCE2}"/>
              </a:ext>
            </a:extLst>
          </p:cNvPr>
          <p:cNvSpPr txBox="1"/>
          <p:nvPr/>
        </p:nvSpPr>
        <p:spPr>
          <a:xfrm>
            <a:off x="557999" y="5758468"/>
            <a:ext cx="63000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แผนผังตำแหน่งที่ตั้งของป้ายโดยสังเขป</a:t>
            </a:r>
            <a:endParaRPr lang="th-TH" sz="10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8FD02079-816D-F779-B8A3-AAA70C63EC66}"/>
              </a:ext>
            </a:extLst>
          </p:cNvPr>
          <p:cNvSpPr txBox="1"/>
          <p:nvPr/>
        </p:nvSpPr>
        <p:spPr>
          <a:xfrm>
            <a:off x="2550695" y="2502568"/>
            <a:ext cx="1241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{{</a:t>
            </a:r>
            <a:r>
              <a:rPr lang="en-US" dirty="0" err="1">
                <a:hlinkClick r:id="rId3"/>
              </a:rPr>
              <a:t>mapImg</a:t>
            </a:r>
            <a:r>
              <a:rPr lang="en-US" dirty="0">
                <a:hlinkClick r:id="rId3"/>
              </a:rPr>
              <a:t>}}</a:t>
            </a:r>
            <a:endParaRPr lang="th-TH" dirty="0"/>
          </a:p>
        </p:txBody>
      </p:sp>
      <p:sp>
        <p:nvSpPr>
          <p:cNvPr id="11" name="กล่องข้อความ 10">
            <a:extLst>
              <a:ext uri="{FF2B5EF4-FFF2-40B4-BE49-F238E27FC236}">
                <a16:creationId xmlns:a16="http://schemas.microsoft.com/office/drawing/2014/main" id="{ED93C51F-5548-D1E7-C285-22C113F3E646}"/>
              </a:ext>
            </a:extLst>
          </p:cNvPr>
          <p:cNvSpPr txBox="1"/>
          <p:nvPr/>
        </p:nvSpPr>
        <p:spPr>
          <a:xfrm>
            <a:off x="2550695" y="7388971"/>
            <a:ext cx="1405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{{</a:t>
            </a:r>
            <a:r>
              <a:rPr lang="en-US" dirty="0" err="1">
                <a:hlinkClick r:id="rId3"/>
              </a:rPr>
              <a:t>layoutImg</a:t>
            </a:r>
            <a:r>
              <a:rPr lang="en-US" dirty="0">
                <a:hlinkClick r:id="rId3"/>
              </a:rPr>
              <a:t>}}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95347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ctr">
              <a:tabLst>
                <a:tab pos="895350" algn="l"/>
              </a:tabLst>
              <a:defRPr/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วัน/เดือน/ปี ที่ตรวจสอบ {{signoff.inspectionDate}}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            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ตรวจสอบโดย บริษัท โปรไฟ</a:t>
            </a:r>
            <a:r>
              <a:rPr lang="th-TH" sz="1600" dirty="0" err="1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ร์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อิน</a:t>
            </a:r>
            <a:r>
              <a:rPr lang="th-TH" sz="1600" dirty="0" err="1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สเปคเต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อร์ จำกัด</a:t>
            </a:r>
          </a:p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ctr">
              <a:tabLst>
                <a:tab pos="895350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รูปถ่ายป้ายในวันเวลาที่ตรวจสอบ</a:t>
            </a: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dirty="0"/>
              <a:t>{{12p3}}</a:t>
            </a:r>
          </a:p>
          <a:p>
            <a:r>
              <a:rPr dirty="0"/>
              <a:t>{{12p4}}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7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75056EFA-0CDA-46B9-C55E-B4F3DA6D1EBB}"/>
              </a:ext>
            </a:extLst>
          </p:cNvPr>
          <p:cNvSpPr txBox="1"/>
          <p:nvPr/>
        </p:nvSpPr>
        <p:spPr>
          <a:xfrm>
            <a:off x="2995863" y="4090737"/>
            <a:ext cx="1804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{{12p3}}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814311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ctr">
              <a:tabLst>
                <a:tab pos="895350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รูปแบบและขนาดของแผ่นป้าย และสิ่งที่สร้างขึ้นสำหรับติดตั้งป้ายโดยสังเขป</a:t>
            </a: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{{layoutImg}}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8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9" name="กล่องข้อความ 18">
            <a:extLst>
              <a:ext uri="{FF2B5EF4-FFF2-40B4-BE49-F238E27FC236}">
                <a16:creationId xmlns:a16="http://schemas.microsoft.com/office/drawing/2014/main" id="{EC485AAC-B456-43E8-ACE7-8DC21A52C3A2}"/>
              </a:ext>
            </a:extLst>
          </p:cNvPr>
          <p:cNvSpPr txBox="1"/>
          <p:nvPr/>
        </p:nvSpPr>
        <p:spPr>
          <a:xfrm>
            <a:off x="377524" y="7778088"/>
            <a:ext cx="62999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ข้อมูลขนาดของป้าย และสิ่งที่สร้างขึ้นสำหรับติดหรือตั้งป้าย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77800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ความกว้างของแผ่นป้าย {{general.size.width}} เมตร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77800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ความสูงของแผ่นป้าย {{general.size.height}}เมตร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77800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จำนวนด้านของป้าย {{general.size.faces}}</a:t>
            </a:r>
            <a:r>
              <a:rPr lang="th-TH" sz="1600" u="dotted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ด้าน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77800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พื้นที่ป้าย โดยประมาณ {{general.size.approxArea}}ตารางเมตร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77800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ความสูงของโครงสร้างสำหรับติดตั้งแผ่นป้าย</a:t>
            </a:r>
            <a:r>
              <a:rPr lang="th-TH" sz="1600" u="dotted" dirty="0">
                <a:latin typeface="Angsana New" panose="02020603050405020304" pitchFamily="18" charset="-34"/>
                <a:cs typeface="Angsana New" panose="02020603050405020304" pitchFamily="18" charset="-34"/>
              </a:rPr>
              <a:t>                        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เมตร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DB1CD027-CE25-F776-049F-8A22A758ACB7}"/>
              </a:ext>
            </a:extLst>
          </p:cNvPr>
          <p:cNvSpPr txBox="1"/>
          <p:nvPr/>
        </p:nvSpPr>
        <p:spPr>
          <a:xfrm>
            <a:off x="2923674" y="2935705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{{12p1}}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705371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ctr">
              <a:tabLst>
                <a:tab pos="895350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รูปแบบและขนาดของแผ่นป้าย และสิ่งที่สร้างขึ้นสำหรับติดตั้งป้ายโดยสังเขป</a:t>
            </a: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  <a:p>
            <a:r>
              <a:t>{{12p1}}</a:t>
            </a:r>
          </a:p>
          <a:p>
            <a:r>
              <a:t>{{12p2}}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9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D040113F-B6B3-4F1E-BCFA-B18F902849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8075" y="1927533"/>
            <a:ext cx="585787" cy="35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h-TH" altLang="th-TH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กล่องข้อความ 18">
            <a:extLst>
              <a:ext uri="{FF2B5EF4-FFF2-40B4-BE49-F238E27FC236}">
                <a16:creationId xmlns:a16="http://schemas.microsoft.com/office/drawing/2014/main" id="{EC485AAC-B456-43E8-ACE7-8DC21A52C3A2}"/>
              </a:ext>
            </a:extLst>
          </p:cNvPr>
          <p:cNvSpPr txBox="1"/>
          <p:nvPr/>
        </p:nvSpPr>
        <p:spPr>
          <a:xfrm>
            <a:off x="557998" y="7796954"/>
            <a:ext cx="62999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ข้อมูลขนาดของป้าย และสิ่งที่สร้างขึ้นสำหรับติดหรือตั้งป้าย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77800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ความกว้างของแผ่นป้าย {{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general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size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width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}} เมตร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77800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ความสูงของแผ่นป้าย {{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general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size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height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}}เมตร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77800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จำนวนด้านของป้าย {{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general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size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faces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}}</a:t>
            </a:r>
            <a:r>
              <a:rPr lang="th-TH" sz="1600" u="dotted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ด้าน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77800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พื้นที่ป้าย โดยประมาณ {{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general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size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approxArea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}}ตารางเมตร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77800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ความสูงของโครงสร้างสำหรับติดตั้งแผ่นป้าย</a:t>
            </a:r>
            <a:r>
              <a:rPr lang="th-TH" sz="1600" u="dotted" dirty="0">
                <a:latin typeface="Angsana New" panose="02020603050405020304" pitchFamily="18" charset="-34"/>
                <a:cs typeface="Angsana New" panose="02020603050405020304" pitchFamily="18" charset="-34"/>
              </a:rPr>
              <a:t>                        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เมตร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FE149137-8706-90C6-0657-A8F7AFEB24D1}"/>
              </a:ext>
            </a:extLst>
          </p:cNvPr>
          <p:cNvSpPr txBox="1"/>
          <p:nvPr/>
        </p:nvSpPr>
        <p:spPr>
          <a:xfrm>
            <a:off x="3080084" y="3777916"/>
            <a:ext cx="1323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{{12p2}}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647066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ctr">
              <a:tabLst>
                <a:tab pos="895350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รูปแบบของแผ่นป้าย โครงสร้างสำหรับติดหรือตั้งป้าย และอุปกรณ์ประกอบป้าย</a:t>
            </a: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{{structImg1}}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10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1" name="กล่องข้อความ 10">
            <a:extLst>
              <a:ext uri="{FF2B5EF4-FFF2-40B4-BE49-F238E27FC236}">
                <a16:creationId xmlns:a16="http://schemas.microsoft.com/office/drawing/2014/main" id="{AD6E7E59-C0CD-259B-8FEF-3A62898CB083}"/>
              </a:ext>
            </a:extLst>
          </p:cNvPr>
          <p:cNvSpPr txBox="1"/>
          <p:nvPr/>
        </p:nvSpPr>
        <p:spPr>
          <a:xfrm>
            <a:off x="3043988" y="5297531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{{12p6}}</a:t>
            </a:r>
            <a:endParaRPr lang="th-TH" dirty="0"/>
          </a:p>
        </p:txBody>
      </p:sp>
      <p:sp>
        <p:nvSpPr>
          <p:cNvPr id="12" name="กล่องข้อความ 11">
            <a:extLst>
              <a:ext uri="{FF2B5EF4-FFF2-40B4-BE49-F238E27FC236}">
                <a16:creationId xmlns:a16="http://schemas.microsoft.com/office/drawing/2014/main" id="{793DB41E-E70C-83A0-7B18-3E9705FF3604}"/>
              </a:ext>
            </a:extLst>
          </p:cNvPr>
          <p:cNvSpPr txBox="1"/>
          <p:nvPr/>
        </p:nvSpPr>
        <p:spPr>
          <a:xfrm>
            <a:off x="3043989" y="1967894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{{12p5}}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4230976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ctr">
              <a:tabLst>
                <a:tab pos="895350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รูปแบบของแผ่นป้าย โครงสร้างสำหรับติดหรือตั้งป้าย และอุปกรณ์ประกอบป้าย</a:t>
            </a: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11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35935662-7D15-0FD5-8590-361E46437831}"/>
              </a:ext>
            </a:extLst>
          </p:cNvPr>
          <p:cNvSpPr txBox="1"/>
          <p:nvPr/>
        </p:nvSpPr>
        <p:spPr>
          <a:xfrm>
            <a:off x="1227221" y="2598820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{{12p5}}</a:t>
            </a:r>
            <a:endParaRPr lang="th-TH" dirty="0"/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B332603E-7B36-6149-6F76-B0D29C59ECE5}"/>
              </a:ext>
            </a:extLst>
          </p:cNvPr>
          <p:cNvSpPr txBox="1"/>
          <p:nvPr/>
        </p:nvSpPr>
        <p:spPr>
          <a:xfrm>
            <a:off x="4555957" y="2598820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{{12p6}}</a:t>
            </a:r>
            <a:endParaRPr lang="th-TH" dirty="0"/>
          </a:p>
        </p:txBody>
      </p: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DE6B6E72-D298-5B5A-4B19-D4C9033E6711}"/>
              </a:ext>
            </a:extLst>
          </p:cNvPr>
          <p:cNvSpPr txBox="1"/>
          <p:nvPr/>
        </p:nvSpPr>
        <p:spPr>
          <a:xfrm>
            <a:off x="1227220" y="4834686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{{12p7}}</a:t>
            </a:r>
            <a:endParaRPr lang="th-TH" dirty="0"/>
          </a:p>
        </p:txBody>
      </p:sp>
      <p:sp>
        <p:nvSpPr>
          <p:cNvPr id="11" name="กล่องข้อความ 10">
            <a:extLst>
              <a:ext uri="{FF2B5EF4-FFF2-40B4-BE49-F238E27FC236}">
                <a16:creationId xmlns:a16="http://schemas.microsoft.com/office/drawing/2014/main" id="{5DC502CF-345F-25D8-5FDB-2AAF4BAB542E}"/>
              </a:ext>
            </a:extLst>
          </p:cNvPr>
          <p:cNvSpPr txBox="1"/>
          <p:nvPr/>
        </p:nvSpPr>
        <p:spPr>
          <a:xfrm>
            <a:off x="4555957" y="4834686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{{12p8}}</a:t>
            </a:r>
            <a:endParaRPr lang="th-TH" dirty="0"/>
          </a:p>
        </p:txBody>
      </p:sp>
      <p:sp>
        <p:nvSpPr>
          <p:cNvPr id="12" name="กล่องข้อความ 11">
            <a:extLst>
              <a:ext uri="{FF2B5EF4-FFF2-40B4-BE49-F238E27FC236}">
                <a16:creationId xmlns:a16="http://schemas.microsoft.com/office/drawing/2014/main" id="{06BA6D7F-ADB0-D318-CE5E-2DA558A72185}"/>
              </a:ext>
            </a:extLst>
          </p:cNvPr>
          <p:cNvSpPr txBox="1"/>
          <p:nvPr/>
        </p:nvSpPr>
        <p:spPr>
          <a:xfrm>
            <a:off x="1227220" y="7129966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{{12p9}}</a:t>
            </a:r>
            <a:endParaRPr lang="th-TH" dirty="0"/>
          </a:p>
        </p:txBody>
      </p:sp>
      <p:sp>
        <p:nvSpPr>
          <p:cNvPr id="13" name="กล่องข้อความ 12">
            <a:extLst>
              <a:ext uri="{FF2B5EF4-FFF2-40B4-BE49-F238E27FC236}">
                <a16:creationId xmlns:a16="http://schemas.microsoft.com/office/drawing/2014/main" id="{9A7AC241-971C-D5ED-1FA6-E039BEBC9216}"/>
              </a:ext>
            </a:extLst>
          </p:cNvPr>
          <p:cNvSpPr txBox="1"/>
          <p:nvPr/>
        </p:nvSpPr>
        <p:spPr>
          <a:xfrm>
            <a:off x="4555956" y="7129966"/>
            <a:ext cx="1063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{{12p10}}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41626362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thaiDist">
              <a:tabLst>
                <a:tab pos="182563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	ประเภทของป้าย</a:t>
            </a:r>
          </a:p>
          <a:p>
            <a:pPr indent="182563" algn="thaiDist">
              <a:tabLst>
                <a:tab pos="449263" algn="l"/>
                <a:tab pos="62547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{{typeOnGround}} ป้ายที่ติดตั้งบนพื้นดิน</a:t>
            </a:r>
          </a:p>
          <a:p>
            <a:pPr indent="182563" algn="thaiDist">
              <a:tabLst>
                <a:tab pos="449263" algn="l"/>
                <a:tab pos="62547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{{typeOnRoofDeck}} ป้ายบนดาดฟ้าอาคาร</a:t>
            </a:r>
          </a:p>
          <a:p>
            <a:pPr indent="182563" algn="thaiDist">
              <a:tabLst>
                <a:tab pos="449263" algn="l"/>
                <a:tab pos="62547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{{typeOnRoof}} ป้ายบนหลังคา</a:t>
            </a:r>
          </a:p>
          <a:p>
            <a:pPr indent="182563" algn="thaiDist">
              <a:tabLst>
                <a:tab pos="449263" algn="l"/>
                <a:tab pos="62547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{{typeOnFacade}} ป้ายบนส่วนหนึ่งส่วนใดของอาคาร</a:t>
            </a:r>
          </a:p>
          <a:p>
            <a:pPr indent="182563" algn="thaiDist">
              <a:tabLst>
                <a:tab pos="449263" algn="l"/>
                <a:tab pos="625475" algn="l"/>
                <a:tab pos="4038600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อื่น ๆ (โปรดระบุ)</a:t>
            </a:r>
            <a:r>
              <a:rPr lang="th-TH" sz="1600" b="1" u="dotted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	</a:t>
            </a:r>
            <a:endParaRPr lang="th-TH" sz="1000" b="1" u="dotted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thaiDist">
              <a:tabLst>
                <a:tab pos="182563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3.	ชื่อเจ้าของหรือผู้ครอบครองป้าย และผู้ออกแบบด้านวิศวกรรมโครงสร้าง</a:t>
            </a: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12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3" name="ตาราง 9">
            <a:extLst>
              <a:ext uri="{FF2B5EF4-FFF2-40B4-BE49-F238E27FC236}">
                <a16:creationId xmlns:a16="http://schemas.microsoft.com/office/drawing/2014/main" id="{34043199-E921-443D-80E4-A240F15253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7452529"/>
              </p:ext>
            </p:extLst>
          </p:nvPr>
        </p:nvGraphicFramePr>
        <p:xfrm>
          <a:off x="861008" y="2697480"/>
          <a:ext cx="5897932" cy="353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97932">
                  <a:extLst>
                    <a:ext uri="{9D8B030D-6E8A-4147-A177-3AD203B41FA5}">
                      <a16:colId xmlns:a16="http://schemas.microsoft.com/office/drawing/2014/main" val="34830921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ป้ายที่ติดตั้งบนพื้นดิน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2610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3.1	ชื่อผลิตภัณฑ์โฆษณาหรือข้อความในป้าย {{general.productName}}</a:t>
                      </a: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646738" algn="l"/>
                        </a:tabLst>
                        <a:defRPr/>
                      </a:pPr>
                      <a:r>
                        <a:rPr lang="th-TH" sz="1600" b="1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</a:t>
                      </a:r>
                      <a:endParaRPr lang="en-US" sz="1600" b="1" u="dotted" kern="1200" baseline="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69563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3.2	เจ้าของหรือผู้ครอบครองป้าย</a:t>
                      </a: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ชื่อ</a:t>
                      </a:r>
                      <a:r>
                        <a:rPr lang="th-TH" sz="1600" b="1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	</a:t>
                      </a: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973263" algn="l"/>
                          <a:tab pos="2781300" algn="l"/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สถานที่ติดต่อเลขที่</a:t>
                      </a:r>
                      <a:r>
                        <a:rPr lang="th-TH" sz="1600" b="1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	</a:t>
                      </a: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หมู่ที่</a:t>
                      </a:r>
                      <a:r>
                        <a:rPr lang="th-TH" sz="1600" b="1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	</a:t>
                      </a: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ตรอก/ซอย</a:t>
                      </a:r>
                      <a:r>
                        <a:rPr lang="th-TH" sz="1600" b="1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	</a:t>
                      </a: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598738" algn="l"/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ถนน</a:t>
                      </a:r>
                      <a:r>
                        <a:rPr lang="th-TH" sz="1600" b="1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	</a:t>
                      </a: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ตำบล/แขวง</a:t>
                      </a:r>
                      <a:r>
                        <a:rPr lang="th-TH" sz="1600" b="1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	</a:t>
                      </a: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781300" algn="l"/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อำเภอ/เขต</a:t>
                      </a:r>
                      <a:r>
                        <a:rPr lang="th-TH" sz="1600" b="1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	</a:t>
                      </a: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จังหวัด</a:t>
                      </a:r>
                      <a:r>
                        <a:rPr lang="th-TH" sz="1600" b="1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	</a:t>
                      </a: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654675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รหัสไปรษณีย์</a:t>
                      </a:r>
                      <a:r>
                        <a:rPr lang="th-TH" sz="1600" b="1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	</a:t>
                      </a: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873375" algn="l"/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โทรศัพท์</a:t>
                      </a:r>
                      <a:r>
                        <a:rPr lang="th-TH" sz="1600" b="1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	</a:t>
                      </a: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โทรสาร</a:t>
                      </a:r>
                      <a:r>
                        <a:rPr lang="th-TH" sz="1600" b="1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	</a:t>
                      </a: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อีเมล</a:t>
                      </a:r>
                      <a:r>
                        <a:rPr lang="th-TH" sz="1600" b="1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	</a:t>
                      </a:r>
                      <a:endParaRPr lang="en-US" sz="1600" b="1" u="dotted" kern="1200" baseline="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3699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3.3	ผู้ออกแบบด้านวิศวกรรมโครงสร้าง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3048000" algn="l"/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ชื่อ</a:t>
                      </a:r>
                      <a:r>
                        <a:rPr lang="th-TH" sz="1600" b="1" u="dotted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	  </a:t>
                      </a: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ใบอนุญาตทะเบียนเลข</a:t>
                      </a:r>
                      <a:r>
                        <a:rPr lang="th-TH" sz="1600" u="none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ที่</a:t>
                      </a:r>
                      <a:r>
                        <a:rPr lang="th-TH" sz="1600" b="1" u="dotted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	</a:t>
                      </a:r>
                      <a:endParaRPr lang="en-US" sz="1600" b="1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837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5642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13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3" name="ตาราง 9">
            <a:extLst>
              <a:ext uri="{FF2B5EF4-FFF2-40B4-BE49-F238E27FC236}">
                <a16:creationId xmlns:a16="http://schemas.microsoft.com/office/drawing/2014/main" id="{34043199-E921-443D-80E4-A240F15253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9313527"/>
              </p:ext>
            </p:extLst>
          </p:nvPr>
        </p:nvGraphicFramePr>
        <p:xfrm>
          <a:off x="861008" y="693460"/>
          <a:ext cx="5897932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97932">
                  <a:extLst>
                    <a:ext uri="{9D8B030D-6E8A-4147-A177-3AD203B41FA5}">
                      <a16:colId xmlns:a16="http://schemas.microsoft.com/office/drawing/2014/main" val="34830921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+mj-cs"/>
                        </a:rPr>
                        <a:t>ป้ายบนดาดฟ้า บนหลังคา บนส่วนหนึ่งส่วนใดของอาคาร หรืออื่น 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2610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3.1	ชื่อผลิตภัณฑ์โฆษณาหรือข้อความในป้าย {{general.productName}}</a:t>
                      </a: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646738" algn="l"/>
                        </a:tabLst>
                        <a:defRPr/>
                      </a:pPr>
                      <a:endParaRPr lang="en-US" sz="1600" b="1" u="dotted" kern="1200" baseline="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69563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3.2	เจ้าของหรือผู้ครอบครองป้าย</a:t>
                      </a: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ชื่อ</a:t>
                      </a:r>
                      <a:r>
                        <a:rPr lang="th-TH" sz="1600" b="1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{{12tx23}}</a:t>
                      </a:r>
                      <a:endParaRPr lang="th-TH" sz="1600" b="1" u="dotted" kern="1200" baseline="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+mj-cs"/>
                      </a:endParaRP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973263" algn="l"/>
                          <a:tab pos="2781300" algn="l"/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สถานที่ติดต่อ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</a:t>
                      </a: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{{12tx24}} </a:t>
                      </a: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973263" algn="l"/>
                          <a:tab pos="2781300" algn="l"/>
                          <a:tab pos="5646738" algn="l"/>
                        </a:tabLst>
                        <a:defRPr/>
                      </a:pPr>
                      <a:r>
                        <a:rPr lang="th-TH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โทร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{{12tx25}}     E-mail : {{12tx26}}</a:t>
                      </a:r>
                      <a:endParaRPr lang="en-US" sz="1600" b="1" u="dotted" kern="1200" baseline="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3699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3.3	เจ้าของหรือผู้ครอบครองอาคารที่ป้ายตั้งอยู่</a:t>
                      </a: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ชื่อ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{{12tx27}}</a:t>
                      </a:r>
                      <a:endParaRPr lang="th-TH" sz="1600" b="1" u="dotted" kern="1200" baseline="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+mj-cs"/>
                      </a:endParaRP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973263" algn="l"/>
                          <a:tab pos="2781300" algn="l"/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สถานที่ติดต่อ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{{12tx28}}</a:t>
                      </a:r>
                      <a:r>
                        <a:rPr lang="th-TH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br>
                        <a:rPr lang="th-TH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</a:br>
                      <a:r>
                        <a:rPr lang="th-TH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โทร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{{12tx29}}</a:t>
                      </a:r>
                      <a:r>
                        <a:rPr lang="th-TH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E-mail : {{12tx30}}</a:t>
                      </a:r>
                      <a:endParaRPr lang="en-US" sz="1600" b="1" u="dotted" kern="1200" baseline="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8377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3.4	ผู้ออกแบบด้านวิศวกรรมโครงสร้าง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3048000" algn="l"/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	ชื่อ 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{{12tx31}}</a:t>
                      </a: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ใบอนุญาตทะเบียนเลข</a:t>
                      </a:r>
                      <a:r>
                        <a:rPr lang="th-TH" sz="1600" u="none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ที่</a:t>
                      </a:r>
                      <a:r>
                        <a:rPr lang="th-TH" sz="1600" b="1" u="dotted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600" b="1" u="dotted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{{12tx32}}</a:t>
                      </a:r>
                      <a:endParaRPr lang="en-US" sz="1600" b="1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0908018"/>
                  </a:ext>
                </a:extLst>
              </a:tr>
            </a:tbl>
          </a:graphicData>
        </a:graphic>
      </p:graphicFrame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C6497E32-2A88-3577-E474-A1386B41810A}"/>
              </a:ext>
            </a:extLst>
          </p:cNvPr>
          <p:cNvSpPr txBox="1"/>
          <p:nvPr/>
        </p:nvSpPr>
        <p:spPr>
          <a:xfrm>
            <a:off x="2381918" y="1227221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{{</a:t>
            </a:r>
            <a:r>
              <a:rPr lang="en-US" sz="1600" dirty="0">
                <a:cs typeface="+mj-cs"/>
              </a:rPr>
              <a:t>12tx22</a:t>
            </a:r>
            <a:r>
              <a:rPr lang="en-US" dirty="0"/>
              <a:t>}}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1561665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thaiDist">
              <a:tabLst>
                <a:tab pos="180975" algn="l"/>
                <a:tab pos="895350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4.	ประเภทของวัสดุและรายละเอียดของแผ่นป้าย (สามารถระบุมากกว่า 1 ข้อได้)</a:t>
            </a:r>
          </a:p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80975" algn="thaiDist">
              <a:tabLst>
                <a:tab pos="447675" algn="l"/>
                <a:tab pos="80962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4.1	ประเภทวัสดุของสิ่งที่สร้างขึ้นสำหรับติดหรือตั้งป้าย</a:t>
            </a:r>
          </a:p>
          <a:p>
            <a:pPr indent="447675" algn="thaiDist">
              <a:tabLst>
                <a:tab pos="628650" algn="l"/>
                <a:tab pos="80962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{{matSteel}} เหล็กโครงสร้างรูปพรรณ</a:t>
            </a:r>
          </a:p>
          <a:p>
            <a:pPr indent="447675" algn="thaiDist">
              <a:tabLst>
                <a:tab pos="628650" algn="l"/>
                <a:tab pos="80962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{{matWood}} ไม้</a:t>
            </a:r>
          </a:p>
          <a:p>
            <a:pPr indent="447675" algn="thaiDist">
              <a:tabLst>
                <a:tab pos="628650" algn="l"/>
                <a:tab pos="80962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{{matStainless}} สแตนเลส</a:t>
            </a:r>
          </a:p>
          <a:p>
            <a:pPr indent="447675" algn="thaiDist">
              <a:tabLst>
                <a:tab pos="628650" algn="l"/>
                <a:tab pos="80962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{{matConcrete}} คอนกรีตเสริมเหล็ก</a:t>
            </a:r>
          </a:p>
          <a:p>
            <a:pPr indent="447675" algn="thaiDist">
              <a:tabLst>
                <a:tab pos="628650" algn="l"/>
                <a:tab pos="809625" algn="l"/>
                <a:tab pos="501967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</a:t>
            </a: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{{12rd43}}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อื่น ๆ (ระบุ)  </a:t>
            </a:r>
            <a:r>
              <a:rPr lang="th-TH" sz="1600" b="1" u="dotted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sz="1600" b="1" u="dotted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{{12tx44}}</a:t>
            </a:r>
            <a:r>
              <a:rPr lang="th-TH" sz="1600" b="1" u="dotted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	</a:t>
            </a:r>
          </a:p>
          <a:p>
            <a:pPr indent="180975" algn="thaiDist">
              <a:tabLst>
                <a:tab pos="628650" algn="l"/>
                <a:tab pos="809625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80975" algn="thaiDist">
              <a:tabLst>
                <a:tab pos="447675" algn="l"/>
                <a:tab pos="80962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4.2	รายละเอียดของแผ่นป้าย</a:t>
            </a:r>
          </a:p>
          <a:p>
            <a:pPr indent="447675" algn="thaiDist">
              <a:tabLst>
                <a:tab pos="628650" algn="l"/>
                <a:tab pos="809625" algn="l"/>
                <a:tab pos="501967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</a:t>
            </a: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{{12rd45}} 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วัสดุป้าย (โปรดระบุ) {{12</a:t>
            </a: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tx45}}</a:t>
            </a:r>
          </a:p>
          <a:p>
            <a:pPr indent="447675" algn="thaiDist">
              <a:tabLst>
                <a:tab pos="628650" algn="l"/>
                <a:tab pos="809625" algn="l"/>
                <a:tab pos="5019675" algn="l"/>
              </a:tabLst>
              <a:defRPr/>
            </a:pP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{{12rd46}} 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จำนวนหน้าที่ติดตั้งป้าย {{12</a:t>
            </a: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tx46}} 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ด้าน</a:t>
            </a:r>
          </a:p>
          <a:p>
            <a:pPr indent="447675" algn="thaiDist">
              <a:tabLst>
                <a:tab pos="628650" algn="l"/>
                <a:tab pos="809625" algn="l"/>
                <a:tab pos="501967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</a:t>
            </a: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rd49}} 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การเจาะช่องเปิดในป้าย</a:t>
            </a:r>
          </a:p>
          <a:p>
            <a:pPr indent="447675" algn="thaiDist">
              <a:tabLst>
                <a:tab pos="628650" algn="l"/>
                <a:tab pos="809625" algn="l"/>
                <a:tab pos="501967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   {{12</a:t>
            </a: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rd47}} 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มี     {{12</a:t>
            </a: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rd48}} 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ไม่มี</a:t>
            </a:r>
          </a:p>
          <a:p>
            <a:pPr indent="447675" algn="thaiDist">
              <a:tabLst>
                <a:tab pos="628650" algn="l"/>
                <a:tab pos="809625" algn="l"/>
                <a:tab pos="501967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</a:t>
            </a: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rd50}} 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อื่น ๆ (โปรดระบุ) {{12</a:t>
            </a: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tx50}}</a:t>
            </a:r>
            <a:endParaRPr lang="th-TH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14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1356719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thaiDist">
              <a:defRPr/>
            </a:pPr>
            <a:r>
              <a:rPr lang="th-TH" sz="24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3 ผลการตรวจสอบสภาพป้ายและอุปกรณ์ประกอบของป้าย</a:t>
            </a:r>
          </a:p>
          <a:p>
            <a:pPr algn="thaiDist">
              <a:defRPr/>
            </a:pPr>
            <a:endParaRPr lang="th-TH" sz="1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61950" algn="thaiDist">
              <a:defRPr/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3 เป็นผลการตรวจสอบสภาพป้าย สิ่งที่สร้างขึ้นสำหรับติดหรือตั้งป้าย และอุปกรณ์ต่าง ๆ ของป้ายตามที่ตรวจสอบได้ด้วยสายตา หรือตรวจพร้อมกับใช้เครื่องมือวัดพื้นฐาน เช่น ตลับเมตร เป็นต้น หรือเครื่องมือชนิดพกพาเท่านั้น จะไม่รวมถึงการทดสอบที่ใช้เครื่องมือพิเศษเฉพาะ</a:t>
            </a:r>
          </a:p>
          <a:p>
            <a:pPr indent="361950" algn="thaiDist">
              <a:defRPr/>
            </a:pPr>
            <a:endParaRPr lang="th-TH" sz="1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61950" algn="thaiDist">
              <a:defRPr/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การตรวจสอบป้าย สิ่งที่สร้างขึ้นสำหรับติดหรือตั้งป้าย และอุปกรณ์ประกอบต่าง ๆ ของป้าย ผู้ตรวจสอบจะต้องพิจารณาตามหลักเกณฑ์ หรือมาตรฐานที่ได้กำหนดไว้ในกฎหมายว่าด้วยการควบคุมอาคาร หรือกฎหมายอื่นที่เกี่ยวข้องที่ใช้บังคับอยู่ในขณะที่มีการก่อสร้างป้ายนั้น และคำนึงถึงหลักเกณฑ์ หรือมาตรฐานความปลอดภัยของสถาบันทางราชการ สภาวิศวกร หรือสภาสถาปนิก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15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2" name="ตาราง 2">
            <a:extLst>
              <a:ext uri="{FF2B5EF4-FFF2-40B4-BE49-F238E27FC236}">
                <a16:creationId xmlns:a16="http://schemas.microsoft.com/office/drawing/2014/main" id="{576B5AF6-912C-4BF5-A1C7-986A65B19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8607969"/>
              </p:ext>
            </p:extLst>
          </p:nvPr>
        </p:nvGraphicFramePr>
        <p:xfrm>
          <a:off x="640551" y="3429000"/>
          <a:ext cx="6120000" cy="39948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>
                  <a:extLst>
                    <a:ext uri="{9D8B030D-6E8A-4147-A177-3AD203B41FA5}">
                      <a16:colId xmlns:a16="http://schemas.microsoft.com/office/drawing/2014/main" val="3206911226"/>
                    </a:ext>
                  </a:extLst>
                </a:gridCol>
                <a:gridCol w="4248000">
                  <a:extLst>
                    <a:ext uri="{9D8B030D-6E8A-4147-A177-3AD203B41FA5}">
                      <a16:colId xmlns:a16="http://schemas.microsoft.com/office/drawing/2014/main" val="812864238"/>
                    </a:ext>
                  </a:extLst>
                </a:gridCol>
              </a:tblGrid>
              <a:tr h="493656">
                <a:tc gridSpan="2">
                  <a:txBody>
                    <a:bodyPr/>
                    <a:lstStyle/>
                    <a:p>
                      <a:pPr algn="ctr"/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รายการที่ตรวจสอบ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6489556"/>
                  </a:ext>
                </a:extLst>
              </a:tr>
              <a:tr h="493656">
                <a:tc gridSpan="2">
                  <a:txBody>
                    <a:bodyPr/>
                    <a:lstStyle/>
                    <a:p>
                      <a:pPr>
                        <a:tabLst>
                          <a:tab pos="177800" algn="l"/>
                        </a:tabLst>
                      </a:pPr>
                      <a:r>
                        <a:rPr lang="th-TH" sz="1600" b="1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1.	การตรวจสอบการต่อเติมดัดแปลงปรับปรุงขนาดของป้ายหรือสิ่งที่สร้างขึ้นสำหรับติดหรือตั้งป้าย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2727045"/>
                  </a:ext>
                </a:extLst>
              </a:tr>
              <a:tr h="2513877">
                <a:tc rowSpan="2"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{{13nc1}}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ไม่มีการต่อเติม ดัดแปลง ปรับปรุงขนาด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{{13ch1}}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มีการต่อเติม ดัดแปลง ปรับปรุงขนาดของป้าย</a:t>
                      </a:r>
                    </a:p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         (หากระบุว่า "มี" ให้บันทึกรายละเอียดด้านล่าง)</a:t>
                      </a:r>
                    </a:p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         {{13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dt1}}</a:t>
                      </a:r>
                      <a:endParaRPr lang="th-TH" sz="10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ความเห็นของผู้ตรวจสอบ	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{{13ok1}}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ใช้ได้    {{13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ng1}}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ใช้ไม่ได้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38600" algn="l"/>
                        </a:tabLst>
                        <a:defRPr/>
                      </a:pP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9092021"/>
                  </a:ext>
                </a:extLst>
              </a:tr>
              <a:tr h="493656">
                <a:tc v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{{13otc1}}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อื่น ๆ (โปรดระบุ) {{13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ot1}}</a:t>
                      </a:r>
                      <a:endParaRPr lang="th-TH" sz="1600" u="none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79537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88409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16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2" name="ตาราง 2">
            <a:extLst>
              <a:ext uri="{FF2B5EF4-FFF2-40B4-BE49-F238E27FC236}">
                <a16:creationId xmlns:a16="http://schemas.microsoft.com/office/drawing/2014/main" id="{576B5AF6-912C-4BF5-A1C7-986A65B19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1907041"/>
              </p:ext>
            </p:extLst>
          </p:nvPr>
        </p:nvGraphicFramePr>
        <p:xfrm>
          <a:off x="640551" y="692056"/>
          <a:ext cx="6156000" cy="78251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>
                  <a:extLst>
                    <a:ext uri="{9D8B030D-6E8A-4147-A177-3AD203B41FA5}">
                      <a16:colId xmlns:a16="http://schemas.microsoft.com/office/drawing/2014/main" val="3206911226"/>
                    </a:ext>
                  </a:extLst>
                </a:gridCol>
                <a:gridCol w="4284000">
                  <a:extLst>
                    <a:ext uri="{9D8B030D-6E8A-4147-A177-3AD203B41FA5}">
                      <a16:colId xmlns:a16="http://schemas.microsoft.com/office/drawing/2014/main" val="812864238"/>
                    </a:ext>
                  </a:extLst>
                </a:gridCol>
              </a:tblGrid>
              <a:tr h="475019">
                <a:tc grid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2.	การตรวจสอบการเปลี่ยนแปลงน้ำหนักของแผ่นป้าย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just">
                        <a:tabLst>
                          <a:tab pos="266700" algn="l"/>
                          <a:tab pos="3949700" algn="l"/>
                        </a:tabLst>
                      </a:pP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3960072"/>
                  </a:ext>
                </a:extLst>
              </a:tr>
              <a:tr h="2418279">
                <a:tc rowSpan="2"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{{13nc2}}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ไม่พบการเปลี่ยนแปลงน้ำหนัก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{{13ch2}}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มีการเปลี่ยนแปลงน้ำหนัก </a:t>
                      </a:r>
                    </a:p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(หากระบุว่า "มี" ให้บันทึกรายละเอียดด้านล่าง)</a:t>
                      </a:r>
                    </a:p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dt2}}</a:t>
                      </a:r>
                      <a:r>
                        <a:rPr lang="th-TH" sz="1600" u="sng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                                                                                              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                 </a:t>
                      </a: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endParaRPr lang="th-TH" sz="10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ความเห็นของผู้ตรวจสอบ    {{13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ok2}}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ใช้ได้    {{13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ng2}}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ใช้ไม่ได้</a:t>
                      </a:r>
                      <a:b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</a:b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0978129"/>
                  </a:ext>
                </a:extLst>
              </a:tr>
              <a:tr h="820487">
                <a:tc v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{{13otc2}}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อื่น ๆ (โปรดระบุ) </a:t>
                      </a:r>
                    </a:p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ot2}}</a:t>
                      </a:r>
                      <a:r>
                        <a:rPr lang="th-TH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                                  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494116"/>
                  </a:ext>
                </a:extLst>
              </a:tr>
              <a:tr h="475019">
                <a:tc gridSpan="2">
                  <a:txBody>
                    <a:bodyPr/>
                    <a:lstStyle/>
                    <a:p>
                      <a:pPr marL="177800" indent="-177800">
                        <a:buNone/>
                        <a:tabLst/>
                      </a:pPr>
                      <a:r>
                        <a:rPr lang="th-TH" sz="1600" b="1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3.	การตรวจสอบการเปลี่ยนแปลงวัสดุของป้ายหรือสิ่งที่สร้างขึ้นสำหรับติดหรือตั้งป้าย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779927"/>
                  </a:ext>
                </a:extLst>
              </a:tr>
              <a:tr h="2470435">
                <a:tc rowSpan="2"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{{13nc3}}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ไม่พบการเปลี่ยนแปลงวัสดุ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{{13ch3}}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	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มีการเปลี่ยนแปลงวัสดุ (หากระบุว่า ‘มี’ ให้บันทึกรายละเอียดด้านล่าง)</a:t>
                      </a:r>
                    </a:p>
                    <a:p>
                      <a:pPr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</a:t>
                      </a:r>
                      <a:r>
                        <a:rPr lang="en-US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{{13dt3}}</a:t>
                      </a: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endParaRPr lang="th-TH" sz="10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ความเห็นของผู้ตรวจสอบ	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{{13ok3}}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ใช้ได้    {{13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ng3}}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ใช้ไม่ได้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38600" algn="l"/>
                        </a:tabLst>
                        <a:defRPr/>
                      </a:pP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-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834617"/>
                  </a:ext>
                </a:extLst>
              </a:tr>
              <a:tr h="1165956">
                <a:tc v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{{13otc3}}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อื่น ๆ (โปรดระบุ)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indent="0" algn="thaiDist"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en-US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{{13ot3}}</a:t>
                      </a:r>
                      <a:r>
                        <a:rPr lang="th-TH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17719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55813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17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2" name="ตาราง 2">
            <a:extLst>
              <a:ext uri="{FF2B5EF4-FFF2-40B4-BE49-F238E27FC236}">
                <a16:creationId xmlns:a16="http://schemas.microsoft.com/office/drawing/2014/main" id="{576B5AF6-912C-4BF5-A1C7-986A65B19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4511570"/>
              </p:ext>
            </p:extLst>
          </p:nvPr>
        </p:nvGraphicFramePr>
        <p:xfrm>
          <a:off x="640551" y="692058"/>
          <a:ext cx="6156000" cy="7208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>
                  <a:extLst>
                    <a:ext uri="{9D8B030D-6E8A-4147-A177-3AD203B41FA5}">
                      <a16:colId xmlns:a16="http://schemas.microsoft.com/office/drawing/2014/main" val="3206911226"/>
                    </a:ext>
                  </a:extLst>
                </a:gridCol>
                <a:gridCol w="4284000">
                  <a:extLst>
                    <a:ext uri="{9D8B030D-6E8A-4147-A177-3AD203B41FA5}">
                      <a16:colId xmlns:a16="http://schemas.microsoft.com/office/drawing/2014/main" val="812864238"/>
                    </a:ext>
                  </a:extLst>
                </a:gridCol>
              </a:tblGrid>
              <a:tr h="324000">
                <a:tc grid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4.	การตรวจสอบการชำรุดสึกหรอของป้ายหรือสิ่งที่สร้างขึ้นสำหรับติดหรือตั้งป้าย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just">
                        <a:tabLst>
                          <a:tab pos="266700" algn="l"/>
                          <a:tab pos="3949700" algn="l"/>
                        </a:tabLst>
                      </a:pP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3960072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{{13nc4}}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ไม่พบการชำรุดสึก</a:t>
                      </a:r>
                      <a:r>
                        <a:rPr lang="th-TH" sz="1600" kern="1200" dirty="0" err="1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หรอ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{{13ch4}}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มีการชำรุดสึก</a:t>
                      </a:r>
                      <a:r>
                        <a:rPr lang="th-TH" sz="1600" kern="1200" dirty="0" err="1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หรอ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(หากระบุว่า ‘มี’ ให้บันทึกรายละเอียดด้านล่าง)</a:t>
                      </a:r>
                    </a:p>
                    <a:p>
                      <a:pPr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en-US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{{13dt4}}</a:t>
                      </a: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endParaRPr lang="th-TH" sz="10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ความเห็นของผู้ตรวจสอบ	   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{{13ok4}}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ใช้ได้    {{13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ng4}}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38600" algn="l"/>
                        </a:tabLst>
                        <a:defRPr/>
                      </a:pP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097812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{{13otc4}}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อื่น ๆ (โปรดระบุ) 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indent="0" algn="thaiDist"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en-US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{{13ot4}}</a:t>
                      </a:r>
                      <a:r>
                        <a:rPr lang="th-TH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494116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177800" indent="-177800">
                        <a:buNone/>
                        <a:tabLst/>
                      </a:pPr>
                      <a:r>
                        <a:rPr lang="th-TH" sz="1600" b="1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5.	การตรวจสอบการวิบัติของสิ่งที่สร้างขึ้นสำหรับติดหรือตั้งป้าย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491381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{{13nc5}}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ไม่พบการวิบัติ </a:t>
                      </a:r>
                      <a:r>
                        <a:rPr lang="th-TH" sz="1600" b="1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**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{{13ch5}}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มีการวิบัติ (หากระบุว่า ‘มี’ ให้บันทึกรายละเอียดด้านล่าง)</a:t>
                      </a:r>
                    </a:p>
                    <a:p>
                      <a:pPr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</a:t>
                      </a:r>
                      <a:r>
                        <a:rPr lang="en-US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{{13dt5}}</a:t>
                      </a: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endParaRPr lang="th-TH" sz="10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ความเห็นของผู้ตรวจสอบ	   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{{13ok5}}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ใช้ได้    {{13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ng5}}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38600" algn="l"/>
                        </a:tabLst>
                        <a:defRPr/>
                      </a:pP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149197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{{13otc5}}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อื่น ๆ (โปรดระบุ)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indent="0" algn="thaiDist"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th-TH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</a:t>
                      </a:r>
                      <a:r>
                        <a:rPr lang="en-US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{{13ot5}}</a:t>
                      </a:r>
                      <a:r>
                        <a:rPr lang="th-TH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213335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l">
                        <a:tabLst>
                          <a:tab pos="177800" algn="l"/>
                        </a:tabLst>
                      </a:pPr>
                      <a:r>
                        <a:rPr lang="th-TH" sz="14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**</a:t>
                      </a:r>
                      <a:r>
                        <a:rPr lang="th-TH" sz="10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	</a:t>
                      </a:r>
                      <a:r>
                        <a:rPr lang="th-TH" sz="10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การวิบัติ หมายถึง การชำรุดของสิ่งที่สร้างขึ้นสำหรับติดหรือตั้งป้าย ซึ่งมากจนป้ายนั้นไม่สามารถจะใช้งานตามวัตถุประสงค์ได้โดยปลอดภัย</a:t>
                      </a:r>
                    </a:p>
                  </a:txBody>
                  <a:tcPr marT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thaiDist">
                        <a:tabLst>
                          <a:tab pos="266700" algn="l"/>
                          <a:tab pos="4038600" algn="l"/>
                        </a:tabLst>
                      </a:pP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24261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86244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</a:t>
            </a:r>
            <a:r>
              <a:rPr lang="en-US" sz="1600" b="1" kern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}} 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2" name="ตาราง 2">
            <a:extLst>
              <a:ext uri="{FF2B5EF4-FFF2-40B4-BE49-F238E27FC236}">
                <a16:creationId xmlns:a16="http://schemas.microsoft.com/office/drawing/2014/main" id="{576B5AF6-912C-4BF5-A1C7-986A65B19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7268657"/>
              </p:ext>
            </p:extLst>
          </p:nvPr>
        </p:nvGraphicFramePr>
        <p:xfrm>
          <a:off x="640551" y="692058"/>
          <a:ext cx="6156000" cy="749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>
                  <a:extLst>
                    <a:ext uri="{9D8B030D-6E8A-4147-A177-3AD203B41FA5}">
                      <a16:colId xmlns:a16="http://schemas.microsoft.com/office/drawing/2014/main" val="3206911226"/>
                    </a:ext>
                  </a:extLst>
                </a:gridCol>
                <a:gridCol w="4284000">
                  <a:extLst>
                    <a:ext uri="{9D8B030D-6E8A-4147-A177-3AD203B41FA5}">
                      <a16:colId xmlns:a16="http://schemas.microsoft.com/office/drawing/2014/main" val="812864238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6.	การตรวจสอบความมั่นคงแข็งแรงของโครงสร้างและฐานรากของสิ่งที่สร้างขึ้นสำหรับติดหรือตั้งป้าย </a:t>
                      </a:r>
                    </a:p>
                    <a:p>
                      <a:pPr marL="180975" indent="0">
                        <a:tabLst/>
                      </a:pPr>
                      <a:r>
                        <a:rPr lang="th-TH" sz="16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(กรณีป้ายที่ติดตั้งบนพื้นดิน)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just">
                        <a:tabLst>
                          <a:tab pos="266700" algn="l"/>
                          <a:tab pos="3949700" algn="l"/>
                        </a:tabLst>
                      </a:pP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3960072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>
                        <a:tabLst>
                          <a:tab pos="266700" algn="l"/>
                          <a:tab pos="449263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{{13nc6}}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ไม่พบการทรุดตัว </a:t>
                      </a:r>
                      <a:r>
                        <a:rPr lang="th-TH" sz="1600" b="1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**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{{13ch6}}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มีการทรุดตัว (หากระบุว่า ‘มี’ ให้บันทึกรายละเอียดด้านล่าง)</a:t>
                      </a:r>
                    </a:p>
                    <a:p>
                      <a:pPr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</a:t>
                      </a:r>
                      <a:r>
                        <a:rPr lang="en-US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{{13dt6}}</a:t>
                      </a: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endParaRPr lang="th-TH" sz="10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ความเห็นของผู้ตรวจสอบ	   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{{13ok6}}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ใช้ได้    {{13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ng6}}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38600" algn="l"/>
                        </a:tabLst>
                        <a:defRPr/>
                      </a:pP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097812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  <a:tab pos="449263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{{13otc6}}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อื่น ๆ (โปรดระบุ)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indent="0" algn="thaiDist"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th-TH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</a:t>
                      </a:r>
                      <a:r>
                        <a:rPr lang="en-US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{{13ot6}}</a:t>
                      </a:r>
                      <a:r>
                        <a:rPr lang="th-TH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494116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l">
                        <a:tabLst>
                          <a:tab pos="180975" algn="l"/>
                        </a:tabLst>
                      </a:pPr>
                      <a:r>
                        <a:rPr lang="th-TH" sz="14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**</a:t>
                      </a:r>
                      <a:r>
                        <a:rPr lang="th-TH" sz="16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	</a:t>
                      </a:r>
                      <a:r>
                        <a:rPr lang="th-TH" sz="10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การทรุดตัว หมายถึง การยุบตัวลงของโครงสร้างและฐานรากของสิ่งที่สร้างขึ้นสำหรับติดหรือตั้งป้าย</a:t>
                      </a:r>
                    </a:p>
                  </a:txBody>
                  <a:tcPr marT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thaiDist">
                        <a:tabLst>
                          <a:tab pos="266700" algn="l"/>
                          <a:tab pos="4038600" algn="l"/>
                        </a:tabLst>
                      </a:pP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6067789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177800" indent="-177800">
                        <a:buNone/>
                        <a:tabLst/>
                      </a:pPr>
                      <a:r>
                        <a:rPr lang="th-TH" sz="1600" b="1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7.	การตรวจสอบความมั่นคงแข็งแรงของอาคารที่ติดตั้งป้าย</a:t>
                      </a:r>
                    </a:p>
                    <a:p>
                      <a:pPr marL="177800" indent="3175">
                        <a:buNone/>
                        <a:tabLst/>
                      </a:pPr>
                      <a:r>
                        <a:rPr lang="th-TH" sz="1600" b="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(กรณีป้ายบนหลังคา หรือบนดาดฟ้าอาคาร หรือบนส่วนหนึ่งส่วนใดของอาคาร)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1220686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>
                        <a:tabLst>
                          <a:tab pos="266700" algn="l"/>
                          <a:tab pos="449263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{{13nc7}}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ไม่พบการทรุดตัว </a:t>
                      </a:r>
                      <a:r>
                        <a:rPr lang="th-TH" sz="1600" b="1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**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{{13ch7}}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มีการทรุดตัว (หากระบุว่า ‘มี’ ให้บันทึกรายละเอียดด้านล่าง)</a:t>
                      </a:r>
                    </a:p>
                    <a:p>
                      <a:pPr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</a:t>
                      </a:r>
                      <a:r>
                        <a:rPr lang="en-US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{{13dt7}}</a:t>
                      </a: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</a:t>
                      </a:r>
                    </a:p>
                    <a:p>
                      <a:pPr>
                        <a:tabLst>
                          <a:tab pos="266700" algn="l"/>
                          <a:tab pos="4038600" algn="l"/>
                        </a:tabLst>
                      </a:pPr>
                      <a:endParaRPr lang="th-TH" sz="10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ความเห็นของผู้ตรวจสอบ	   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{{13ok7}}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ใช้ได้    {{13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ng7}}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	</a:t>
                      </a:r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718258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tabLst>
                          <a:tab pos="266700" algn="l"/>
                          <a:tab pos="449263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{{13otc7}}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อื่น ๆ (โปรดระบุ)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indent="0" algn="thaiDist"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th-TH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</a:t>
                      </a:r>
                      <a:r>
                        <a:rPr lang="en-US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{{13ot7}}</a:t>
                      </a:r>
                      <a:r>
                        <a:rPr lang="th-TH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</a:t>
                      </a:r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2246173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l">
                        <a:tabLst>
                          <a:tab pos="177800" algn="l"/>
                        </a:tabLst>
                      </a:pPr>
                      <a:r>
                        <a:rPr lang="th-TH" sz="14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**</a:t>
                      </a:r>
                      <a:r>
                        <a:rPr lang="th-TH" sz="10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	</a:t>
                      </a:r>
                      <a:r>
                        <a:rPr lang="th-TH" sz="10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การทรุดตัว หมายถึง การยุบตัวลงของอาคารที่ติดตั้งป้าย</a:t>
                      </a:r>
                    </a:p>
                  </a:txBody>
                  <a:tcPr marT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21544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11153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+mj-cs"/>
            </a:endParaRPr>
          </a:p>
          <a:p>
            <a:r>
              <a:rPr>
                <a:cs typeface="+mj-cs"/>
              </a:rPr>
              <a:t>{{report.signTitle}}</a:t>
            </a:r>
          </a:p>
          <a:p>
            <a:r>
              <a:rPr>
                <a:cs typeface="+mj-cs"/>
              </a:rPr>
              <a:t>{{12p5}}</a:t>
            </a:r>
          </a:p>
          <a:p>
            <a:r>
              <a:rPr>
                <a:cs typeface="+mj-cs"/>
              </a:rPr>
              <a:t>{{12p6}}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+mj-cs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+mj-cs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+mj-cs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+mj-cs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+mj-cs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+mj-cs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+mj-cs"/>
            </a:endParaRPr>
          </a:p>
        </p:txBody>
      </p:sp>
      <p:graphicFrame>
        <p:nvGraphicFramePr>
          <p:cNvPr id="2" name="ตาราง 2">
            <a:extLst>
              <a:ext uri="{FF2B5EF4-FFF2-40B4-BE49-F238E27FC236}">
                <a16:creationId xmlns:a16="http://schemas.microsoft.com/office/drawing/2014/main" id="{576B5AF6-912C-4BF5-A1C7-986A65B19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8527394"/>
              </p:ext>
            </p:extLst>
          </p:nvPr>
        </p:nvGraphicFramePr>
        <p:xfrm>
          <a:off x="640551" y="692058"/>
          <a:ext cx="6156000" cy="830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206911226"/>
                    </a:ext>
                  </a:extLst>
                </a:gridCol>
                <a:gridCol w="2304000">
                  <a:extLst>
                    <a:ext uri="{9D8B030D-6E8A-4147-A177-3AD203B41FA5}">
                      <a16:colId xmlns:a16="http://schemas.microsoft.com/office/drawing/2014/main" val="270480515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0909791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421731208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1574206475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576181306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917518100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2708931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677222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9188763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088987784"/>
                    </a:ext>
                  </a:extLst>
                </a:gridCol>
              </a:tblGrid>
              <a:tr h="576734">
                <a:tc gridSpan="11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8.	การตรวจสอบการเชื่อมยึดระหว่างแผ่นป้ายกับสิ่งที่สร้างขึ้นสำหรับติดหรือตั้งป้าย  การเชื่อมยึดระหว่างชิ้นส่วนต่าง ๆ ของสิ่งที่สร้างขึ้นสำหรับติดหรือตั้งป้าย และการเชื่อมยึดระหว่างสิ่งที่สร้างขึ้นสำหรับติดหรือตั้งป้ายกับฐานรากหรืออาคาร</a:t>
                      </a: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960072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ลำดับที่</a:t>
                      </a:r>
                    </a:p>
                  </a:txBody>
                  <a:tcPr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รายการ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มี</a:t>
                      </a:r>
                    </a:p>
                  </a:txBody>
                  <a:tcPr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ไม่มี</a:t>
                      </a:r>
                    </a:p>
                  </a:txBody>
                  <a:tcPr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การชำรุด</a:t>
                      </a:r>
                    </a:p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สึกหรอ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</a:t>
                      </a:r>
                    </a:p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เสียหาย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ความเห็น</a:t>
                      </a:r>
                    </a:p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ผู้ตรวจสอบ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หมายเหตุ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8623504"/>
                  </a:ext>
                </a:extLst>
              </a:tr>
              <a:tr h="50400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มี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ไม่พบ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มี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ไม่พบ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ใช้ได้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th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8983472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(1)</a:t>
                      </a: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สิ่งที่สร้างขึ้นสำหรับติดหรือตั้งป้าย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ordia New" panose="020B0304020202020204" pitchFamily="34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20316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ฐานราก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ordia New" panose="020B0304020202020204" pitchFamily="34" charset="-34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544172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การเชื่อมยึดของสิ่งที่สร้างขึ้นสำหรับติดหรือตั้งป้ายกับฐานรากหรืออาคาร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ordia New" panose="020B0304020202020204" pitchFamily="34" charset="-34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34205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ชิ้นส่วน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8209419"/>
                  </a:ext>
                </a:extLst>
              </a:tr>
              <a:tr h="0">
                <a:tc rowSpan="9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รอยต่อ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16219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476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สลักเกลียว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663326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476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การเชื่อม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385365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476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15265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อื่น ๆ (โปรดระบุ)</a:t>
                      </a:r>
                      <a:r>
                        <a:rPr lang="th-TH" sz="1600" u="dotted" baseline="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77999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0129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</a:t>
                      </a:r>
                      <a:r>
                        <a:rPr lang="th-TH" sz="1600" dirty="0" err="1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สลิง</a:t>
                      </a: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หรือสายยึด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445513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</a:t>
                      </a: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บันไดขึ้นลง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234199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ราวจับ หรือราวกันตก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472469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CATWALK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952644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15265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อื่น ๆ (โปรดระบุ)</a:t>
                      </a:r>
                      <a:r>
                        <a:rPr lang="th-TH" sz="1600" u="dotted" baseline="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9583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(2)</a:t>
                      </a: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แผ่นป้าย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9274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สภาพของแผ่นป้าย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0990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</a:t>
                      </a: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สภาพการยึดติดกับโครงสร้างรับป้าย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16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15265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อื่น ๆ (โปรดระบุ)</a:t>
                      </a:r>
                      <a:r>
                        <a:rPr lang="th-TH" sz="1600" u="dotted" baseline="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979758"/>
                  </a:ext>
                </a:extLst>
              </a:tr>
            </a:tbl>
          </a:graphicData>
        </a:graphic>
      </p:graphicFrame>
      <p:sp>
        <p:nvSpPr>
          <p:cNvPr id="200000" name="TextBox 200000"/>
          <p:cNvSpPr txBox="1"/>
          <p:nvPr/>
        </p:nvSpPr>
        <p:spPr>
          <a:xfrm>
            <a:off x="3234231" y="301171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{{8a_1_1}}</a:t>
            </a:r>
          </a:p>
        </p:txBody>
      </p:sp>
      <p:sp>
        <p:nvSpPr>
          <p:cNvPr id="200001" name="TextBox 200001"/>
          <p:cNvSpPr txBox="1"/>
          <p:nvPr/>
        </p:nvSpPr>
        <p:spPr>
          <a:xfrm>
            <a:off x="3542039" y="301171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{{8a_1_2}}</a:t>
            </a:r>
          </a:p>
        </p:txBody>
      </p:sp>
      <p:sp>
        <p:nvSpPr>
          <p:cNvPr id="200002" name="TextBox 200002"/>
          <p:cNvSpPr txBox="1"/>
          <p:nvPr/>
        </p:nvSpPr>
        <p:spPr>
          <a:xfrm>
            <a:off x="3825783" y="301171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{{8a_1_3}}</a:t>
            </a:r>
          </a:p>
        </p:txBody>
      </p:sp>
      <p:sp>
        <p:nvSpPr>
          <p:cNvPr id="200003" name="TextBox 200003"/>
          <p:cNvSpPr txBox="1"/>
          <p:nvPr/>
        </p:nvSpPr>
        <p:spPr>
          <a:xfrm>
            <a:off x="4169687" y="301171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{{8a_1_4}}</a:t>
            </a:r>
          </a:p>
        </p:txBody>
      </p:sp>
      <p:sp>
        <p:nvSpPr>
          <p:cNvPr id="200004" name="TextBox 200004"/>
          <p:cNvSpPr txBox="1"/>
          <p:nvPr/>
        </p:nvSpPr>
        <p:spPr>
          <a:xfrm>
            <a:off x="4513594" y="301171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{{8a_1_5}}</a:t>
            </a:r>
          </a:p>
        </p:txBody>
      </p:sp>
      <p:sp>
        <p:nvSpPr>
          <p:cNvPr id="200005" name="TextBox 200005"/>
          <p:cNvSpPr txBox="1"/>
          <p:nvPr/>
        </p:nvSpPr>
        <p:spPr>
          <a:xfrm>
            <a:off x="4845469" y="301171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{{8a_1_6}}</a:t>
            </a:r>
          </a:p>
        </p:txBody>
      </p:sp>
      <p:sp>
        <p:nvSpPr>
          <p:cNvPr id="200006" name="TextBox 200006"/>
          <p:cNvSpPr txBox="1"/>
          <p:nvPr/>
        </p:nvSpPr>
        <p:spPr>
          <a:xfrm>
            <a:off x="5141249" y="301171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{{8a_1_7}}</a:t>
            </a:r>
          </a:p>
        </p:txBody>
      </p:sp>
      <p:sp>
        <p:nvSpPr>
          <p:cNvPr id="200007" name="TextBox 200007"/>
          <p:cNvSpPr txBox="1"/>
          <p:nvPr/>
        </p:nvSpPr>
        <p:spPr>
          <a:xfrm>
            <a:off x="5521246" y="301171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{{8a_1_8}}</a:t>
            </a:r>
          </a:p>
        </p:txBody>
      </p:sp>
      <p:sp>
        <p:nvSpPr>
          <p:cNvPr id="200008" name="TextBox 200008"/>
          <p:cNvSpPr txBox="1"/>
          <p:nvPr/>
        </p:nvSpPr>
        <p:spPr>
          <a:xfrm>
            <a:off x="6081720" y="301171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{{8a_1_9}}</a:t>
            </a:r>
          </a:p>
        </p:txBody>
      </p:sp>
      <p:sp>
        <p:nvSpPr>
          <p:cNvPr id="200009" name="TextBox 200009"/>
          <p:cNvSpPr txBox="1"/>
          <p:nvPr/>
        </p:nvSpPr>
        <p:spPr>
          <a:xfrm>
            <a:off x="3234231" y="345608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{{8a_2_1}}</a:t>
            </a:r>
          </a:p>
        </p:txBody>
      </p:sp>
      <p:sp>
        <p:nvSpPr>
          <p:cNvPr id="200010" name="TextBox 200010"/>
          <p:cNvSpPr txBox="1"/>
          <p:nvPr/>
        </p:nvSpPr>
        <p:spPr>
          <a:xfrm>
            <a:off x="3542039" y="345608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{{8a_2_2}}</a:t>
            </a:r>
          </a:p>
        </p:txBody>
      </p:sp>
      <p:sp>
        <p:nvSpPr>
          <p:cNvPr id="200011" name="TextBox 200011"/>
          <p:cNvSpPr txBox="1"/>
          <p:nvPr/>
        </p:nvSpPr>
        <p:spPr>
          <a:xfrm>
            <a:off x="3825783" y="345608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{{8a_2_3}}</a:t>
            </a:r>
          </a:p>
        </p:txBody>
      </p:sp>
      <p:sp>
        <p:nvSpPr>
          <p:cNvPr id="200012" name="TextBox 200012"/>
          <p:cNvSpPr txBox="1"/>
          <p:nvPr/>
        </p:nvSpPr>
        <p:spPr>
          <a:xfrm>
            <a:off x="4169687" y="345608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{{8a_2_4}}</a:t>
            </a:r>
          </a:p>
        </p:txBody>
      </p:sp>
      <p:sp>
        <p:nvSpPr>
          <p:cNvPr id="200013" name="TextBox 200013"/>
          <p:cNvSpPr txBox="1"/>
          <p:nvPr/>
        </p:nvSpPr>
        <p:spPr>
          <a:xfrm>
            <a:off x="4513594" y="345608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{{8a_2_5}}</a:t>
            </a:r>
          </a:p>
        </p:txBody>
      </p:sp>
      <p:sp>
        <p:nvSpPr>
          <p:cNvPr id="200014" name="TextBox 200014"/>
          <p:cNvSpPr txBox="1"/>
          <p:nvPr/>
        </p:nvSpPr>
        <p:spPr>
          <a:xfrm>
            <a:off x="4845469" y="345608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{{8a_2_6}}</a:t>
            </a:r>
          </a:p>
        </p:txBody>
      </p:sp>
      <p:sp>
        <p:nvSpPr>
          <p:cNvPr id="200015" name="TextBox 200015"/>
          <p:cNvSpPr txBox="1"/>
          <p:nvPr/>
        </p:nvSpPr>
        <p:spPr>
          <a:xfrm>
            <a:off x="5141249" y="345608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{{8a_2_7}}</a:t>
            </a:r>
          </a:p>
        </p:txBody>
      </p:sp>
      <p:sp>
        <p:nvSpPr>
          <p:cNvPr id="200016" name="TextBox 200016"/>
          <p:cNvSpPr txBox="1"/>
          <p:nvPr/>
        </p:nvSpPr>
        <p:spPr>
          <a:xfrm>
            <a:off x="5521246" y="345608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{{8a_2_8}}</a:t>
            </a:r>
          </a:p>
        </p:txBody>
      </p:sp>
      <p:sp>
        <p:nvSpPr>
          <p:cNvPr id="200017" name="TextBox 200017"/>
          <p:cNvSpPr txBox="1"/>
          <p:nvPr/>
        </p:nvSpPr>
        <p:spPr>
          <a:xfrm>
            <a:off x="6081720" y="345608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{{8a_2_9}}</a:t>
            </a:r>
          </a:p>
        </p:txBody>
      </p:sp>
      <p:sp>
        <p:nvSpPr>
          <p:cNvPr id="200018" name="TextBox 200018"/>
          <p:cNvSpPr txBox="1"/>
          <p:nvPr/>
        </p:nvSpPr>
        <p:spPr>
          <a:xfrm>
            <a:off x="3210167" y="392327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{{8a_3_1}}</a:t>
            </a:r>
          </a:p>
        </p:txBody>
      </p:sp>
      <p:sp>
        <p:nvSpPr>
          <p:cNvPr id="200019" name="TextBox 200019"/>
          <p:cNvSpPr txBox="1"/>
          <p:nvPr/>
        </p:nvSpPr>
        <p:spPr>
          <a:xfrm>
            <a:off x="3517975" y="392327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{{8a_3_2}}</a:t>
            </a:r>
          </a:p>
        </p:txBody>
      </p:sp>
      <p:sp>
        <p:nvSpPr>
          <p:cNvPr id="200020" name="TextBox 200020"/>
          <p:cNvSpPr txBox="1"/>
          <p:nvPr/>
        </p:nvSpPr>
        <p:spPr>
          <a:xfrm>
            <a:off x="3801719" y="392327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{{8a_3_3}}</a:t>
            </a:r>
          </a:p>
        </p:txBody>
      </p:sp>
      <p:sp>
        <p:nvSpPr>
          <p:cNvPr id="200021" name="TextBox 200021"/>
          <p:cNvSpPr txBox="1"/>
          <p:nvPr/>
        </p:nvSpPr>
        <p:spPr>
          <a:xfrm>
            <a:off x="4145623" y="392327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{{8a_3_4}}</a:t>
            </a:r>
          </a:p>
        </p:txBody>
      </p:sp>
      <p:sp>
        <p:nvSpPr>
          <p:cNvPr id="200022" name="TextBox 200022"/>
          <p:cNvSpPr txBox="1"/>
          <p:nvPr/>
        </p:nvSpPr>
        <p:spPr>
          <a:xfrm>
            <a:off x="4489530" y="392327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{{8a_3_5}}</a:t>
            </a:r>
          </a:p>
        </p:txBody>
      </p:sp>
      <p:sp>
        <p:nvSpPr>
          <p:cNvPr id="200023" name="TextBox 200023"/>
          <p:cNvSpPr txBox="1"/>
          <p:nvPr/>
        </p:nvSpPr>
        <p:spPr>
          <a:xfrm>
            <a:off x="4821405" y="392327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{{8a_3_6}}</a:t>
            </a:r>
          </a:p>
        </p:txBody>
      </p:sp>
      <p:sp>
        <p:nvSpPr>
          <p:cNvPr id="200024" name="TextBox 200024"/>
          <p:cNvSpPr txBox="1"/>
          <p:nvPr/>
        </p:nvSpPr>
        <p:spPr>
          <a:xfrm>
            <a:off x="5117185" y="392327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{{8a_3_7}}</a:t>
            </a:r>
          </a:p>
        </p:txBody>
      </p:sp>
      <p:sp>
        <p:nvSpPr>
          <p:cNvPr id="200025" name="TextBox 200025"/>
          <p:cNvSpPr txBox="1"/>
          <p:nvPr/>
        </p:nvSpPr>
        <p:spPr>
          <a:xfrm>
            <a:off x="5497182" y="392327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{{8a_3_8}}</a:t>
            </a:r>
          </a:p>
        </p:txBody>
      </p:sp>
      <p:sp>
        <p:nvSpPr>
          <p:cNvPr id="200026" name="TextBox 200026"/>
          <p:cNvSpPr txBox="1"/>
          <p:nvPr/>
        </p:nvSpPr>
        <p:spPr>
          <a:xfrm>
            <a:off x="6057656" y="392327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{{8a_3_9}}</a:t>
            </a:r>
          </a:p>
        </p:txBody>
      </p:sp>
      <p:sp>
        <p:nvSpPr>
          <p:cNvPr id="200027" name="TextBox 200027"/>
          <p:cNvSpPr txBox="1"/>
          <p:nvPr/>
        </p:nvSpPr>
        <p:spPr>
          <a:xfrm>
            <a:off x="3210167" y="426061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{{8a_4_1}}</a:t>
            </a:r>
          </a:p>
        </p:txBody>
      </p:sp>
      <p:sp>
        <p:nvSpPr>
          <p:cNvPr id="200028" name="TextBox 200028"/>
          <p:cNvSpPr txBox="1"/>
          <p:nvPr/>
        </p:nvSpPr>
        <p:spPr>
          <a:xfrm>
            <a:off x="3517975" y="426061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{{8a_4_2}}</a:t>
            </a:r>
          </a:p>
        </p:txBody>
      </p:sp>
      <p:sp>
        <p:nvSpPr>
          <p:cNvPr id="200029" name="TextBox 200029"/>
          <p:cNvSpPr txBox="1"/>
          <p:nvPr/>
        </p:nvSpPr>
        <p:spPr>
          <a:xfrm>
            <a:off x="3801719" y="426061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{{8a_4_3}}</a:t>
            </a:r>
          </a:p>
        </p:txBody>
      </p:sp>
      <p:sp>
        <p:nvSpPr>
          <p:cNvPr id="200030" name="TextBox 200030"/>
          <p:cNvSpPr txBox="1"/>
          <p:nvPr/>
        </p:nvSpPr>
        <p:spPr>
          <a:xfrm>
            <a:off x="4145623" y="426061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{{8a_4_4}}</a:t>
            </a:r>
          </a:p>
        </p:txBody>
      </p:sp>
      <p:sp>
        <p:nvSpPr>
          <p:cNvPr id="200031" name="TextBox 200031"/>
          <p:cNvSpPr txBox="1"/>
          <p:nvPr/>
        </p:nvSpPr>
        <p:spPr>
          <a:xfrm>
            <a:off x="4489530" y="426061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{{8a_4_5}}</a:t>
            </a:r>
          </a:p>
        </p:txBody>
      </p:sp>
      <p:sp>
        <p:nvSpPr>
          <p:cNvPr id="200032" name="TextBox 200032"/>
          <p:cNvSpPr txBox="1"/>
          <p:nvPr/>
        </p:nvSpPr>
        <p:spPr>
          <a:xfrm>
            <a:off x="4821405" y="426061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{{8a_4_6}}</a:t>
            </a:r>
          </a:p>
        </p:txBody>
      </p:sp>
      <p:sp>
        <p:nvSpPr>
          <p:cNvPr id="200033" name="TextBox 200033"/>
          <p:cNvSpPr txBox="1"/>
          <p:nvPr/>
        </p:nvSpPr>
        <p:spPr>
          <a:xfrm>
            <a:off x="5117185" y="426061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{{8a_4_7}}</a:t>
            </a:r>
          </a:p>
        </p:txBody>
      </p:sp>
      <p:sp>
        <p:nvSpPr>
          <p:cNvPr id="200034" name="TextBox 200034"/>
          <p:cNvSpPr txBox="1"/>
          <p:nvPr/>
        </p:nvSpPr>
        <p:spPr>
          <a:xfrm>
            <a:off x="5497182" y="426061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{{8a_4_8}}</a:t>
            </a:r>
          </a:p>
        </p:txBody>
      </p:sp>
      <p:sp>
        <p:nvSpPr>
          <p:cNvPr id="200035" name="TextBox 200035"/>
          <p:cNvSpPr txBox="1"/>
          <p:nvPr/>
        </p:nvSpPr>
        <p:spPr>
          <a:xfrm>
            <a:off x="6057656" y="426061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{{8a_4_9}}</a:t>
            </a:r>
          </a:p>
        </p:txBody>
      </p:sp>
      <p:sp>
        <p:nvSpPr>
          <p:cNvPr id="200036" name="TextBox 200036"/>
          <p:cNvSpPr txBox="1"/>
          <p:nvPr/>
        </p:nvSpPr>
        <p:spPr>
          <a:xfrm>
            <a:off x="3210167" y="459672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{{8a_5_1}}</a:t>
            </a:r>
          </a:p>
        </p:txBody>
      </p:sp>
      <p:sp>
        <p:nvSpPr>
          <p:cNvPr id="200037" name="TextBox 200037"/>
          <p:cNvSpPr txBox="1"/>
          <p:nvPr/>
        </p:nvSpPr>
        <p:spPr>
          <a:xfrm>
            <a:off x="3517975" y="459672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{{8a_5_2}}</a:t>
            </a:r>
          </a:p>
        </p:txBody>
      </p:sp>
      <p:sp>
        <p:nvSpPr>
          <p:cNvPr id="200038" name="TextBox 200038"/>
          <p:cNvSpPr txBox="1"/>
          <p:nvPr/>
        </p:nvSpPr>
        <p:spPr>
          <a:xfrm>
            <a:off x="3801719" y="459672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{{8a_5_3}}</a:t>
            </a:r>
          </a:p>
        </p:txBody>
      </p:sp>
      <p:sp>
        <p:nvSpPr>
          <p:cNvPr id="200039" name="TextBox 200039"/>
          <p:cNvSpPr txBox="1"/>
          <p:nvPr/>
        </p:nvSpPr>
        <p:spPr>
          <a:xfrm>
            <a:off x="4145623" y="459672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{{8a_5_4}}</a:t>
            </a:r>
          </a:p>
        </p:txBody>
      </p:sp>
      <p:sp>
        <p:nvSpPr>
          <p:cNvPr id="200040" name="TextBox 200040"/>
          <p:cNvSpPr txBox="1"/>
          <p:nvPr/>
        </p:nvSpPr>
        <p:spPr>
          <a:xfrm>
            <a:off x="4489530" y="459672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{{8a_5_5}}</a:t>
            </a:r>
          </a:p>
        </p:txBody>
      </p:sp>
      <p:sp>
        <p:nvSpPr>
          <p:cNvPr id="200041" name="TextBox 200041"/>
          <p:cNvSpPr txBox="1"/>
          <p:nvPr/>
        </p:nvSpPr>
        <p:spPr>
          <a:xfrm>
            <a:off x="4821405" y="459672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{{8a_5_6}}</a:t>
            </a:r>
          </a:p>
        </p:txBody>
      </p:sp>
      <p:sp>
        <p:nvSpPr>
          <p:cNvPr id="200042" name="TextBox 200042"/>
          <p:cNvSpPr txBox="1"/>
          <p:nvPr/>
        </p:nvSpPr>
        <p:spPr>
          <a:xfrm>
            <a:off x="5117185" y="459672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{{8a_5_7}}</a:t>
            </a:r>
          </a:p>
        </p:txBody>
      </p:sp>
      <p:sp>
        <p:nvSpPr>
          <p:cNvPr id="200043" name="TextBox 200043"/>
          <p:cNvSpPr txBox="1"/>
          <p:nvPr/>
        </p:nvSpPr>
        <p:spPr>
          <a:xfrm>
            <a:off x="5497182" y="459672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{{8a_5_8}}</a:t>
            </a:r>
          </a:p>
        </p:txBody>
      </p:sp>
      <p:sp>
        <p:nvSpPr>
          <p:cNvPr id="200044" name="TextBox 200044"/>
          <p:cNvSpPr txBox="1"/>
          <p:nvPr/>
        </p:nvSpPr>
        <p:spPr>
          <a:xfrm>
            <a:off x="6057656" y="459672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{{8a_5_9}}</a:t>
            </a:r>
          </a:p>
        </p:txBody>
      </p:sp>
      <p:sp>
        <p:nvSpPr>
          <p:cNvPr id="200045" name="TextBox 200045"/>
          <p:cNvSpPr txBox="1"/>
          <p:nvPr/>
        </p:nvSpPr>
        <p:spPr>
          <a:xfrm>
            <a:off x="3210167" y="496890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{{8a_6_1}}</a:t>
            </a:r>
          </a:p>
        </p:txBody>
      </p:sp>
      <p:sp>
        <p:nvSpPr>
          <p:cNvPr id="200046" name="TextBox 200046"/>
          <p:cNvSpPr txBox="1"/>
          <p:nvPr/>
        </p:nvSpPr>
        <p:spPr>
          <a:xfrm>
            <a:off x="3517975" y="496890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{{8a_6_2}}</a:t>
            </a:r>
          </a:p>
        </p:txBody>
      </p:sp>
      <p:sp>
        <p:nvSpPr>
          <p:cNvPr id="200047" name="TextBox 200047"/>
          <p:cNvSpPr txBox="1"/>
          <p:nvPr/>
        </p:nvSpPr>
        <p:spPr>
          <a:xfrm>
            <a:off x="3801719" y="496890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{{8a_6_3}}</a:t>
            </a:r>
          </a:p>
        </p:txBody>
      </p:sp>
      <p:sp>
        <p:nvSpPr>
          <p:cNvPr id="200048" name="TextBox 200048"/>
          <p:cNvSpPr txBox="1"/>
          <p:nvPr/>
        </p:nvSpPr>
        <p:spPr>
          <a:xfrm>
            <a:off x="4145623" y="496890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{{8a_6_4}}</a:t>
            </a:r>
          </a:p>
        </p:txBody>
      </p:sp>
      <p:sp>
        <p:nvSpPr>
          <p:cNvPr id="200049" name="TextBox 200049"/>
          <p:cNvSpPr txBox="1"/>
          <p:nvPr/>
        </p:nvSpPr>
        <p:spPr>
          <a:xfrm>
            <a:off x="4489530" y="496890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{{8a_6_5}}</a:t>
            </a:r>
          </a:p>
        </p:txBody>
      </p:sp>
      <p:sp>
        <p:nvSpPr>
          <p:cNvPr id="200050" name="TextBox 200050"/>
          <p:cNvSpPr txBox="1"/>
          <p:nvPr/>
        </p:nvSpPr>
        <p:spPr>
          <a:xfrm>
            <a:off x="4821405" y="496890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{{8a_6_6}}</a:t>
            </a:r>
          </a:p>
        </p:txBody>
      </p:sp>
      <p:sp>
        <p:nvSpPr>
          <p:cNvPr id="200051" name="TextBox 200051"/>
          <p:cNvSpPr txBox="1"/>
          <p:nvPr/>
        </p:nvSpPr>
        <p:spPr>
          <a:xfrm>
            <a:off x="5117185" y="496890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{{8a_6_7}}</a:t>
            </a:r>
          </a:p>
        </p:txBody>
      </p:sp>
      <p:sp>
        <p:nvSpPr>
          <p:cNvPr id="200052" name="TextBox 200052"/>
          <p:cNvSpPr txBox="1"/>
          <p:nvPr/>
        </p:nvSpPr>
        <p:spPr>
          <a:xfrm>
            <a:off x="5497182" y="496890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{{8a_6_8}}</a:t>
            </a:r>
          </a:p>
        </p:txBody>
      </p:sp>
      <p:sp>
        <p:nvSpPr>
          <p:cNvPr id="200053" name="TextBox 200053"/>
          <p:cNvSpPr txBox="1"/>
          <p:nvPr/>
        </p:nvSpPr>
        <p:spPr>
          <a:xfrm>
            <a:off x="6057656" y="496890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{{8a_6_9}}</a:t>
            </a:r>
          </a:p>
        </p:txBody>
      </p:sp>
      <p:sp>
        <p:nvSpPr>
          <p:cNvPr id="200054" name="TextBox 200054"/>
          <p:cNvSpPr txBox="1"/>
          <p:nvPr/>
        </p:nvSpPr>
        <p:spPr>
          <a:xfrm>
            <a:off x="3210168" y="531704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{{8a_7_1}}</a:t>
            </a:r>
          </a:p>
        </p:txBody>
      </p:sp>
      <p:sp>
        <p:nvSpPr>
          <p:cNvPr id="200055" name="TextBox 200055"/>
          <p:cNvSpPr txBox="1"/>
          <p:nvPr/>
        </p:nvSpPr>
        <p:spPr>
          <a:xfrm>
            <a:off x="3517976" y="531704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{{8a_7_2}}</a:t>
            </a:r>
          </a:p>
        </p:txBody>
      </p:sp>
      <p:sp>
        <p:nvSpPr>
          <p:cNvPr id="200056" name="TextBox 200056"/>
          <p:cNvSpPr txBox="1"/>
          <p:nvPr/>
        </p:nvSpPr>
        <p:spPr>
          <a:xfrm>
            <a:off x="3801720" y="531704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{{8a_7_3}}</a:t>
            </a:r>
          </a:p>
        </p:txBody>
      </p:sp>
      <p:sp>
        <p:nvSpPr>
          <p:cNvPr id="200057" name="TextBox 200057"/>
          <p:cNvSpPr txBox="1"/>
          <p:nvPr/>
        </p:nvSpPr>
        <p:spPr>
          <a:xfrm>
            <a:off x="4145624" y="531704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{{8a_7_4}}</a:t>
            </a:r>
          </a:p>
        </p:txBody>
      </p:sp>
      <p:sp>
        <p:nvSpPr>
          <p:cNvPr id="200058" name="TextBox 200058"/>
          <p:cNvSpPr txBox="1"/>
          <p:nvPr/>
        </p:nvSpPr>
        <p:spPr>
          <a:xfrm>
            <a:off x="4489531" y="531704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{{8a_7_5}}</a:t>
            </a:r>
          </a:p>
        </p:txBody>
      </p:sp>
      <p:sp>
        <p:nvSpPr>
          <p:cNvPr id="200059" name="TextBox 200059"/>
          <p:cNvSpPr txBox="1"/>
          <p:nvPr/>
        </p:nvSpPr>
        <p:spPr>
          <a:xfrm>
            <a:off x="4821406" y="531704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{{8a_7_6}}</a:t>
            </a:r>
          </a:p>
        </p:txBody>
      </p:sp>
      <p:sp>
        <p:nvSpPr>
          <p:cNvPr id="200060" name="TextBox 200060"/>
          <p:cNvSpPr txBox="1"/>
          <p:nvPr/>
        </p:nvSpPr>
        <p:spPr>
          <a:xfrm>
            <a:off x="5117186" y="531704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{{8a_7_7}}</a:t>
            </a:r>
          </a:p>
        </p:txBody>
      </p:sp>
      <p:sp>
        <p:nvSpPr>
          <p:cNvPr id="200061" name="TextBox 200061"/>
          <p:cNvSpPr txBox="1"/>
          <p:nvPr/>
        </p:nvSpPr>
        <p:spPr>
          <a:xfrm>
            <a:off x="5497183" y="531704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{{8a_7_8}}</a:t>
            </a:r>
          </a:p>
        </p:txBody>
      </p:sp>
      <p:sp>
        <p:nvSpPr>
          <p:cNvPr id="200062" name="TextBox 200062"/>
          <p:cNvSpPr txBox="1"/>
          <p:nvPr/>
        </p:nvSpPr>
        <p:spPr>
          <a:xfrm>
            <a:off x="6057657" y="531704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{{8a_7_9}}</a:t>
            </a:r>
          </a:p>
        </p:txBody>
      </p:sp>
      <p:sp>
        <p:nvSpPr>
          <p:cNvPr id="200063" name="TextBox 200063"/>
          <p:cNvSpPr txBox="1"/>
          <p:nvPr/>
        </p:nvSpPr>
        <p:spPr>
          <a:xfrm>
            <a:off x="3210167" y="566516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{{8a_8_1}}</a:t>
            </a:r>
          </a:p>
        </p:txBody>
      </p:sp>
      <p:sp>
        <p:nvSpPr>
          <p:cNvPr id="200064" name="TextBox 200064"/>
          <p:cNvSpPr txBox="1"/>
          <p:nvPr/>
        </p:nvSpPr>
        <p:spPr>
          <a:xfrm>
            <a:off x="3517975" y="566516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{{8a_8_2}}</a:t>
            </a:r>
          </a:p>
        </p:txBody>
      </p:sp>
      <p:sp>
        <p:nvSpPr>
          <p:cNvPr id="200065" name="TextBox 200065"/>
          <p:cNvSpPr txBox="1"/>
          <p:nvPr/>
        </p:nvSpPr>
        <p:spPr>
          <a:xfrm>
            <a:off x="3801719" y="566516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{{8a_8_3}}</a:t>
            </a:r>
          </a:p>
        </p:txBody>
      </p:sp>
      <p:sp>
        <p:nvSpPr>
          <p:cNvPr id="200066" name="TextBox 200066"/>
          <p:cNvSpPr txBox="1"/>
          <p:nvPr/>
        </p:nvSpPr>
        <p:spPr>
          <a:xfrm>
            <a:off x="4145623" y="566516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{{8a_8_4}}</a:t>
            </a:r>
          </a:p>
        </p:txBody>
      </p:sp>
      <p:sp>
        <p:nvSpPr>
          <p:cNvPr id="200067" name="TextBox 200067"/>
          <p:cNvSpPr txBox="1"/>
          <p:nvPr/>
        </p:nvSpPr>
        <p:spPr>
          <a:xfrm>
            <a:off x="4489530" y="566516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{{8a_8_5}}</a:t>
            </a:r>
          </a:p>
        </p:txBody>
      </p:sp>
      <p:sp>
        <p:nvSpPr>
          <p:cNvPr id="200068" name="TextBox 200068"/>
          <p:cNvSpPr txBox="1"/>
          <p:nvPr/>
        </p:nvSpPr>
        <p:spPr>
          <a:xfrm>
            <a:off x="4821405" y="566516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{{8a_8_6}}</a:t>
            </a:r>
          </a:p>
        </p:txBody>
      </p:sp>
      <p:sp>
        <p:nvSpPr>
          <p:cNvPr id="200069" name="TextBox 200069"/>
          <p:cNvSpPr txBox="1"/>
          <p:nvPr/>
        </p:nvSpPr>
        <p:spPr>
          <a:xfrm>
            <a:off x="5117185" y="566516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{{8a_8_7}}</a:t>
            </a:r>
          </a:p>
        </p:txBody>
      </p:sp>
      <p:sp>
        <p:nvSpPr>
          <p:cNvPr id="200070" name="TextBox 200070"/>
          <p:cNvSpPr txBox="1"/>
          <p:nvPr/>
        </p:nvSpPr>
        <p:spPr>
          <a:xfrm>
            <a:off x="5497182" y="566516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{{8a_8_8}}</a:t>
            </a:r>
          </a:p>
        </p:txBody>
      </p:sp>
      <p:sp>
        <p:nvSpPr>
          <p:cNvPr id="200071" name="TextBox 200071"/>
          <p:cNvSpPr txBox="1"/>
          <p:nvPr/>
        </p:nvSpPr>
        <p:spPr>
          <a:xfrm>
            <a:off x="6057656" y="566516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{{8a_8_9}}</a:t>
            </a:r>
          </a:p>
        </p:txBody>
      </p:sp>
      <p:sp>
        <p:nvSpPr>
          <p:cNvPr id="200072" name="TextBox 200072"/>
          <p:cNvSpPr txBox="1"/>
          <p:nvPr/>
        </p:nvSpPr>
        <p:spPr>
          <a:xfrm>
            <a:off x="3222199" y="603734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{{8a_9_1}}</a:t>
            </a:r>
          </a:p>
        </p:txBody>
      </p:sp>
      <p:sp>
        <p:nvSpPr>
          <p:cNvPr id="200073" name="TextBox 200073"/>
          <p:cNvSpPr txBox="1"/>
          <p:nvPr/>
        </p:nvSpPr>
        <p:spPr>
          <a:xfrm>
            <a:off x="3530007" y="603734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{{8a_9_2}}</a:t>
            </a:r>
          </a:p>
        </p:txBody>
      </p:sp>
      <p:sp>
        <p:nvSpPr>
          <p:cNvPr id="200074" name="TextBox 200074"/>
          <p:cNvSpPr txBox="1"/>
          <p:nvPr/>
        </p:nvSpPr>
        <p:spPr>
          <a:xfrm>
            <a:off x="3813751" y="603734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{{8a_9_3}}</a:t>
            </a:r>
          </a:p>
        </p:txBody>
      </p:sp>
      <p:sp>
        <p:nvSpPr>
          <p:cNvPr id="200075" name="TextBox 200075"/>
          <p:cNvSpPr txBox="1"/>
          <p:nvPr/>
        </p:nvSpPr>
        <p:spPr>
          <a:xfrm>
            <a:off x="4157655" y="603734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{{8a_9_4}}</a:t>
            </a:r>
          </a:p>
        </p:txBody>
      </p:sp>
      <p:sp>
        <p:nvSpPr>
          <p:cNvPr id="200076" name="TextBox 200076"/>
          <p:cNvSpPr txBox="1"/>
          <p:nvPr/>
        </p:nvSpPr>
        <p:spPr>
          <a:xfrm>
            <a:off x="4501562" y="603734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{{8a_9_5}}</a:t>
            </a:r>
          </a:p>
        </p:txBody>
      </p:sp>
      <p:sp>
        <p:nvSpPr>
          <p:cNvPr id="200077" name="TextBox 200077"/>
          <p:cNvSpPr txBox="1"/>
          <p:nvPr/>
        </p:nvSpPr>
        <p:spPr>
          <a:xfrm>
            <a:off x="4833437" y="603734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{{8a_9_6}}</a:t>
            </a:r>
          </a:p>
        </p:txBody>
      </p:sp>
      <p:sp>
        <p:nvSpPr>
          <p:cNvPr id="200078" name="TextBox 200078"/>
          <p:cNvSpPr txBox="1"/>
          <p:nvPr/>
        </p:nvSpPr>
        <p:spPr>
          <a:xfrm>
            <a:off x="5129217" y="603734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{{8a_9_7}}</a:t>
            </a:r>
          </a:p>
        </p:txBody>
      </p:sp>
      <p:sp>
        <p:nvSpPr>
          <p:cNvPr id="200079" name="TextBox 200079"/>
          <p:cNvSpPr txBox="1"/>
          <p:nvPr/>
        </p:nvSpPr>
        <p:spPr>
          <a:xfrm>
            <a:off x="5509214" y="603734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{{8a_9_8}}</a:t>
            </a:r>
          </a:p>
        </p:txBody>
      </p:sp>
      <p:sp>
        <p:nvSpPr>
          <p:cNvPr id="200080" name="TextBox 200080"/>
          <p:cNvSpPr txBox="1"/>
          <p:nvPr/>
        </p:nvSpPr>
        <p:spPr>
          <a:xfrm>
            <a:off x="6069688" y="603734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{{8a_9_9}}</a:t>
            </a:r>
          </a:p>
        </p:txBody>
      </p:sp>
      <p:sp>
        <p:nvSpPr>
          <p:cNvPr id="200081" name="TextBox 200081"/>
          <p:cNvSpPr txBox="1"/>
          <p:nvPr/>
        </p:nvSpPr>
        <p:spPr>
          <a:xfrm>
            <a:off x="3246263" y="633735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{{8a_10_1}}</a:t>
            </a:r>
          </a:p>
        </p:txBody>
      </p:sp>
      <p:sp>
        <p:nvSpPr>
          <p:cNvPr id="200082" name="TextBox 200082"/>
          <p:cNvSpPr txBox="1"/>
          <p:nvPr/>
        </p:nvSpPr>
        <p:spPr>
          <a:xfrm>
            <a:off x="3554071" y="633735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{{8a_10_2}}</a:t>
            </a:r>
          </a:p>
        </p:txBody>
      </p:sp>
      <p:sp>
        <p:nvSpPr>
          <p:cNvPr id="200083" name="TextBox 200083"/>
          <p:cNvSpPr txBox="1"/>
          <p:nvPr/>
        </p:nvSpPr>
        <p:spPr>
          <a:xfrm>
            <a:off x="3837815" y="633735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{{8a_10_3}}</a:t>
            </a:r>
          </a:p>
        </p:txBody>
      </p:sp>
      <p:sp>
        <p:nvSpPr>
          <p:cNvPr id="200084" name="TextBox 200084"/>
          <p:cNvSpPr txBox="1"/>
          <p:nvPr/>
        </p:nvSpPr>
        <p:spPr>
          <a:xfrm>
            <a:off x="4181719" y="633735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{{8a_10_4}}</a:t>
            </a:r>
          </a:p>
        </p:txBody>
      </p:sp>
      <p:sp>
        <p:nvSpPr>
          <p:cNvPr id="200085" name="TextBox 200085"/>
          <p:cNvSpPr txBox="1"/>
          <p:nvPr/>
        </p:nvSpPr>
        <p:spPr>
          <a:xfrm>
            <a:off x="4525626" y="633735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{{8a_10_5}}</a:t>
            </a:r>
          </a:p>
        </p:txBody>
      </p:sp>
      <p:sp>
        <p:nvSpPr>
          <p:cNvPr id="200086" name="TextBox 200086"/>
          <p:cNvSpPr txBox="1"/>
          <p:nvPr/>
        </p:nvSpPr>
        <p:spPr>
          <a:xfrm>
            <a:off x="4857501" y="633735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{{8a_10_6}}</a:t>
            </a:r>
          </a:p>
        </p:txBody>
      </p:sp>
      <p:sp>
        <p:nvSpPr>
          <p:cNvPr id="200087" name="TextBox 200087"/>
          <p:cNvSpPr txBox="1"/>
          <p:nvPr/>
        </p:nvSpPr>
        <p:spPr>
          <a:xfrm>
            <a:off x="5153281" y="633735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{{8a_10_7}}</a:t>
            </a:r>
          </a:p>
        </p:txBody>
      </p:sp>
      <p:sp>
        <p:nvSpPr>
          <p:cNvPr id="200088" name="TextBox 200088"/>
          <p:cNvSpPr txBox="1"/>
          <p:nvPr/>
        </p:nvSpPr>
        <p:spPr>
          <a:xfrm>
            <a:off x="5533278" y="633735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{{8a_10_8}}</a:t>
            </a:r>
          </a:p>
        </p:txBody>
      </p:sp>
      <p:sp>
        <p:nvSpPr>
          <p:cNvPr id="200089" name="TextBox 200089"/>
          <p:cNvSpPr txBox="1"/>
          <p:nvPr/>
        </p:nvSpPr>
        <p:spPr>
          <a:xfrm>
            <a:off x="6093752" y="633735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{{8a_10_9}}</a:t>
            </a:r>
          </a:p>
        </p:txBody>
      </p:sp>
      <p:sp>
        <p:nvSpPr>
          <p:cNvPr id="200090" name="TextBox 200090"/>
          <p:cNvSpPr txBox="1"/>
          <p:nvPr/>
        </p:nvSpPr>
        <p:spPr>
          <a:xfrm>
            <a:off x="3258295" y="668547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{{8a_11_1}}</a:t>
            </a:r>
          </a:p>
        </p:txBody>
      </p:sp>
      <p:sp>
        <p:nvSpPr>
          <p:cNvPr id="200091" name="TextBox 200091"/>
          <p:cNvSpPr txBox="1"/>
          <p:nvPr/>
        </p:nvSpPr>
        <p:spPr>
          <a:xfrm>
            <a:off x="3566103" y="668547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{{8a_11_2}}</a:t>
            </a:r>
          </a:p>
        </p:txBody>
      </p:sp>
      <p:sp>
        <p:nvSpPr>
          <p:cNvPr id="200092" name="TextBox 200092"/>
          <p:cNvSpPr txBox="1"/>
          <p:nvPr/>
        </p:nvSpPr>
        <p:spPr>
          <a:xfrm>
            <a:off x="3849847" y="668547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{{8a_11_3}}</a:t>
            </a:r>
          </a:p>
        </p:txBody>
      </p:sp>
      <p:sp>
        <p:nvSpPr>
          <p:cNvPr id="200093" name="TextBox 200093"/>
          <p:cNvSpPr txBox="1"/>
          <p:nvPr/>
        </p:nvSpPr>
        <p:spPr>
          <a:xfrm>
            <a:off x="4193751" y="668547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{{8a_11_4}}</a:t>
            </a:r>
          </a:p>
        </p:txBody>
      </p:sp>
      <p:sp>
        <p:nvSpPr>
          <p:cNvPr id="200094" name="TextBox 200094"/>
          <p:cNvSpPr txBox="1"/>
          <p:nvPr/>
        </p:nvSpPr>
        <p:spPr>
          <a:xfrm>
            <a:off x="4537658" y="668547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{{8a_11_5}}</a:t>
            </a:r>
          </a:p>
        </p:txBody>
      </p:sp>
      <p:sp>
        <p:nvSpPr>
          <p:cNvPr id="200095" name="TextBox 200095"/>
          <p:cNvSpPr txBox="1"/>
          <p:nvPr/>
        </p:nvSpPr>
        <p:spPr>
          <a:xfrm>
            <a:off x="4869533" y="668547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{{8a_11_6}}</a:t>
            </a:r>
          </a:p>
        </p:txBody>
      </p:sp>
      <p:sp>
        <p:nvSpPr>
          <p:cNvPr id="200096" name="TextBox 200096"/>
          <p:cNvSpPr txBox="1"/>
          <p:nvPr/>
        </p:nvSpPr>
        <p:spPr>
          <a:xfrm>
            <a:off x="5165313" y="668547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{{8a_11_7}}</a:t>
            </a:r>
          </a:p>
        </p:txBody>
      </p:sp>
      <p:sp>
        <p:nvSpPr>
          <p:cNvPr id="200097" name="TextBox 200097"/>
          <p:cNvSpPr txBox="1"/>
          <p:nvPr/>
        </p:nvSpPr>
        <p:spPr>
          <a:xfrm>
            <a:off x="5545310" y="668547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{{8a_11_8}}</a:t>
            </a:r>
          </a:p>
        </p:txBody>
      </p:sp>
      <p:sp>
        <p:nvSpPr>
          <p:cNvPr id="200098" name="TextBox 200098"/>
          <p:cNvSpPr txBox="1"/>
          <p:nvPr/>
        </p:nvSpPr>
        <p:spPr>
          <a:xfrm>
            <a:off x="6105784" y="668547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{{8a_11_9}}</a:t>
            </a:r>
          </a:p>
        </p:txBody>
      </p:sp>
      <p:sp>
        <p:nvSpPr>
          <p:cNvPr id="200099" name="TextBox 200099"/>
          <p:cNvSpPr txBox="1"/>
          <p:nvPr/>
        </p:nvSpPr>
        <p:spPr>
          <a:xfrm>
            <a:off x="3222199" y="705745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{{8a_12_1}}</a:t>
            </a:r>
          </a:p>
        </p:txBody>
      </p:sp>
      <p:sp>
        <p:nvSpPr>
          <p:cNvPr id="200100" name="TextBox 200100"/>
          <p:cNvSpPr txBox="1"/>
          <p:nvPr/>
        </p:nvSpPr>
        <p:spPr>
          <a:xfrm>
            <a:off x="3493911" y="705745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{{8a_12_2}}</a:t>
            </a:r>
          </a:p>
        </p:txBody>
      </p:sp>
      <p:sp>
        <p:nvSpPr>
          <p:cNvPr id="200101" name="TextBox 200101"/>
          <p:cNvSpPr txBox="1"/>
          <p:nvPr/>
        </p:nvSpPr>
        <p:spPr>
          <a:xfrm>
            <a:off x="3873911" y="705745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{{8a_12_3}}</a:t>
            </a:r>
          </a:p>
        </p:txBody>
      </p:sp>
      <p:sp>
        <p:nvSpPr>
          <p:cNvPr id="200102" name="TextBox 200102"/>
          <p:cNvSpPr txBox="1"/>
          <p:nvPr/>
        </p:nvSpPr>
        <p:spPr>
          <a:xfrm>
            <a:off x="4157657" y="705745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{{8a_12_4}}</a:t>
            </a:r>
          </a:p>
        </p:txBody>
      </p:sp>
      <p:sp>
        <p:nvSpPr>
          <p:cNvPr id="200103" name="TextBox 200103"/>
          <p:cNvSpPr txBox="1"/>
          <p:nvPr/>
        </p:nvSpPr>
        <p:spPr>
          <a:xfrm>
            <a:off x="4477499" y="705745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{{8a_12_5}}</a:t>
            </a:r>
          </a:p>
        </p:txBody>
      </p:sp>
      <p:sp>
        <p:nvSpPr>
          <p:cNvPr id="200104" name="TextBox 200104"/>
          <p:cNvSpPr txBox="1"/>
          <p:nvPr/>
        </p:nvSpPr>
        <p:spPr>
          <a:xfrm>
            <a:off x="4773277" y="705745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{{8a_12_6}}</a:t>
            </a:r>
          </a:p>
        </p:txBody>
      </p:sp>
      <p:sp>
        <p:nvSpPr>
          <p:cNvPr id="200105" name="TextBox 200105"/>
          <p:cNvSpPr txBox="1"/>
          <p:nvPr/>
        </p:nvSpPr>
        <p:spPr>
          <a:xfrm>
            <a:off x="5105153" y="705745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{{8a_12_7}}</a:t>
            </a:r>
          </a:p>
        </p:txBody>
      </p:sp>
      <p:sp>
        <p:nvSpPr>
          <p:cNvPr id="200106" name="TextBox 200106"/>
          <p:cNvSpPr txBox="1"/>
          <p:nvPr/>
        </p:nvSpPr>
        <p:spPr>
          <a:xfrm>
            <a:off x="5509221" y="705745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{{8a_12_8}}</a:t>
            </a:r>
          </a:p>
        </p:txBody>
      </p:sp>
      <p:sp>
        <p:nvSpPr>
          <p:cNvPr id="200107" name="TextBox 200107"/>
          <p:cNvSpPr txBox="1"/>
          <p:nvPr/>
        </p:nvSpPr>
        <p:spPr>
          <a:xfrm>
            <a:off x="6093753" y="705745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{{8a_12_9}}</a:t>
            </a:r>
          </a:p>
        </p:txBody>
      </p:sp>
      <p:sp>
        <p:nvSpPr>
          <p:cNvPr id="936128" name="TextBox 936128"/>
          <p:cNvSpPr txBox="1"/>
          <p:nvPr/>
        </p:nvSpPr>
        <p:spPr>
          <a:xfrm>
            <a:off x="3226341" y="7785711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{{8a_13_1}}</a:t>
            </a:r>
          </a:p>
        </p:txBody>
      </p:sp>
      <p:sp>
        <p:nvSpPr>
          <p:cNvPr id="982868" name="TextBox 982868"/>
          <p:cNvSpPr txBox="1"/>
          <p:nvPr/>
        </p:nvSpPr>
        <p:spPr>
          <a:xfrm>
            <a:off x="3506024" y="7785711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{{8a_13_2}}</a:t>
            </a:r>
          </a:p>
        </p:txBody>
      </p:sp>
      <p:sp>
        <p:nvSpPr>
          <p:cNvPr id="870200" name="TextBox 870200"/>
          <p:cNvSpPr txBox="1"/>
          <p:nvPr/>
        </p:nvSpPr>
        <p:spPr>
          <a:xfrm>
            <a:off x="3845859" y="7785711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{{8a_13_3}}</a:t>
            </a:r>
          </a:p>
        </p:txBody>
      </p:sp>
      <p:sp>
        <p:nvSpPr>
          <p:cNvPr id="805530" name="TextBox 805530"/>
          <p:cNvSpPr txBox="1"/>
          <p:nvPr/>
        </p:nvSpPr>
        <p:spPr>
          <a:xfrm>
            <a:off x="4137584" y="7785711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{{8a_13_4}}</a:t>
            </a:r>
          </a:p>
        </p:txBody>
      </p:sp>
      <p:sp>
        <p:nvSpPr>
          <p:cNvPr id="695628" name="TextBox 695628"/>
          <p:cNvSpPr txBox="1"/>
          <p:nvPr/>
        </p:nvSpPr>
        <p:spPr>
          <a:xfrm>
            <a:off x="4501483" y="7785711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{{8a_13_5}}</a:t>
            </a:r>
          </a:p>
        </p:txBody>
      </p:sp>
      <p:sp>
        <p:nvSpPr>
          <p:cNvPr id="182554" name="TextBox 182554"/>
          <p:cNvSpPr txBox="1"/>
          <p:nvPr/>
        </p:nvSpPr>
        <p:spPr>
          <a:xfrm>
            <a:off x="4829293" y="7785711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{{8a_13_6}}</a:t>
            </a:r>
          </a:p>
        </p:txBody>
      </p:sp>
      <p:sp>
        <p:nvSpPr>
          <p:cNvPr id="790885" name="TextBox 790885"/>
          <p:cNvSpPr txBox="1"/>
          <p:nvPr/>
        </p:nvSpPr>
        <p:spPr>
          <a:xfrm>
            <a:off x="5145073" y="7785711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{{8a_13_7}}</a:t>
            </a:r>
          </a:p>
        </p:txBody>
      </p:sp>
      <p:sp>
        <p:nvSpPr>
          <p:cNvPr id="502077" name="TextBox 502077"/>
          <p:cNvSpPr txBox="1"/>
          <p:nvPr/>
        </p:nvSpPr>
        <p:spPr>
          <a:xfrm>
            <a:off x="5508976" y="778571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{{8a_13_8}}</a:t>
            </a:r>
          </a:p>
        </p:txBody>
      </p:sp>
      <p:sp>
        <p:nvSpPr>
          <p:cNvPr id="367956" name="TextBox 367956"/>
          <p:cNvSpPr txBox="1"/>
          <p:nvPr/>
        </p:nvSpPr>
        <p:spPr>
          <a:xfrm>
            <a:off x="6005235" y="7785711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{{8a_13_9}}</a:t>
            </a:r>
          </a:p>
        </p:txBody>
      </p:sp>
      <p:sp>
        <p:nvSpPr>
          <p:cNvPr id="720747" name="TextBox 720747"/>
          <p:cNvSpPr txBox="1"/>
          <p:nvPr/>
        </p:nvSpPr>
        <p:spPr>
          <a:xfrm>
            <a:off x="3226341" y="825415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{{8a_14_1}}</a:t>
            </a:r>
          </a:p>
        </p:txBody>
      </p:sp>
      <p:sp>
        <p:nvSpPr>
          <p:cNvPr id="295631" name="TextBox 295631"/>
          <p:cNvSpPr txBox="1"/>
          <p:nvPr/>
        </p:nvSpPr>
        <p:spPr>
          <a:xfrm>
            <a:off x="3506024" y="825415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{{8a_14_2}}</a:t>
            </a:r>
          </a:p>
        </p:txBody>
      </p:sp>
      <p:sp>
        <p:nvSpPr>
          <p:cNvPr id="161630" name="TextBox 161630"/>
          <p:cNvSpPr txBox="1"/>
          <p:nvPr/>
        </p:nvSpPr>
        <p:spPr>
          <a:xfrm>
            <a:off x="3845859" y="825415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{{8a_14_3}}</a:t>
            </a:r>
          </a:p>
        </p:txBody>
      </p:sp>
      <p:sp>
        <p:nvSpPr>
          <p:cNvPr id="720685" name="TextBox 720685"/>
          <p:cNvSpPr txBox="1"/>
          <p:nvPr/>
        </p:nvSpPr>
        <p:spPr>
          <a:xfrm>
            <a:off x="4137584" y="825415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{{8a_14_4}}</a:t>
            </a:r>
          </a:p>
        </p:txBody>
      </p:sp>
      <p:sp>
        <p:nvSpPr>
          <p:cNvPr id="585940" name="TextBox 585940"/>
          <p:cNvSpPr txBox="1"/>
          <p:nvPr/>
        </p:nvSpPr>
        <p:spPr>
          <a:xfrm>
            <a:off x="4501483" y="825415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{{8a_14_5}}</a:t>
            </a:r>
          </a:p>
        </p:txBody>
      </p:sp>
      <p:sp>
        <p:nvSpPr>
          <p:cNvPr id="585042" name="TextBox 585042"/>
          <p:cNvSpPr txBox="1"/>
          <p:nvPr/>
        </p:nvSpPr>
        <p:spPr>
          <a:xfrm>
            <a:off x="4829293" y="825415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{{8a_14_6}}</a:t>
            </a:r>
          </a:p>
        </p:txBody>
      </p:sp>
      <p:sp>
        <p:nvSpPr>
          <p:cNvPr id="647085" name="TextBox 647085"/>
          <p:cNvSpPr txBox="1"/>
          <p:nvPr/>
        </p:nvSpPr>
        <p:spPr>
          <a:xfrm>
            <a:off x="5145073" y="825415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{{8a_14_7}}</a:t>
            </a:r>
          </a:p>
        </p:txBody>
      </p:sp>
      <p:sp>
        <p:nvSpPr>
          <p:cNvPr id="806592" name="TextBox 806592"/>
          <p:cNvSpPr txBox="1"/>
          <p:nvPr/>
        </p:nvSpPr>
        <p:spPr>
          <a:xfrm>
            <a:off x="5508976" y="8254155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{{8a_14_8}}</a:t>
            </a:r>
          </a:p>
        </p:txBody>
      </p:sp>
      <p:sp>
        <p:nvSpPr>
          <p:cNvPr id="529695" name="TextBox 529695"/>
          <p:cNvSpPr txBox="1"/>
          <p:nvPr/>
        </p:nvSpPr>
        <p:spPr>
          <a:xfrm>
            <a:off x="6005235" y="8254153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{{8a_14_9}}</a:t>
            </a:r>
          </a:p>
        </p:txBody>
      </p:sp>
      <p:sp>
        <p:nvSpPr>
          <p:cNvPr id="884059" name="TextBox 884059"/>
          <p:cNvSpPr txBox="1"/>
          <p:nvPr/>
        </p:nvSpPr>
        <p:spPr>
          <a:xfrm>
            <a:off x="3226341" y="866244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{{8a_15_1}}</a:t>
            </a:r>
          </a:p>
        </p:txBody>
      </p:sp>
      <p:sp>
        <p:nvSpPr>
          <p:cNvPr id="472367" name="TextBox 472367"/>
          <p:cNvSpPr txBox="1"/>
          <p:nvPr/>
        </p:nvSpPr>
        <p:spPr>
          <a:xfrm>
            <a:off x="3506024" y="866244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{{8a_15_2}}</a:t>
            </a:r>
          </a:p>
        </p:txBody>
      </p:sp>
      <p:sp>
        <p:nvSpPr>
          <p:cNvPr id="955533" name="TextBox 955533"/>
          <p:cNvSpPr txBox="1"/>
          <p:nvPr/>
        </p:nvSpPr>
        <p:spPr>
          <a:xfrm>
            <a:off x="3845859" y="866244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{{8a_15_3}}</a:t>
            </a:r>
          </a:p>
        </p:txBody>
      </p:sp>
      <p:sp>
        <p:nvSpPr>
          <p:cNvPr id="264284" name="TextBox 264284"/>
          <p:cNvSpPr txBox="1"/>
          <p:nvPr/>
        </p:nvSpPr>
        <p:spPr>
          <a:xfrm>
            <a:off x="4137584" y="866244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{{8a_15_4}}</a:t>
            </a:r>
          </a:p>
        </p:txBody>
      </p:sp>
      <p:sp>
        <p:nvSpPr>
          <p:cNvPr id="814246" name="TextBox 814246"/>
          <p:cNvSpPr txBox="1"/>
          <p:nvPr/>
        </p:nvSpPr>
        <p:spPr>
          <a:xfrm>
            <a:off x="4501483" y="866244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{{8a_15_5}}</a:t>
            </a:r>
          </a:p>
        </p:txBody>
      </p:sp>
      <p:sp>
        <p:nvSpPr>
          <p:cNvPr id="281578" name="TextBox 281578"/>
          <p:cNvSpPr txBox="1"/>
          <p:nvPr/>
        </p:nvSpPr>
        <p:spPr>
          <a:xfrm>
            <a:off x="4829293" y="866244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{{8a_15_6}}</a:t>
            </a:r>
          </a:p>
        </p:txBody>
      </p:sp>
      <p:sp>
        <p:nvSpPr>
          <p:cNvPr id="600997" name="TextBox 600997"/>
          <p:cNvSpPr txBox="1"/>
          <p:nvPr/>
        </p:nvSpPr>
        <p:spPr>
          <a:xfrm>
            <a:off x="5145073" y="866244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{{8a_15_7}}</a:t>
            </a:r>
          </a:p>
        </p:txBody>
      </p:sp>
      <p:sp>
        <p:nvSpPr>
          <p:cNvPr id="735839" name="TextBox 735839"/>
          <p:cNvSpPr txBox="1"/>
          <p:nvPr/>
        </p:nvSpPr>
        <p:spPr>
          <a:xfrm>
            <a:off x="5508976" y="8662445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{{8a_15_8}}</a:t>
            </a:r>
          </a:p>
        </p:txBody>
      </p:sp>
      <p:sp>
        <p:nvSpPr>
          <p:cNvPr id="898065" name="TextBox 898065"/>
          <p:cNvSpPr txBox="1"/>
          <p:nvPr/>
        </p:nvSpPr>
        <p:spPr>
          <a:xfrm>
            <a:off x="6005235" y="8662443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{{8a_15_9}}</a:t>
            </a:r>
          </a:p>
        </p:txBody>
      </p:sp>
    </p:spTree>
    <p:extLst>
      <p:ext uri="{BB962C8B-B14F-4D97-AF65-F5344CB8AC3E}">
        <p14:creationId xmlns:p14="http://schemas.microsoft.com/office/powerpoint/2010/main" val="39729083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  <a:p>
            <a:r>
              <a:t>{{12p7}}</a:t>
            </a:r>
          </a:p>
          <a:p>
            <a:r>
              <a:t>{{12p8}}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2" name="ตาราง 2">
            <a:extLst>
              <a:ext uri="{FF2B5EF4-FFF2-40B4-BE49-F238E27FC236}">
                <a16:creationId xmlns:a16="http://schemas.microsoft.com/office/drawing/2014/main" id="{576B5AF6-912C-4BF5-A1C7-986A65B19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9114654"/>
              </p:ext>
            </p:extLst>
          </p:nvPr>
        </p:nvGraphicFramePr>
        <p:xfrm>
          <a:off x="640551" y="692058"/>
          <a:ext cx="6156000" cy="697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206911226"/>
                    </a:ext>
                  </a:extLst>
                </a:gridCol>
                <a:gridCol w="2304000">
                  <a:extLst>
                    <a:ext uri="{9D8B030D-6E8A-4147-A177-3AD203B41FA5}">
                      <a16:colId xmlns:a16="http://schemas.microsoft.com/office/drawing/2014/main" val="270480515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0909791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421731208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1574206475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576181306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917518100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2708931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677222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9188763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088987784"/>
                    </a:ext>
                  </a:extLst>
                </a:gridCol>
              </a:tblGrid>
              <a:tr h="324000">
                <a:tc gridSpan="11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9.	การตรวจสอบอุปกรณ์ประกอบต่าง ๆ ของป้าย</a:t>
                      </a: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960072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ลำดับที่</a:t>
                      </a:r>
                    </a:p>
                  </a:txBody>
                  <a:tcPr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รายการ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มี</a:t>
                      </a:r>
                    </a:p>
                  </a:txBody>
                  <a:tcPr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ไม่มี</a:t>
                      </a:r>
                    </a:p>
                  </a:txBody>
                  <a:tcPr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การชำรุด</a:t>
                      </a:r>
                    </a:p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สึกหรอ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</a:t>
                      </a:r>
                    </a:p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เสียหาย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ความเห็น</a:t>
                      </a:r>
                    </a:p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ผู้ตรวจสอบ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หมายเหตุ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8623504"/>
                  </a:ext>
                </a:extLst>
              </a:tr>
              <a:tr h="50400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มี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ไม่พบ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มี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ไม่พบ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ใช้ได้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th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8983472"/>
                  </a:ext>
                </a:extLst>
              </a:tr>
              <a:tr h="0">
                <a:tc rowSpan="7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(1)</a:t>
                      </a: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1760" indent="-11176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ระบบไฟฟ้าแสงสว่าง 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และระบบไฟฟ้ากำลัง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20316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โคมไฟฟ้า หรือหลอดไฟ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544172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ท่อสาย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34205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อุปกรณ์ควบคุม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820941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การต่อลงดิน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936648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ตรวจบันทึกการบำรุงรักษา พบการบำรุงรักษาตามคาบเวลากำหนด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559695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152650" algn="l"/>
                        </a:tabLst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อื่น ๆ (โปรดระบุ)</a:t>
                      </a:r>
                      <a:r>
                        <a:rPr lang="th-TH" sz="1600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511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(2)</a:t>
                      </a: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ระบบป้องกันฟ้าผ่า (ถ้ามี)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7154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ตัวนำล่อฟ้า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032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ตัวนำต่อลงดิน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0150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รากสายดิน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6902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จุดต่อประสานศักย์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7892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</a:t>
                      </a: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ตรวจบันทึกการบำรุงรักษา พบการบำรุงรักษาตามคาบเวลากำหนด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76959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15265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อื่น ๆ (โปรดระบุ)</a:t>
                      </a:r>
                      <a:r>
                        <a:rPr lang="th-TH" sz="1600" u="dotted" baseline="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0158525"/>
                  </a:ext>
                </a:extLst>
              </a:tr>
            </a:tbl>
          </a:graphicData>
        </a:graphic>
      </p:graphicFrame>
      <p:sp>
        <p:nvSpPr>
          <p:cNvPr id="216301" name="TextBox 216301"/>
          <p:cNvSpPr txBox="1"/>
          <p:nvPr/>
        </p:nvSpPr>
        <p:spPr>
          <a:xfrm>
            <a:off x="3218988" y="268057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{{9a_1_1}}</a:t>
            </a:r>
          </a:p>
        </p:txBody>
      </p:sp>
      <p:sp>
        <p:nvSpPr>
          <p:cNvPr id="423386" name="TextBox 423386"/>
          <p:cNvSpPr txBox="1"/>
          <p:nvPr/>
        </p:nvSpPr>
        <p:spPr>
          <a:xfrm>
            <a:off x="3522732" y="268057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{{9a_1_2}}</a:t>
            </a:r>
          </a:p>
        </p:txBody>
      </p:sp>
      <p:sp>
        <p:nvSpPr>
          <p:cNvPr id="944576" name="TextBox 944576"/>
          <p:cNvSpPr txBox="1"/>
          <p:nvPr/>
        </p:nvSpPr>
        <p:spPr>
          <a:xfrm>
            <a:off x="3850541" y="268057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{{9a_1_3}}</a:t>
            </a:r>
          </a:p>
        </p:txBody>
      </p:sp>
      <p:sp>
        <p:nvSpPr>
          <p:cNvPr id="809698" name="TextBox 809698"/>
          <p:cNvSpPr txBox="1"/>
          <p:nvPr/>
        </p:nvSpPr>
        <p:spPr>
          <a:xfrm>
            <a:off x="4142257" y="268057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{{9a_1_4}}</a:t>
            </a:r>
          </a:p>
        </p:txBody>
      </p:sp>
      <p:sp>
        <p:nvSpPr>
          <p:cNvPr id="334181" name="TextBox 334181"/>
          <p:cNvSpPr txBox="1"/>
          <p:nvPr/>
        </p:nvSpPr>
        <p:spPr>
          <a:xfrm>
            <a:off x="4494130" y="268057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{{9a_1_5}}</a:t>
            </a:r>
          </a:p>
        </p:txBody>
      </p:sp>
      <p:sp>
        <p:nvSpPr>
          <p:cNvPr id="787206" name="TextBox 787206"/>
          <p:cNvSpPr txBox="1"/>
          <p:nvPr/>
        </p:nvSpPr>
        <p:spPr>
          <a:xfrm>
            <a:off x="4821946" y="268057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{{9a_1_6}}</a:t>
            </a:r>
          </a:p>
        </p:txBody>
      </p:sp>
      <p:sp>
        <p:nvSpPr>
          <p:cNvPr id="591117" name="TextBox 591117"/>
          <p:cNvSpPr txBox="1"/>
          <p:nvPr/>
        </p:nvSpPr>
        <p:spPr>
          <a:xfrm>
            <a:off x="5161781" y="268057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{{9a_1_7}}</a:t>
            </a:r>
          </a:p>
        </p:txBody>
      </p:sp>
      <p:sp>
        <p:nvSpPr>
          <p:cNvPr id="160138" name="TextBox 160138"/>
          <p:cNvSpPr txBox="1"/>
          <p:nvPr/>
        </p:nvSpPr>
        <p:spPr>
          <a:xfrm>
            <a:off x="5513656" y="268057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{{9a_1_8}}</a:t>
            </a:r>
          </a:p>
        </p:txBody>
      </p:sp>
      <p:sp>
        <p:nvSpPr>
          <p:cNvPr id="621911" name="TextBox 621911"/>
          <p:cNvSpPr txBox="1"/>
          <p:nvPr/>
        </p:nvSpPr>
        <p:spPr>
          <a:xfrm>
            <a:off x="5997885" y="2680572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{{9a_1_9}}</a:t>
            </a:r>
          </a:p>
        </p:txBody>
      </p:sp>
      <p:sp>
        <p:nvSpPr>
          <p:cNvPr id="797694" name="TextBox 797694"/>
          <p:cNvSpPr txBox="1"/>
          <p:nvPr/>
        </p:nvSpPr>
        <p:spPr>
          <a:xfrm>
            <a:off x="3218988" y="304073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{{9a_2_1}}</a:t>
            </a:r>
          </a:p>
        </p:txBody>
      </p:sp>
      <p:sp>
        <p:nvSpPr>
          <p:cNvPr id="134712" name="TextBox 134712"/>
          <p:cNvSpPr txBox="1"/>
          <p:nvPr/>
        </p:nvSpPr>
        <p:spPr>
          <a:xfrm>
            <a:off x="3522732" y="304073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{{9a_2_2}}</a:t>
            </a:r>
          </a:p>
        </p:txBody>
      </p:sp>
      <p:sp>
        <p:nvSpPr>
          <p:cNvPr id="381184" name="TextBox 381184"/>
          <p:cNvSpPr txBox="1"/>
          <p:nvPr/>
        </p:nvSpPr>
        <p:spPr>
          <a:xfrm>
            <a:off x="3850541" y="304073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{{9a_2_3}}</a:t>
            </a:r>
          </a:p>
        </p:txBody>
      </p:sp>
      <p:sp>
        <p:nvSpPr>
          <p:cNvPr id="123248" name="TextBox 123248"/>
          <p:cNvSpPr txBox="1"/>
          <p:nvPr/>
        </p:nvSpPr>
        <p:spPr>
          <a:xfrm>
            <a:off x="4142257" y="304073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{{9a_2_4}}</a:t>
            </a:r>
          </a:p>
        </p:txBody>
      </p:sp>
      <p:sp>
        <p:nvSpPr>
          <p:cNvPr id="780947" name="TextBox 780947"/>
          <p:cNvSpPr txBox="1"/>
          <p:nvPr/>
        </p:nvSpPr>
        <p:spPr>
          <a:xfrm>
            <a:off x="4494130" y="304073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{{9a_2_5}}</a:t>
            </a:r>
          </a:p>
        </p:txBody>
      </p:sp>
      <p:sp>
        <p:nvSpPr>
          <p:cNvPr id="355674" name="TextBox 355674"/>
          <p:cNvSpPr txBox="1"/>
          <p:nvPr/>
        </p:nvSpPr>
        <p:spPr>
          <a:xfrm>
            <a:off x="4821946" y="304073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{{9a_2_6}}</a:t>
            </a:r>
          </a:p>
        </p:txBody>
      </p:sp>
      <p:sp>
        <p:nvSpPr>
          <p:cNvPr id="580242" name="TextBox 580242"/>
          <p:cNvSpPr txBox="1"/>
          <p:nvPr/>
        </p:nvSpPr>
        <p:spPr>
          <a:xfrm>
            <a:off x="5161781" y="304073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{{9a_2_7}}</a:t>
            </a:r>
          </a:p>
        </p:txBody>
      </p:sp>
      <p:sp>
        <p:nvSpPr>
          <p:cNvPr id="518647" name="TextBox 518647"/>
          <p:cNvSpPr txBox="1"/>
          <p:nvPr/>
        </p:nvSpPr>
        <p:spPr>
          <a:xfrm>
            <a:off x="5513656" y="304073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{{9a_2_8}}</a:t>
            </a:r>
          </a:p>
        </p:txBody>
      </p:sp>
      <p:sp>
        <p:nvSpPr>
          <p:cNvPr id="346005" name="TextBox 346005"/>
          <p:cNvSpPr txBox="1"/>
          <p:nvPr/>
        </p:nvSpPr>
        <p:spPr>
          <a:xfrm>
            <a:off x="5997885" y="3040732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{{9a_2_9}}</a:t>
            </a:r>
          </a:p>
        </p:txBody>
      </p:sp>
      <p:sp>
        <p:nvSpPr>
          <p:cNvPr id="281762" name="TextBox 281762"/>
          <p:cNvSpPr txBox="1"/>
          <p:nvPr/>
        </p:nvSpPr>
        <p:spPr>
          <a:xfrm>
            <a:off x="3218988" y="3376828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{{9a_3_1}}</a:t>
            </a:r>
          </a:p>
        </p:txBody>
      </p:sp>
      <p:sp>
        <p:nvSpPr>
          <p:cNvPr id="843455" name="TextBox 843455"/>
          <p:cNvSpPr txBox="1"/>
          <p:nvPr/>
        </p:nvSpPr>
        <p:spPr>
          <a:xfrm>
            <a:off x="3522732" y="3376828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{{9a_3_2}}</a:t>
            </a:r>
          </a:p>
        </p:txBody>
      </p:sp>
      <p:sp>
        <p:nvSpPr>
          <p:cNvPr id="206038" name="TextBox 206038"/>
          <p:cNvSpPr txBox="1"/>
          <p:nvPr/>
        </p:nvSpPr>
        <p:spPr>
          <a:xfrm>
            <a:off x="3850541" y="3376828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{{9a_3_3}}</a:t>
            </a:r>
          </a:p>
        </p:txBody>
      </p:sp>
      <p:sp>
        <p:nvSpPr>
          <p:cNvPr id="770712" name="TextBox 770712"/>
          <p:cNvSpPr txBox="1"/>
          <p:nvPr/>
        </p:nvSpPr>
        <p:spPr>
          <a:xfrm>
            <a:off x="4142257" y="3376828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{{9a_3_4}}</a:t>
            </a:r>
          </a:p>
        </p:txBody>
      </p:sp>
      <p:sp>
        <p:nvSpPr>
          <p:cNvPr id="687275" name="TextBox 687275"/>
          <p:cNvSpPr txBox="1"/>
          <p:nvPr/>
        </p:nvSpPr>
        <p:spPr>
          <a:xfrm>
            <a:off x="4494130" y="3376828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{{9a_3_5}}</a:t>
            </a:r>
          </a:p>
        </p:txBody>
      </p:sp>
      <p:sp>
        <p:nvSpPr>
          <p:cNvPr id="136680" name="TextBox 136680"/>
          <p:cNvSpPr txBox="1"/>
          <p:nvPr/>
        </p:nvSpPr>
        <p:spPr>
          <a:xfrm>
            <a:off x="4821946" y="3376828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{{9a_3_6}}</a:t>
            </a:r>
          </a:p>
        </p:txBody>
      </p:sp>
      <p:sp>
        <p:nvSpPr>
          <p:cNvPr id="707020" name="TextBox 707020"/>
          <p:cNvSpPr txBox="1"/>
          <p:nvPr/>
        </p:nvSpPr>
        <p:spPr>
          <a:xfrm>
            <a:off x="5161781" y="3376828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{{9a_3_7}}</a:t>
            </a:r>
          </a:p>
        </p:txBody>
      </p:sp>
      <p:sp>
        <p:nvSpPr>
          <p:cNvPr id="286226" name="TextBox 286226"/>
          <p:cNvSpPr txBox="1"/>
          <p:nvPr/>
        </p:nvSpPr>
        <p:spPr>
          <a:xfrm>
            <a:off x="5513656" y="3376828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{{9a_3_8}}</a:t>
            </a:r>
          </a:p>
        </p:txBody>
      </p:sp>
      <p:sp>
        <p:nvSpPr>
          <p:cNvPr id="808389" name="TextBox 808389"/>
          <p:cNvSpPr txBox="1"/>
          <p:nvPr/>
        </p:nvSpPr>
        <p:spPr>
          <a:xfrm>
            <a:off x="5997885" y="3376828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{{9a_3_9}}</a:t>
            </a:r>
          </a:p>
        </p:txBody>
      </p:sp>
      <p:sp>
        <p:nvSpPr>
          <p:cNvPr id="370472" name="TextBox 370472"/>
          <p:cNvSpPr txBox="1"/>
          <p:nvPr/>
        </p:nvSpPr>
        <p:spPr>
          <a:xfrm>
            <a:off x="3218988" y="3749016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{{9a_4_1}}</a:t>
            </a:r>
          </a:p>
        </p:txBody>
      </p:sp>
      <p:sp>
        <p:nvSpPr>
          <p:cNvPr id="719376" name="TextBox 719376"/>
          <p:cNvSpPr txBox="1"/>
          <p:nvPr/>
        </p:nvSpPr>
        <p:spPr>
          <a:xfrm>
            <a:off x="3522732" y="3749016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{{9a_4_2}}</a:t>
            </a:r>
          </a:p>
        </p:txBody>
      </p:sp>
      <p:sp>
        <p:nvSpPr>
          <p:cNvPr id="620127" name="TextBox 620127"/>
          <p:cNvSpPr txBox="1"/>
          <p:nvPr/>
        </p:nvSpPr>
        <p:spPr>
          <a:xfrm>
            <a:off x="3850541" y="3749016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{{9a_4_3}}</a:t>
            </a:r>
          </a:p>
        </p:txBody>
      </p:sp>
      <p:sp>
        <p:nvSpPr>
          <p:cNvPr id="805915" name="TextBox 805915"/>
          <p:cNvSpPr txBox="1"/>
          <p:nvPr/>
        </p:nvSpPr>
        <p:spPr>
          <a:xfrm>
            <a:off x="4142257" y="3749016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{{9a_4_4}}</a:t>
            </a:r>
          </a:p>
        </p:txBody>
      </p:sp>
      <p:sp>
        <p:nvSpPr>
          <p:cNvPr id="647904" name="TextBox 647904"/>
          <p:cNvSpPr txBox="1"/>
          <p:nvPr/>
        </p:nvSpPr>
        <p:spPr>
          <a:xfrm>
            <a:off x="4494130" y="3749016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{{9a_4_5}}</a:t>
            </a:r>
          </a:p>
        </p:txBody>
      </p:sp>
      <p:sp>
        <p:nvSpPr>
          <p:cNvPr id="494299" name="TextBox 494299"/>
          <p:cNvSpPr txBox="1"/>
          <p:nvPr/>
        </p:nvSpPr>
        <p:spPr>
          <a:xfrm>
            <a:off x="4821946" y="3749016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{{9a_4_6}}</a:t>
            </a:r>
          </a:p>
        </p:txBody>
      </p:sp>
      <p:sp>
        <p:nvSpPr>
          <p:cNvPr id="826618" name="TextBox 826618"/>
          <p:cNvSpPr txBox="1"/>
          <p:nvPr/>
        </p:nvSpPr>
        <p:spPr>
          <a:xfrm>
            <a:off x="5161781" y="3749016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{{9a_4_7}}</a:t>
            </a:r>
          </a:p>
        </p:txBody>
      </p:sp>
      <p:sp>
        <p:nvSpPr>
          <p:cNvPr id="164563" name="TextBox 164563"/>
          <p:cNvSpPr txBox="1"/>
          <p:nvPr/>
        </p:nvSpPr>
        <p:spPr>
          <a:xfrm>
            <a:off x="5513656" y="3749016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{{9a_4_8}}</a:t>
            </a:r>
          </a:p>
        </p:txBody>
      </p:sp>
      <p:sp>
        <p:nvSpPr>
          <p:cNvPr id="167740" name="TextBox 167740"/>
          <p:cNvSpPr txBox="1"/>
          <p:nvPr/>
        </p:nvSpPr>
        <p:spPr>
          <a:xfrm>
            <a:off x="5997885" y="3749016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{{9a_4_9}}</a:t>
            </a:r>
          </a:p>
        </p:txBody>
      </p:sp>
      <p:sp>
        <p:nvSpPr>
          <p:cNvPr id="362261" name="TextBox 362261"/>
          <p:cNvSpPr txBox="1"/>
          <p:nvPr/>
        </p:nvSpPr>
        <p:spPr>
          <a:xfrm>
            <a:off x="3218988" y="4253554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{{9a_5_1}}</a:t>
            </a:r>
          </a:p>
        </p:txBody>
      </p:sp>
      <p:sp>
        <p:nvSpPr>
          <p:cNvPr id="959790" name="TextBox 959790"/>
          <p:cNvSpPr txBox="1"/>
          <p:nvPr/>
        </p:nvSpPr>
        <p:spPr>
          <a:xfrm>
            <a:off x="3522732" y="4253554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{{9a_5_2}}</a:t>
            </a:r>
          </a:p>
        </p:txBody>
      </p:sp>
      <p:sp>
        <p:nvSpPr>
          <p:cNvPr id="788886" name="TextBox 788886"/>
          <p:cNvSpPr txBox="1"/>
          <p:nvPr/>
        </p:nvSpPr>
        <p:spPr>
          <a:xfrm>
            <a:off x="3850541" y="4253554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{{9a_5_3}}</a:t>
            </a:r>
          </a:p>
        </p:txBody>
      </p:sp>
      <p:sp>
        <p:nvSpPr>
          <p:cNvPr id="863084" name="TextBox 863084"/>
          <p:cNvSpPr txBox="1"/>
          <p:nvPr/>
        </p:nvSpPr>
        <p:spPr>
          <a:xfrm>
            <a:off x="4142257" y="4253554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{{9a_5_4}}</a:t>
            </a:r>
          </a:p>
        </p:txBody>
      </p:sp>
      <p:sp>
        <p:nvSpPr>
          <p:cNvPr id="519080" name="TextBox 519080"/>
          <p:cNvSpPr txBox="1"/>
          <p:nvPr/>
        </p:nvSpPr>
        <p:spPr>
          <a:xfrm>
            <a:off x="4494130" y="4253554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{{9a_5_5}}</a:t>
            </a:r>
          </a:p>
        </p:txBody>
      </p:sp>
      <p:sp>
        <p:nvSpPr>
          <p:cNvPr id="129159" name="TextBox 129159"/>
          <p:cNvSpPr txBox="1"/>
          <p:nvPr/>
        </p:nvSpPr>
        <p:spPr>
          <a:xfrm>
            <a:off x="4821946" y="4253554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{{9a_5_6}}</a:t>
            </a:r>
          </a:p>
        </p:txBody>
      </p:sp>
      <p:sp>
        <p:nvSpPr>
          <p:cNvPr id="277815" name="TextBox 277815"/>
          <p:cNvSpPr txBox="1"/>
          <p:nvPr/>
        </p:nvSpPr>
        <p:spPr>
          <a:xfrm>
            <a:off x="5161781" y="4253554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{{9a_5_7}}</a:t>
            </a:r>
          </a:p>
        </p:txBody>
      </p:sp>
      <p:sp>
        <p:nvSpPr>
          <p:cNvPr id="495711" name="TextBox 495711"/>
          <p:cNvSpPr txBox="1"/>
          <p:nvPr/>
        </p:nvSpPr>
        <p:spPr>
          <a:xfrm>
            <a:off x="5513656" y="4253554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{{9a_5_8}}</a:t>
            </a:r>
          </a:p>
        </p:txBody>
      </p:sp>
      <p:sp>
        <p:nvSpPr>
          <p:cNvPr id="592076" name="TextBox 592076"/>
          <p:cNvSpPr txBox="1"/>
          <p:nvPr/>
        </p:nvSpPr>
        <p:spPr>
          <a:xfrm>
            <a:off x="5997885" y="4253554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{{9a_5_9}}</a:t>
            </a:r>
          </a:p>
        </p:txBody>
      </p:sp>
      <p:sp>
        <p:nvSpPr>
          <p:cNvPr id="880249" name="TextBox 880249"/>
          <p:cNvSpPr txBox="1"/>
          <p:nvPr/>
        </p:nvSpPr>
        <p:spPr>
          <a:xfrm>
            <a:off x="3218988" y="469793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{{9a_6_1}}</a:t>
            </a:r>
          </a:p>
        </p:txBody>
      </p:sp>
      <p:sp>
        <p:nvSpPr>
          <p:cNvPr id="329035" name="TextBox 329035"/>
          <p:cNvSpPr txBox="1"/>
          <p:nvPr/>
        </p:nvSpPr>
        <p:spPr>
          <a:xfrm>
            <a:off x="3522732" y="469793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{{9a_6_2}}</a:t>
            </a:r>
          </a:p>
        </p:txBody>
      </p:sp>
      <p:sp>
        <p:nvSpPr>
          <p:cNvPr id="217137" name="TextBox 217137"/>
          <p:cNvSpPr txBox="1"/>
          <p:nvPr/>
        </p:nvSpPr>
        <p:spPr>
          <a:xfrm>
            <a:off x="3850541" y="469793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{{9a_6_3}}</a:t>
            </a:r>
          </a:p>
        </p:txBody>
      </p:sp>
      <p:sp>
        <p:nvSpPr>
          <p:cNvPr id="494358" name="TextBox 494358"/>
          <p:cNvSpPr txBox="1"/>
          <p:nvPr/>
        </p:nvSpPr>
        <p:spPr>
          <a:xfrm>
            <a:off x="4142257" y="469793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{{9a_6_4}}</a:t>
            </a:r>
          </a:p>
        </p:txBody>
      </p:sp>
      <p:sp>
        <p:nvSpPr>
          <p:cNvPr id="627448" name="TextBox 627448"/>
          <p:cNvSpPr txBox="1"/>
          <p:nvPr/>
        </p:nvSpPr>
        <p:spPr>
          <a:xfrm>
            <a:off x="4494130" y="469793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{{9a_6_5}}</a:t>
            </a:r>
          </a:p>
        </p:txBody>
      </p:sp>
      <p:sp>
        <p:nvSpPr>
          <p:cNvPr id="363568" name="TextBox 363568"/>
          <p:cNvSpPr txBox="1"/>
          <p:nvPr/>
        </p:nvSpPr>
        <p:spPr>
          <a:xfrm>
            <a:off x="4821946" y="469793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{{9a_6_6}}</a:t>
            </a:r>
          </a:p>
        </p:txBody>
      </p:sp>
      <p:sp>
        <p:nvSpPr>
          <p:cNvPr id="472469" name="TextBox 472469"/>
          <p:cNvSpPr txBox="1"/>
          <p:nvPr/>
        </p:nvSpPr>
        <p:spPr>
          <a:xfrm>
            <a:off x="5161781" y="469793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{{9a_6_7}}</a:t>
            </a:r>
          </a:p>
        </p:txBody>
      </p:sp>
      <p:sp>
        <p:nvSpPr>
          <p:cNvPr id="156418" name="TextBox 156418"/>
          <p:cNvSpPr txBox="1"/>
          <p:nvPr/>
        </p:nvSpPr>
        <p:spPr>
          <a:xfrm>
            <a:off x="5513656" y="469793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{{9a_6_8}}</a:t>
            </a:r>
          </a:p>
        </p:txBody>
      </p:sp>
      <p:sp>
        <p:nvSpPr>
          <p:cNvPr id="699792" name="TextBox 699792"/>
          <p:cNvSpPr txBox="1"/>
          <p:nvPr/>
        </p:nvSpPr>
        <p:spPr>
          <a:xfrm>
            <a:off x="5997885" y="4697930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{{9a_6_9}}</a:t>
            </a:r>
          </a:p>
        </p:txBody>
      </p:sp>
      <p:sp>
        <p:nvSpPr>
          <p:cNvPr id="691106" name="TextBox 691106"/>
          <p:cNvSpPr txBox="1"/>
          <p:nvPr/>
        </p:nvSpPr>
        <p:spPr>
          <a:xfrm>
            <a:off x="3218988" y="537091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{{9a_7_1}}</a:t>
            </a:r>
          </a:p>
        </p:txBody>
      </p:sp>
      <p:sp>
        <p:nvSpPr>
          <p:cNvPr id="593166" name="TextBox 593166"/>
          <p:cNvSpPr txBox="1"/>
          <p:nvPr/>
        </p:nvSpPr>
        <p:spPr>
          <a:xfrm>
            <a:off x="3522732" y="537091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{{9a_7_2}}</a:t>
            </a:r>
          </a:p>
        </p:txBody>
      </p:sp>
      <p:sp>
        <p:nvSpPr>
          <p:cNvPr id="110027" name="TextBox 110027"/>
          <p:cNvSpPr txBox="1"/>
          <p:nvPr/>
        </p:nvSpPr>
        <p:spPr>
          <a:xfrm>
            <a:off x="3850542" y="537091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{{9a_7_3}}</a:t>
            </a:r>
          </a:p>
        </p:txBody>
      </p:sp>
      <p:sp>
        <p:nvSpPr>
          <p:cNvPr id="182710" name="TextBox 182710"/>
          <p:cNvSpPr txBox="1"/>
          <p:nvPr/>
        </p:nvSpPr>
        <p:spPr>
          <a:xfrm>
            <a:off x="4142257" y="537091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{{9a_7_4}}</a:t>
            </a:r>
          </a:p>
        </p:txBody>
      </p:sp>
      <p:sp>
        <p:nvSpPr>
          <p:cNvPr id="613714" name="TextBox 613714"/>
          <p:cNvSpPr txBox="1"/>
          <p:nvPr/>
        </p:nvSpPr>
        <p:spPr>
          <a:xfrm>
            <a:off x="4494130" y="537091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{{9a_7_5}}</a:t>
            </a:r>
          </a:p>
        </p:txBody>
      </p:sp>
      <p:sp>
        <p:nvSpPr>
          <p:cNvPr id="618504" name="TextBox 618504"/>
          <p:cNvSpPr txBox="1"/>
          <p:nvPr/>
        </p:nvSpPr>
        <p:spPr>
          <a:xfrm>
            <a:off x="4821946" y="537091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{{9a_7_6}}</a:t>
            </a:r>
          </a:p>
        </p:txBody>
      </p:sp>
      <p:sp>
        <p:nvSpPr>
          <p:cNvPr id="462206" name="TextBox 462206"/>
          <p:cNvSpPr txBox="1"/>
          <p:nvPr/>
        </p:nvSpPr>
        <p:spPr>
          <a:xfrm>
            <a:off x="5161781" y="537091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{{9a_7_7}}</a:t>
            </a:r>
          </a:p>
        </p:txBody>
      </p:sp>
      <p:sp>
        <p:nvSpPr>
          <p:cNvPr id="161732" name="TextBox 161732"/>
          <p:cNvSpPr txBox="1"/>
          <p:nvPr/>
        </p:nvSpPr>
        <p:spPr>
          <a:xfrm>
            <a:off x="5513656" y="537091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{{9a_7_8}}</a:t>
            </a:r>
          </a:p>
        </p:txBody>
      </p:sp>
      <p:sp>
        <p:nvSpPr>
          <p:cNvPr id="760012" name="TextBox 760012"/>
          <p:cNvSpPr txBox="1"/>
          <p:nvPr/>
        </p:nvSpPr>
        <p:spPr>
          <a:xfrm>
            <a:off x="5997885" y="5370913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{{9a_7_9}}</a:t>
            </a:r>
          </a:p>
        </p:txBody>
      </p:sp>
      <p:sp>
        <p:nvSpPr>
          <p:cNvPr id="297382" name="TextBox 297382"/>
          <p:cNvSpPr txBox="1"/>
          <p:nvPr/>
        </p:nvSpPr>
        <p:spPr>
          <a:xfrm>
            <a:off x="3218988" y="5719038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{{9a_8_1}}</a:t>
            </a:r>
          </a:p>
        </p:txBody>
      </p:sp>
      <p:sp>
        <p:nvSpPr>
          <p:cNvPr id="692932" name="TextBox 692932"/>
          <p:cNvSpPr txBox="1"/>
          <p:nvPr/>
        </p:nvSpPr>
        <p:spPr>
          <a:xfrm>
            <a:off x="3522732" y="5719038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{{9a_8_2}}</a:t>
            </a:r>
          </a:p>
        </p:txBody>
      </p:sp>
      <p:sp>
        <p:nvSpPr>
          <p:cNvPr id="922382" name="TextBox 922382"/>
          <p:cNvSpPr txBox="1"/>
          <p:nvPr/>
        </p:nvSpPr>
        <p:spPr>
          <a:xfrm>
            <a:off x="3850542" y="5719038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{{9a_8_3}}</a:t>
            </a:r>
          </a:p>
        </p:txBody>
      </p:sp>
      <p:sp>
        <p:nvSpPr>
          <p:cNvPr id="929409" name="TextBox 929409"/>
          <p:cNvSpPr txBox="1"/>
          <p:nvPr/>
        </p:nvSpPr>
        <p:spPr>
          <a:xfrm>
            <a:off x="4018988" y="5719038"/>
            <a:ext cx="646538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{{9a_8_4}}</a:t>
            </a:r>
          </a:p>
        </p:txBody>
      </p:sp>
      <p:sp>
        <p:nvSpPr>
          <p:cNvPr id="589219" name="TextBox 589219"/>
          <p:cNvSpPr txBox="1"/>
          <p:nvPr/>
        </p:nvSpPr>
        <p:spPr>
          <a:xfrm>
            <a:off x="4494130" y="5719038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{{9a_8_5}}</a:t>
            </a:r>
          </a:p>
        </p:txBody>
      </p:sp>
      <p:sp>
        <p:nvSpPr>
          <p:cNvPr id="644058" name="TextBox 644058"/>
          <p:cNvSpPr txBox="1"/>
          <p:nvPr/>
        </p:nvSpPr>
        <p:spPr>
          <a:xfrm>
            <a:off x="4821946" y="5719038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{{9a_8_6}}</a:t>
            </a:r>
          </a:p>
        </p:txBody>
      </p:sp>
      <p:sp>
        <p:nvSpPr>
          <p:cNvPr id="299269" name="TextBox 299269"/>
          <p:cNvSpPr txBox="1"/>
          <p:nvPr/>
        </p:nvSpPr>
        <p:spPr>
          <a:xfrm>
            <a:off x="5161781" y="5719038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{{9a_8_7}}</a:t>
            </a:r>
          </a:p>
        </p:txBody>
      </p:sp>
      <p:sp>
        <p:nvSpPr>
          <p:cNvPr id="456432" name="TextBox 456432"/>
          <p:cNvSpPr txBox="1"/>
          <p:nvPr/>
        </p:nvSpPr>
        <p:spPr>
          <a:xfrm>
            <a:off x="5513656" y="5719038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{{9a_8_8}}</a:t>
            </a:r>
          </a:p>
        </p:txBody>
      </p:sp>
      <p:sp>
        <p:nvSpPr>
          <p:cNvPr id="534302" name="TextBox 534302"/>
          <p:cNvSpPr txBox="1"/>
          <p:nvPr/>
        </p:nvSpPr>
        <p:spPr>
          <a:xfrm>
            <a:off x="5997885" y="5719038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{{9a_8_9}}</a:t>
            </a:r>
          </a:p>
        </p:txBody>
      </p:sp>
      <p:sp>
        <p:nvSpPr>
          <p:cNvPr id="760124" name="TextBox 760124"/>
          <p:cNvSpPr txBox="1"/>
          <p:nvPr/>
        </p:nvSpPr>
        <p:spPr>
          <a:xfrm>
            <a:off x="3218988" y="6067166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{{9a_9_1}}</a:t>
            </a:r>
          </a:p>
        </p:txBody>
      </p:sp>
      <p:sp>
        <p:nvSpPr>
          <p:cNvPr id="739599" name="TextBox 739599"/>
          <p:cNvSpPr txBox="1"/>
          <p:nvPr/>
        </p:nvSpPr>
        <p:spPr>
          <a:xfrm>
            <a:off x="3522732" y="6067166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{{9a_9_2}}</a:t>
            </a:r>
          </a:p>
        </p:txBody>
      </p:sp>
      <p:sp>
        <p:nvSpPr>
          <p:cNvPr id="597693" name="TextBox 597693"/>
          <p:cNvSpPr txBox="1"/>
          <p:nvPr/>
        </p:nvSpPr>
        <p:spPr>
          <a:xfrm>
            <a:off x="3727273" y="6067166"/>
            <a:ext cx="646538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{{9a_9_3}}</a:t>
            </a:r>
          </a:p>
        </p:txBody>
      </p:sp>
      <p:sp>
        <p:nvSpPr>
          <p:cNvPr id="362021" name="TextBox 362021"/>
          <p:cNvSpPr txBox="1"/>
          <p:nvPr/>
        </p:nvSpPr>
        <p:spPr>
          <a:xfrm>
            <a:off x="4142257" y="6067166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{{9a_9_4}}</a:t>
            </a:r>
          </a:p>
        </p:txBody>
      </p:sp>
      <p:sp>
        <p:nvSpPr>
          <p:cNvPr id="439291" name="TextBox 439291"/>
          <p:cNvSpPr txBox="1"/>
          <p:nvPr/>
        </p:nvSpPr>
        <p:spPr>
          <a:xfrm>
            <a:off x="4494130" y="6067166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{{9a_9_5}}</a:t>
            </a:r>
          </a:p>
        </p:txBody>
      </p:sp>
      <p:sp>
        <p:nvSpPr>
          <p:cNvPr id="503022" name="TextBox 503022"/>
          <p:cNvSpPr txBox="1"/>
          <p:nvPr/>
        </p:nvSpPr>
        <p:spPr>
          <a:xfrm>
            <a:off x="4821946" y="6067166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{{9a_9_6}}</a:t>
            </a:r>
          </a:p>
        </p:txBody>
      </p:sp>
      <p:sp>
        <p:nvSpPr>
          <p:cNvPr id="519609" name="TextBox 519609"/>
          <p:cNvSpPr txBox="1"/>
          <p:nvPr/>
        </p:nvSpPr>
        <p:spPr>
          <a:xfrm>
            <a:off x="5161781" y="6067166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{{9a_9_7}}</a:t>
            </a:r>
          </a:p>
        </p:txBody>
      </p:sp>
      <p:sp>
        <p:nvSpPr>
          <p:cNvPr id="920795" name="TextBox 920795"/>
          <p:cNvSpPr txBox="1"/>
          <p:nvPr/>
        </p:nvSpPr>
        <p:spPr>
          <a:xfrm>
            <a:off x="5513656" y="6067166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{{9a_9_8}}</a:t>
            </a:r>
          </a:p>
        </p:txBody>
      </p:sp>
      <p:sp>
        <p:nvSpPr>
          <p:cNvPr id="283153" name="TextBox 283153"/>
          <p:cNvSpPr txBox="1"/>
          <p:nvPr/>
        </p:nvSpPr>
        <p:spPr>
          <a:xfrm>
            <a:off x="5997885" y="6067166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{{9a_9_9}}</a:t>
            </a:r>
          </a:p>
        </p:txBody>
      </p:sp>
      <p:sp>
        <p:nvSpPr>
          <p:cNvPr id="585949" name="TextBox 585949"/>
          <p:cNvSpPr txBox="1"/>
          <p:nvPr/>
        </p:nvSpPr>
        <p:spPr>
          <a:xfrm>
            <a:off x="3267116" y="6427317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{{9a_10_1}}</a:t>
            </a:r>
          </a:p>
        </p:txBody>
      </p:sp>
      <p:sp>
        <p:nvSpPr>
          <p:cNvPr id="734860" name="TextBox 734860"/>
          <p:cNvSpPr txBox="1"/>
          <p:nvPr/>
        </p:nvSpPr>
        <p:spPr>
          <a:xfrm>
            <a:off x="3570860" y="6427317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{{9a_10_2}}</a:t>
            </a:r>
          </a:p>
        </p:txBody>
      </p:sp>
      <p:sp>
        <p:nvSpPr>
          <p:cNvPr id="146684" name="TextBox 146684"/>
          <p:cNvSpPr txBox="1"/>
          <p:nvPr/>
        </p:nvSpPr>
        <p:spPr>
          <a:xfrm>
            <a:off x="3838516" y="6427317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{{9a_10_3}}</a:t>
            </a:r>
          </a:p>
        </p:txBody>
      </p:sp>
      <p:sp>
        <p:nvSpPr>
          <p:cNvPr id="156601" name="TextBox 156601"/>
          <p:cNvSpPr txBox="1"/>
          <p:nvPr/>
        </p:nvSpPr>
        <p:spPr>
          <a:xfrm>
            <a:off x="4190385" y="6427317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{{9a_10_4}}</a:t>
            </a:r>
          </a:p>
        </p:txBody>
      </p:sp>
      <p:sp>
        <p:nvSpPr>
          <p:cNvPr id="970036" name="TextBox 970036"/>
          <p:cNvSpPr txBox="1"/>
          <p:nvPr/>
        </p:nvSpPr>
        <p:spPr>
          <a:xfrm>
            <a:off x="4542258" y="6427317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{{9a_10_5}}</a:t>
            </a:r>
          </a:p>
        </p:txBody>
      </p:sp>
      <p:sp>
        <p:nvSpPr>
          <p:cNvPr id="561445" name="TextBox 561445"/>
          <p:cNvSpPr txBox="1"/>
          <p:nvPr/>
        </p:nvSpPr>
        <p:spPr>
          <a:xfrm>
            <a:off x="4870074" y="6427317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{{9a_10_6}}</a:t>
            </a:r>
          </a:p>
        </p:txBody>
      </p:sp>
      <p:sp>
        <p:nvSpPr>
          <p:cNvPr id="438869" name="TextBox 438869"/>
          <p:cNvSpPr txBox="1"/>
          <p:nvPr/>
        </p:nvSpPr>
        <p:spPr>
          <a:xfrm>
            <a:off x="5209909" y="6427317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{{9a_10_7}}</a:t>
            </a:r>
          </a:p>
        </p:txBody>
      </p:sp>
      <p:sp>
        <p:nvSpPr>
          <p:cNvPr id="239264" name="TextBox 239264"/>
          <p:cNvSpPr txBox="1"/>
          <p:nvPr/>
        </p:nvSpPr>
        <p:spPr>
          <a:xfrm>
            <a:off x="5561784" y="6427317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{{9a_10_8}}</a:t>
            </a:r>
          </a:p>
        </p:txBody>
      </p:sp>
      <p:sp>
        <p:nvSpPr>
          <p:cNvPr id="728111" name="TextBox 728111"/>
          <p:cNvSpPr txBox="1"/>
          <p:nvPr/>
        </p:nvSpPr>
        <p:spPr>
          <a:xfrm>
            <a:off x="6046013" y="6427317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{{9a_10_9}}</a:t>
            </a:r>
          </a:p>
        </p:txBody>
      </p:sp>
      <p:sp>
        <p:nvSpPr>
          <p:cNvPr id="613220" name="TextBox 613220"/>
          <p:cNvSpPr txBox="1"/>
          <p:nvPr/>
        </p:nvSpPr>
        <p:spPr>
          <a:xfrm>
            <a:off x="3230193" y="692320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{{9a_11_1}}</a:t>
            </a:r>
          </a:p>
        </p:txBody>
      </p:sp>
      <p:sp>
        <p:nvSpPr>
          <p:cNvPr id="489823" name="TextBox 489823"/>
          <p:cNvSpPr txBox="1"/>
          <p:nvPr/>
        </p:nvSpPr>
        <p:spPr>
          <a:xfrm>
            <a:off x="3533937" y="692320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{{9a_11_2}}</a:t>
            </a:r>
          </a:p>
        </p:txBody>
      </p:sp>
      <p:sp>
        <p:nvSpPr>
          <p:cNvPr id="633799" name="TextBox 633799"/>
          <p:cNvSpPr txBox="1"/>
          <p:nvPr/>
        </p:nvSpPr>
        <p:spPr>
          <a:xfrm>
            <a:off x="3738478" y="6923202"/>
            <a:ext cx="646538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{{9a_11_3}}</a:t>
            </a:r>
          </a:p>
        </p:txBody>
      </p:sp>
      <p:sp>
        <p:nvSpPr>
          <p:cNvPr id="185501" name="TextBox 185501"/>
          <p:cNvSpPr txBox="1"/>
          <p:nvPr/>
        </p:nvSpPr>
        <p:spPr>
          <a:xfrm>
            <a:off x="4153462" y="692320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{{9a_11_4}}</a:t>
            </a:r>
          </a:p>
        </p:txBody>
      </p:sp>
      <p:sp>
        <p:nvSpPr>
          <p:cNvPr id="564638" name="TextBox 564638"/>
          <p:cNvSpPr txBox="1"/>
          <p:nvPr/>
        </p:nvSpPr>
        <p:spPr>
          <a:xfrm>
            <a:off x="4505335" y="692320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{{9a_11_5}}</a:t>
            </a:r>
          </a:p>
        </p:txBody>
      </p:sp>
      <p:sp>
        <p:nvSpPr>
          <p:cNvPr id="136215" name="TextBox 136215"/>
          <p:cNvSpPr txBox="1"/>
          <p:nvPr/>
        </p:nvSpPr>
        <p:spPr>
          <a:xfrm>
            <a:off x="4833151" y="692320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{{9a_11_6}}</a:t>
            </a:r>
          </a:p>
        </p:txBody>
      </p:sp>
      <p:sp>
        <p:nvSpPr>
          <p:cNvPr id="854520" name="TextBox 854520"/>
          <p:cNvSpPr txBox="1"/>
          <p:nvPr/>
        </p:nvSpPr>
        <p:spPr>
          <a:xfrm>
            <a:off x="5172986" y="692320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{{9a_11_7}}</a:t>
            </a:r>
          </a:p>
        </p:txBody>
      </p:sp>
      <p:sp>
        <p:nvSpPr>
          <p:cNvPr id="673718" name="TextBox 673718"/>
          <p:cNvSpPr txBox="1"/>
          <p:nvPr/>
        </p:nvSpPr>
        <p:spPr>
          <a:xfrm>
            <a:off x="5524861" y="692320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{{9a_11_8}}</a:t>
            </a:r>
          </a:p>
        </p:txBody>
      </p:sp>
      <p:sp>
        <p:nvSpPr>
          <p:cNvPr id="532354" name="TextBox 532354"/>
          <p:cNvSpPr txBox="1"/>
          <p:nvPr/>
        </p:nvSpPr>
        <p:spPr>
          <a:xfrm>
            <a:off x="6009090" y="6923202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{{9a_11_9}}</a:t>
            </a:r>
          </a:p>
        </p:txBody>
      </p:sp>
      <p:sp>
        <p:nvSpPr>
          <p:cNvPr id="433051" name="TextBox 433051"/>
          <p:cNvSpPr txBox="1"/>
          <p:nvPr/>
        </p:nvSpPr>
        <p:spPr>
          <a:xfrm>
            <a:off x="3248885" y="736953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{{9a_12_1}}</a:t>
            </a:r>
          </a:p>
        </p:txBody>
      </p:sp>
      <p:sp>
        <p:nvSpPr>
          <p:cNvPr id="745090" name="TextBox 745090"/>
          <p:cNvSpPr txBox="1"/>
          <p:nvPr/>
        </p:nvSpPr>
        <p:spPr>
          <a:xfrm>
            <a:off x="3552629" y="736953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{{9a_12_2}}</a:t>
            </a:r>
          </a:p>
        </p:txBody>
      </p:sp>
      <p:sp>
        <p:nvSpPr>
          <p:cNvPr id="668030" name="TextBox 668030"/>
          <p:cNvSpPr txBox="1"/>
          <p:nvPr/>
        </p:nvSpPr>
        <p:spPr>
          <a:xfrm>
            <a:off x="3745140" y="7369530"/>
            <a:ext cx="646538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{{9a_12_3}}</a:t>
            </a:r>
          </a:p>
        </p:txBody>
      </p:sp>
      <p:sp>
        <p:nvSpPr>
          <p:cNvPr id="530251" name="TextBox 530251"/>
          <p:cNvSpPr txBox="1"/>
          <p:nvPr/>
        </p:nvSpPr>
        <p:spPr>
          <a:xfrm>
            <a:off x="4172154" y="736953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{{9a_12_4}}</a:t>
            </a:r>
          </a:p>
        </p:txBody>
      </p:sp>
      <p:sp>
        <p:nvSpPr>
          <p:cNvPr id="926561" name="TextBox 926561"/>
          <p:cNvSpPr txBox="1"/>
          <p:nvPr/>
        </p:nvSpPr>
        <p:spPr>
          <a:xfrm>
            <a:off x="4524027" y="736953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{{9a_12_5}}</a:t>
            </a:r>
          </a:p>
        </p:txBody>
      </p:sp>
      <p:sp>
        <p:nvSpPr>
          <p:cNvPr id="892195" name="TextBox 892195"/>
          <p:cNvSpPr txBox="1"/>
          <p:nvPr/>
        </p:nvSpPr>
        <p:spPr>
          <a:xfrm>
            <a:off x="4851843" y="736953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{{9a_12_6}}</a:t>
            </a:r>
          </a:p>
        </p:txBody>
      </p:sp>
      <p:sp>
        <p:nvSpPr>
          <p:cNvPr id="310884" name="TextBox 310884"/>
          <p:cNvSpPr txBox="1"/>
          <p:nvPr/>
        </p:nvSpPr>
        <p:spPr>
          <a:xfrm>
            <a:off x="5191678" y="736953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{{9a_12_7}}</a:t>
            </a:r>
          </a:p>
        </p:txBody>
      </p:sp>
      <p:sp>
        <p:nvSpPr>
          <p:cNvPr id="277509" name="TextBox 277509"/>
          <p:cNvSpPr txBox="1"/>
          <p:nvPr/>
        </p:nvSpPr>
        <p:spPr>
          <a:xfrm>
            <a:off x="5543553" y="736953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{{9a_12_8}}</a:t>
            </a:r>
          </a:p>
        </p:txBody>
      </p:sp>
      <p:sp>
        <p:nvSpPr>
          <p:cNvPr id="455566" name="TextBox 455566"/>
          <p:cNvSpPr txBox="1"/>
          <p:nvPr/>
        </p:nvSpPr>
        <p:spPr>
          <a:xfrm>
            <a:off x="6027782" y="7369530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{{9a_12_9}}</a:t>
            </a:r>
          </a:p>
        </p:txBody>
      </p:sp>
    </p:spTree>
    <p:extLst>
      <p:ext uri="{BB962C8B-B14F-4D97-AF65-F5344CB8AC3E}">
        <p14:creationId xmlns:p14="http://schemas.microsoft.com/office/powerpoint/2010/main" val="30415885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  <a:p>
            <a:r>
              <a:t>{{12p9}}</a:t>
            </a:r>
          </a:p>
          <a:p>
            <a:r>
              <a:t>{{12p10}}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21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2" name="ตาราง 2">
            <a:extLst>
              <a:ext uri="{FF2B5EF4-FFF2-40B4-BE49-F238E27FC236}">
                <a16:creationId xmlns:a16="http://schemas.microsoft.com/office/drawing/2014/main" id="{576B5AF6-912C-4BF5-A1C7-986A65B19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316637"/>
              </p:ext>
            </p:extLst>
          </p:nvPr>
        </p:nvGraphicFramePr>
        <p:xfrm>
          <a:off x="640551" y="692058"/>
          <a:ext cx="6156000" cy="4788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206911226"/>
                    </a:ext>
                  </a:extLst>
                </a:gridCol>
                <a:gridCol w="2304000">
                  <a:extLst>
                    <a:ext uri="{9D8B030D-6E8A-4147-A177-3AD203B41FA5}">
                      <a16:colId xmlns:a16="http://schemas.microsoft.com/office/drawing/2014/main" val="270480515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0909791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421731208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1574206475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576181306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917518100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2708931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677222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9188763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088987784"/>
                    </a:ext>
                  </a:extLst>
                </a:gridCol>
              </a:tblGrid>
              <a:tr h="324000">
                <a:tc gridSpan="11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9.	การตรวจสอบอุปกรณ์ประกอบต่าง ๆ ของป้าย (ต่อ)</a:t>
                      </a: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960072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ลำดับที่</a:t>
                      </a:r>
                    </a:p>
                  </a:txBody>
                  <a:tcPr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รายการ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มี</a:t>
                      </a:r>
                    </a:p>
                  </a:txBody>
                  <a:tcPr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ไม่มี</a:t>
                      </a:r>
                    </a:p>
                  </a:txBody>
                  <a:tcPr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การชำรุด</a:t>
                      </a:r>
                    </a:p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สึกหรอ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</a:t>
                      </a:r>
                    </a:p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เสียหาย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ความเห็น</a:t>
                      </a:r>
                    </a:p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ผู้ตรวจสอบ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หมายเหตุ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8623504"/>
                  </a:ext>
                </a:extLst>
              </a:tr>
              <a:tr h="50400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มี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ไม่พบ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มี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ไม่พบ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ใช้ได้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th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8983472"/>
                  </a:ext>
                </a:extLst>
              </a:tr>
              <a:tr h="0">
                <a:tc rowSpan="6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(3)</a:t>
                      </a: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ระบบอุปกรณ์ประกอบอื่น ๆ (ถ้ามี)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20316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marR="2159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09169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</a:t>
                      </a:r>
                      <a:r>
                        <a:rPr lang="th-TH" sz="1600" dirty="0" err="1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สลิง</a:t>
                      </a: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หรือสายยึด	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544172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marR="2159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09169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บันไดขึ้นลง	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34205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marR="2159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09169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ราวจับ หรือราวกันตก	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820941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marR="2159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09169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</a:t>
                      </a:r>
                      <a:r>
                        <a:rPr lang="en-US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CATWALK</a:t>
                      </a: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936648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152650" algn="l"/>
                        </a:tabLst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อื่น ๆ (โปรดระบุ)</a:t>
                      </a:r>
                      <a:r>
                        <a:rPr lang="th-TH" sz="1600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</a:t>
                      </a:r>
                    </a:p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152650" algn="l"/>
                        </a:tabLst>
                      </a:pPr>
                      <a:r>
                        <a:rPr lang="th-TH" sz="1600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51189"/>
                  </a:ext>
                </a:extLst>
              </a:tr>
              <a:tr h="0">
                <a:tc gridSpan="11"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r>
                        <a:rPr lang="th-TH" sz="16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รายละเอียดเพิ่มเติม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marL="0" indent="0" algn="l">
                        <a:tabLst>
                          <a:tab pos="358775" algn="l"/>
                          <a:tab pos="5921375" algn="l"/>
                        </a:tabLst>
                      </a:pPr>
                      <a:r>
                        <a:rPr lang="en-US" sz="1600" b="0" u="dotted" baseline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						</a:t>
                      </a:r>
                      <a:endParaRPr lang="th-TH" sz="1600" b="0" u="dotted" baseline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7154272"/>
                  </a:ext>
                </a:extLst>
              </a:tr>
            </a:tbl>
          </a:graphicData>
        </a:graphic>
      </p:graphicFrame>
      <p:sp>
        <p:nvSpPr>
          <p:cNvPr id="220000" name="TextBox 220000"/>
          <p:cNvSpPr txBox="1"/>
          <p:nvPr/>
        </p:nvSpPr>
        <p:spPr>
          <a:xfrm>
            <a:off x="3222204" y="250449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{{9b_1_1}}</a:t>
            </a:r>
          </a:p>
        </p:txBody>
      </p:sp>
      <p:sp>
        <p:nvSpPr>
          <p:cNvPr id="220001" name="TextBox 220001"/>
          <p:cNvSpPr txBox="1"/>
          <p:nvPr/>
        </p:nvSpPr>
        <p:spPr>
          <a:xfrm>
            <a:off x="3517987" y="250449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{{9b_1_2}}</a:t>
            </a:r>
          </a:p>
        </p:txBody>
      </p:sp>
      <p:sp>
        <p:nvSpPr>
          <p:cNvPr id="220002" name="TextBox 220002"/>
          <p:cNvSpPr txBox="1"/>
          <p:nvPr/>
        </p:nvSpPr>
        <p:spPr>
          <a:xfrm>
            <a:off x="3849860" y="250449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{{9b_1_3}}</a:t>
            </a:r>
          </a:p>
        </p:txBody>
      </p:sp>
      <p:sp>
        <p:nvSpPr>
          <p:cNvPr id="220003" name="TextBox 220003"/>
          <p:cNvSpPr txBox="1"/>
          <p:nvPr/>
        </p:nvSpPr>
        <p:spPr>
          <a:xfrm>
            <a:off x="4133609" y="250448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{{9b_1_4}}</a:t>
            </a:r>
          </a:p>
        </p:txBody>
      </p:sp>
      <p:sp>
        <p:nvSpPr>
          <p:cNvPr id="220004" name="TextBox 220004"/>
          <p:cNvSpPr txBox="1"/>
          <p:nvPr/>
        </p:nvSpPr>
        <p:spPr>
          <a:xfrm>
            <a:off x="4489547" y="250449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{{9b_1_5}}</a:t>
            </a:r>
          </a:p>
        </p:txBody>
      </p:sp>
      <p:sp>
        <p:nvSpPr>
          <p:cNvPr id="220005" name="TextBox 220005"/>
          <p:cNvSpPr txBox="1"/>
          <p:nvPr/>
        </p:nvSpPr>
        <p:spPr>
          <a:xfrm>
            <a:off x="4797356" y="250448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{{9b_1_6}}</a:t>
            </a:r>
          </a:p>
        </p:txBody>
      </p:sp>
      <p:sp>
        <p:nvSpPr>
          <p:cNvPr id="220006" name="TextBox 220006"/>
          <p:cNvSpPr txBox="1"/>
          <p:nvPr/>
        </p:nvSpPr>
        <p:spPr>
          <a:xfrm>
            <a:off x="5129232" y="250449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{{9b_1_7}}</a:t>
            </a:r>
          </a:p>
        </p:txBody>
      </p:sp>
      <p:sp>
        <p:nvSpPr>
          <p:cNvPr id="220007" name="TextBox 220007"/>
          <p:cNvSpPr txBox="1"/>
          <p:nvPr/>
        </p:nvSpPr>
        <p:spPr>
          <a:xfrm>
            <a:off x="5509228" y="250448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{{9b_1_8}}</a:t>
            </a:r>
          </a:p>
        </p:txBody>
      </p:sp>
      <p:sp>
        <p:nvSpPr>
          <p:cNvPr id="220008" name="TextBox 220008"/>
          <p:cNvSpPr txBox="1"/>
          <p:nvPr/>
        </p:nvSpPr>
        <p:spPr>
          <a:xfrm>
            <a:off x="6081732" y="250448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{{9b_1_9}}</a:t>
            </a:r>
          </a:p>
        </p:txBody>
      </p:sp>
      <p:sp>
        <p:nvSpPr>
          <p:cNvPr id="220009" name="TextBox 220009"/>
          <p:cNvSpPr txBox="1"/>
          <p:nvPr/>
        </p:nvSpPr>
        <p:spPr>
          <a:xfrm>
            <a:off x="3222206" y="282855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{{9b_2_1}}</a:t>
            </a:r>
          </a:p>
        </p:txBody>
      </p:sp>
      <p:sp>
        <p:nvSpPr>
          <p:cNvPr id="220010" name="TextBox 220010"/>
          <p:cNvSpPr txBox="1"/>
          <p:nvPr/>
        </p:nvSpPr>
        <p:spPr>
          <a:xfrm>
            <a:off x="3530017" y="282855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{{9b_2_2}}</a:t>
            </a:r>
          </a:p>
        </p:txBody>
      </p:sp>
      <p:sp>
        <p:nvSpPr>
          <p:cNvPr id="220011" name="TextBox 220011"/>
          <p:cNvSpPr txBox="1"/>
          <p:nvPr/>
        </p:nvSpPr>
        <p:spPr>
          <a:xfrm>
            <a:off x="3837826" y="282855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{{9b_2_3}}</a:t>
            </a:r>
          </a:p>
        </p:txBody>
      </p:sp>
      <p:sp>
        <p:nvSpPr>
          <p:cNvPr id="220012" name="TextBox 220012"/>
          <p:cNvSpPr txBox="1"/>
          <p:nvPr/>
        </p:nvSpPr>
        <p:spPr>
          <a:xfrm>
            <a:off x="4145635" y="282855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{{9b_2_4}}</a:t>
            </a:r>
          </a:p>
        </p:txBody>
      </p:sp>
      <p:sp>
        <p:nvSpPr>
          <p:cNvPr id="220013" name="TextBox 220013"/>
          <p:cNvSpPr txBox="1"/>
          <p:nvPr/>
        </p:nvSpPr>
        <p:spPr>
          <a:xfrm>
            <a:off x="4489545" y="282855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{{9b_2_5}}</a:t>
            </a:r>
          </a:p>
        </p:txBody>
      </p:sp>
      <p:sp>
        <p:nvSpPr>
          <p:cNvPr id="220014" name="TextBox 220014"/>
          <p:cNvSpPr txBox="1"/>
          <p:nvPr/>
        </p:nvSpPr>
        <p:spPr>
          <a:xfrm>
            <a:off x="4797361" y="282855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{{9b_2_6}}</a:t>
            </a:r>
          </a:p>
        </p:txBody>
      </p:sp>
      <p:sp>
        <p:nvSpPr>
          <p:cNvPr id="220015" name="TextBox 220015"/>
          <p:cNvSpPr txBox="1"/>
          <p:nvPr/>
        </p:nvSpPr>
        <p:spPr>
          <a:xfrm>
            <a:off x="5141270" y="282855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{{9b_2_7}}</a:t>
            </a:r>
          </a:p>
        </p:txBody>
      </p:sp>
      <p:sp>
        <p:nvSpPr>
          <p:cNvPr id="220016" name="TextBox 220016"/>
          <p:cNvSpPr txBox="1"/>
          <p:nvPr/>
        </p:nvSpPr>
        <p:spPr>
          <a:xfrm>
            <a:off x="5473133" y="282855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{{9b_2_8}}</a:t>
            </a:r>
          </a:p>
        </p:txBody>
      </p:sp>
      <p:sp>
        <p:nvSpPr>
          <p:cNvPr id="220017" name="TextBox 220017"/>
          <p:cNvSpPr txBox="1"/>
          <p:nvPr/>
        </p:nvSpPr>
        <p:spPr>
          <a:xfrm>
            <a:off x="6081736" y="282855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{{9b_2_9}}</a:t>
            </a:r>
          </a:p>
        </p:txBody>
      </p:sp>
      <p:sp>
        <p:nvSpPr>
          <p:cNvPr id="220018" name="TextBox 220018"/>
          <p:cNvSpPr txBox="1"/>
          <p:nvPr/>
        </p:nvSpPr>
        <p:spPr>
          <a:xfrm>
            <a:off x="3222203" y="321277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{{9b_3_1}}</a:t>
            </a:r>
          </a:p>
        </p:txBody>
      </p:sp>
      <p:sp>
        <p:nvSpPr>
          <p:cNvPr id="220019" name="TextBox 220019"/>
          <p:cNvSpPr txBox="1"/>
          <p:nvPr/>
        </p:nvSpPr>
        <p:spPr>
          <a:xfrm>
            <a:off x="3542048" y="321277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{{9b_3_2}}</a:t>
            </a:r>
          </a:p>
        </p:txBody>
      </p:sp>
      <p:sp>
        <p:nvSpPr>
          <p:cNvPr id="220020" name="TextBox 220020"/>
          <p:cNvSpPr txBox="1"/>
          <p:nvPr/>
        </p:nvSpPr>
        <p:spPr>
          <a:xfrm>
            <a:off x="3849859" y="321277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{{9b_3_3}}</a:t>
            </a:r>
          </a:p>
        </p:txBody>
      </p:sp>
      <p:sp>
        <p:nvSpPr>
          <p:cNvPr id="220021" name="TextBox 220021"/>
          <p:cNvSpPr txBox="1"/>
          <p:nvPr/>
        </p:nvSpPr>
        <p:spPr>
          <a:xfrm>
            <a:off x="4157671" y="321277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{{9b_3_4}}</a:t>
            </a:r>
          </a:p>
        </p:txBody>
      </p:sp>
      <p:sp>
        <p:nvSpPr>
          <p:cNvPr id="220022" name="TextBox 220022"/>
          <p:cNvSpPr txBox="1"/>
          <p:nvPr/>
        </p:nvSpPr>
        <p:spPr>
          <a:xfrm>
            <a:off x="4477518" y="321277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{{9b_3_5}}</a:t>
            </a:r>
          </a:p>
        </p:txBody>
      </p:sp>
      <p:sp>
        <p:nvSpPr>
          <p:cNvPr id="220023" name="TextBox 220023"/>
          <p:cNvSpPr txBox="1"/>
          <p:nvPr/>
        </p:nvSpPr>
        <p:spPr>
          <a:xfrm>
            <a:off x="4773293" y="321277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{{9b_3_6}}</a:t>
            </a:r>
          </a:p>
        </p:txBody>
      </p:sp>
      <p:sp>
        <p:nvSpPr>
          <p:cNvPr id="220024" name="TextBox 220024"/>
          <p:cNvSpPr txBox="1"/>
          <p:nvPr/>
        </p:nvSpPr>
        <p:spPr>
          <a:xfrm>
            <a:off x="5141260" y="321277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{{9b_3_7}}</a:t>
            </a:r>
          </a:p>
        </p:txBody>
      </p:sp>
      <p:sp>
        <p:nvSpPr>
          <p:cNvPr id="220025" name="TextBox 220025"/>
          <p:cNvSpPr txBox="1"/>
          <p:nvPr/>
        </p:nvSpPr>
        <p:spPr>
          <a:xfrm>
            <a:off x="5497203" y="321277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{{9b_3_8}}</a:t>
            </a:r>
          </a:p>
        </p:txBody>
      </p:sp>
      <p:sp>
        <p:nvSpPr>
          <p:cNvPr id="220026" name="TextBox 220026"/>
          <p:cNvSpPr txBox="1"/>
          <p:nvPr/>
        </p:nvSpPr>
        <p:spPr>
          <a:xfrm>
            <a:off x="6081735" y="321277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{{9b_3_9}}</a:t>
            </a:r>
          </a:p>
        </p:txBody>
      </p:sp>
      <p:sp>
        <p:nvSpPr>
          <p:cNvPr id="220027" name="TextBox 220027"/>
          <p:cNvSpPr txBox="1"/>
          <p:nvPr/>
        </p:nvSpPr>
        <p:spPr>
          <a:xfrm>
            <a:off x="3222203" y="356090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{{9b_4_1}}</a:t>
            </a:r>
          </a:p>
        </p:txBody>
      </p:sp>
      <p:sp>
        <p:nvSpPr>
          <p:cNvPr id="220028" name="TextBox 220028"/>
          <p:cNvSpPr txBox="1"/>
          <p:nvPr/>
        </p:nvSpPr>
        <p:spPr>
          <a:xfrm>
            <a:off x="3542047" y="356090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{{9b_4_2}}</a:t>
            </a:r>
          </a:p>
        </p:txBody>
      </p:sp>
      <p:sp>
        <p:nvSpPr>
          <p:cNvPr id="220029" name="TextBox 220029"/>
          <p:cNvSpPr txBox="1"/>
          <p:nvPr/>
        </p:nvSpPr>
        <p:spPr>
          <a:xfrm>
            <a:off x="3861887" y="356090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{{9b_4_3}}</a:t>
            </a:r>
          </a:p>
        </p:txBody>
      </p:sp>
      <p:sp>
        <p:nvSpPr>
          <p:cNvPr id="220030" name="TextBox 220030"/>
          <p:cNvSpPr txBox="1"/>
          <p:nvPr/>
        </p:nvSpPr>
        <p:spPr>
          <a:xfrm>
            <a:off x="4157667" y="356089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{{9b_4_4}}</a:t>
            </a:r>
          </a:p>
        </p:txBody>
      </p:sp>
      <p:sp>
        <p:nvSpPr>
          <p:cNvPr id="220031" name="TextBox 220031"/>
          <p:cNvSpPr txBox="1"/>
          <p:nvPr/>
        </p:nvSpPr>
        <p:spPr>
          <a:xfrm>
            <a:off x="4501575" y="356090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{{9b_4_5}}</a:t>
            </a:r>
          </a:p>
        </p:txBody>
      </p:sp>
      <p:sp>
        <p:nvSpPr>
          <p:cNvPr id="220032" name="TextBox 220032"/>
          <p:cNvSpPr txBox="1"/>
          <p:nvPr/>
        </p:nvSpPr>
        <p:spPr>
          <a:xfrm>
            <a:off x="4809389" y="356090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{{9b_4_6}}</a:t>
            </a:r>
          </a:p>
        </p:txBody>
      </p:sp>
      <p:sp>
        <p:nvSpPr>
          <p:cNvPr id="220033" name="TextBox 220033"/>
          <p:cNvSpPr txBox="1"/>
          <p:nvPr/>
        </p:nvSpPr>
        <p:spPr>
          <a:xfrm>
            <a:off x="5153291" y="356090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{{9b_4_7}}</a:t>
            </a:r>
          </a:p>
        </p:txBody>
      </p:sp>
      <p:sp>
        <p:nvSpPr>
          <p:cNvPr id="220034" name="TextBox 220034"/>
          <p:cNvSpPr txBox="1"/>
          <p:nvPr/>
        </p:nvSpPr>
        <p:spPr>
          <a:xfrm>
            <a:off x="5509229" y="356090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{{9b_4_8}}</a:t>
            </a:r>
          </a:p>
        </p:txBody>
      </p:sp>
      <p:sp>
        <p:nvSpPr>
          <p:cNvPr id="220035" name="TextBox 220035"/>
          <p:cNvSpPr txBox="1"/>
          <p:nvPr/>
        </p:nvSpPr>
        <p:spPr>
          <a:xfrm>
            <a:off x="6069710" y="356090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{{9b_4_9}}</a:t>
            </a:r>
          </a:p>
        </p:txBody>
      </p:sp>
      <p:sp>
        <p:nvSpPr>
          <p:cNvPr id="220036" name="TextBox 220036"/>
          <p:cNvSpPr txBox="1"/>
          <p:nvPr/>
        </p:nvSpPr>
        <p:spPr>
          <a:xfrm>
            <a:off x="3222203" y="390902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{{9b_5_1}}</a:t>
            </a:r>
          </a:p>
        </p:txBody>
      </p:sp>
      <p:sp>
        <p:nvSpPr>
          <p:cNvPr id="220037" name="TextBox 220037"/>
          <p:cNvSpPr txBox="1"/>
          <p:nvPr/>
        </p:nvSpPr>
        <p:spPr>
          <a:xfrm>
            <a:off x="3517980" y="390903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{{9b_5_2}}</a:t>
            </a:r>
          </a:p>
        </p:txBody>
      </p:sp>
      <p:sp>
        <p:nvSpPr>
          <p:cNvPr id="220038" name="TextBox 220038"/>
          <p:cNvSpPr txBox="1"/>
          <p:nvPr/>
        </p:nvSpPr>
        <p:spPr>
          <a:xfrm>
            <a:off x="3837819" y="390902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{{9b_5_3}}</a:t>
            </a:r>
          </a:p>
        </p:txBody>
      </p:sp>
      <p:sp>
        <p:nvSpPr>
          <p:cNvPr id="220039" name="TextBox 220039"/>
          <p:cNvSpPr txBox="1"/>
          <p:nvPr/>
        </p:nvSpPr>
        <p:spPr>
          <a:xfrm>
            <a:off x="4157660" y="390902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{{9b_5_4}}</a:t>
            </a:r>
          </a:p>
        </p:txBody>
      </p:sp>
      <p:sp>
        <p:nvSpPr>
          <p:cNvPr id="220040" name="TextBox 220040"/>
          <p:cNvSpPr txBox="1"/>
          <p:nvPr/>
        </p:nvSpPr>
        <p:spPr>
          <a:xfrm>
            <a:off x="4465477" y="390902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{{9b_5_5}}</a:t>
            </a:r>
          </a:p>
        </p:txBody>
      </p:sp>
      <p:sp>
        <p:nvSpPr>
          <p:cNvPr id="220041" name="TextBox 220041"/>
          <p:cNvSpPr txBox="1"/>
          <p:nvPr/>
        </p:nvSpPr>
        <p:spPr>
          <a:xfrm>
            <a:off x="4785313" y="389699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{{9b_5_6}}</a:t>
            </a:r>
          </a:p>
        </p:txBody>
      </p:sp>
      <p:sp>
        <p:nvSpPr>
          <p:cNvPr id="220042" name="TextBox 220042"/>
          <p:cNvSpPr txBox="1"/>
          <p:nvPr/>
        </p:nvSpPr>
        <p:spPr>
          <a:xfrm>
            <a:off x="5129217" y="388496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{{9b_5_7}}</a:t>
            </a:r>
          </a:p>
        </p:txBody>
      </p:sp>
      <p:sp>
        <p:nvSpPr>
          <p:cNvPr id="220043" name="TextBox 220043"/>
          <p:cNvSpPr txBox="1"/>
          <p:nvPr/>
        </p:nvSpPr>
        <p:spPr>
          <a:xfrm>
            <a:off x="5473129" y="387293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{{9b_5_8}}</a:t>
            </a:r>
          </a:p>
        </p:txBody>
      </p:sp>
      <p:sp>
        <p:nvSpPr>
          <p:cNvPr id="220044" name="TextBox 220044"/>
          <p:cNvSpPr txBox="1"/>
          <p:nvPr/>
        </p:nvSpPr>
        <p:spPr>
          <a:xfrm>
            <a:off x="6069695" y="387293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{{9b_5_9}}</a:t>
            </a:r>
          </a:p>
        </p:txBody>
      </p:sp>
      <p:sp>
        <p:nvSpPr>
          <p:cNvPr id="220045" name="TextBox 220045"/>
          <p:cNvSpPr txBox="1"/>
          <p:nvPr/>
        </p:nvSpPr>
        <p:spPr>
          <a:xfrm>
            <a:off x="3222203" y="601327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{{9b_6_1}}</a:t>
            </a:r>
          </a:p>
        </p:txBody>
      </p:sp>
      <p:sp>
        <p:nvSpPr>
          <p:cNvPr id="220046" name="TextBox 220046"/>
          <p:cNvSpPr txBox="1"/>
          <p:nvPr/>
        </p:nvSpPr>
        <p:spPr>
          <a:xfrm>
            <a:off x="3517978" y="601166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{{9b_6_2}}</a:t>
            </a:r>
          </a:p>
        </p:txBody>
      </p:sp>
      <p:sp>
        <p:nvSpPr>
          <p:cNvPr id="220047" name="TextBox 220047"/>
          <p:cNvSpPr txBox="1"/>
          <p:nvPr/>
        </p:nvSpPr>
        <p:spPr>
          <a:xfrm>
            <a:off x="3849853" y="601327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{{9b_6_3}}</a:t>
            </a:r>
          </a:p>
        </p:txBody>
      </p:sp>
      <p:sp>
        <p:nvSpPr>
          <p:cNvPr id="220048" name="TextBox 220048"/>
          <p:cNvSpPr txBox="1"/>
          <p:nvPr/>
        </p:nvSpPr>
        <p:spPr>
          <a:xfrm>
            <a:off x="4147383" y="601166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{{9b_6_4}}</a:t>
            </a:r>
          </a:p>
        </p:txBody>
      </p:sp>
      <p:sp>
        <p:nvSpPr>
          <p:cNvPr id="220049" name="TextBox 220049"/>
          <p:cNvSpPr txBox="1"/>
          <p:nvPr/>
        </p:nvSpPr>
        <p:spPr>
          <a:xfrm>
            <a:off x="4489549" y="601327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{{9b_6_5}}</a:t>
            </a:r>
          </a:p>
        </p:txBody>
      </p:sp>
      <p:sp>
        <p:nvSpPr>
          <p:cNvPr id="220050" name="TextBox 220050"/>
          <p:cNvSpPr txBox="1"/>
          <p:nvPr/>
        </p:nvSpPr>
        <p:spPr>
          <a:xfrm>
            <a:off x="4797351" y="601327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{{9b_6_6}}</a:t>
            </a:r>
          </a:p>
        </p:txBody>
      </p:sp>
      <p:sp>
        <p:nvSpPr>
          <p:cNvPr id="220051" name="TextBox 220051"/>
          <p:cNvSpPr txBox="1"/>
          <p:nvPr/>
        </p:nvSpPr>
        <p:spPr>
          <a:xfrm>
            <a:off x="5117216" y="601327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{{9b_6_7}}</a:t>
            </a:r>
          </a:p>
        </p:txBody>
      </p:sp>
      <p:sp>
        <p:nvSpPr>
          <p:cNvPr id="220052" name="TextBox 220052"/>
          <p:cNvSpPr txBox="1"/>
          <p:nvPr/>
        </p:nvSpPr>
        <p:spPr>
          <a:xfrm>
            <a:off x="5497203" y="601332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{{9b_6_8}}</a:t>
            </a:r>
          </a:p>
        </p:txBody>
      </p:sp>
      <p:sp>
        <p:nvSpPr>
          <p:cNvPr id="220053" name="TextBox 220053"/>
          <p:cNvSpPr txBox="1"/>
          <p:nvPr/>
        </p:nvSpPr>
        <p:spPr>
          <a:xfrm>
            <a:off x="6043924" y="601166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{{9b_6_9}}</a:t>
            </a:r>
          </a:p>
        </p:txBody>
      </p:sp>
    </p:spTree>
    <p:extLst>
      <p:ext uri="{BB962C8B-B14F-4D97-AF65-F5344CB8AC3E}">
        <p14:creationId xmlns:p14="http://schemas.microsoft.com/office/powerpoint/2010/main" val="22633921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thaiDist">
              <a:tabLst>
                <a:tab pos="895350" algn="l"/>
              </a:tabLst>
              <a:defRPr/>
            </a:pPr>
            <a:r>
              <a:rPr lang="th-TH" sz="24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4 สรุปผลการตรวจสอบป้าย</a:t>
            </a: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22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11" name="ตาราง 11">
            <a:extLst>
              <a:ext uri="{FF2B5EF4-FFF2-40B4-BE49-F238E27FC236}">
                <a16:creationId xmlns:a16="http://schemas.microsoft.com/office/drawing/2014/main" id="{3968D8D4-E7B8-4271-A11F-229A07788E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83860"/>
              </p:ext>
            </p:extLst>
          </p:nvPr>
        </p:nvGraphicFramePr>
        <p:xfrm>
          <a:off x="640551" y="1214119"/>
          <a:ext cx="6120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4118328633"/>
                    </a:ext>
                  </a:extLst>
                </a:gridCol>
                <a:gridCol w="2448000">
                  <a:extLst>
                    <a:ext uri="{9D8B030D-6E8A-4147-A177-3AD203B41FA5}">
                      <a16:colId xmlns:a16="http://schemas.microsoft.com/office/drawing/2014/main" val="244113793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435379438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536815533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1262119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56294001"/>
                    </a:ext>
                  </a:extLst>
                </a:gridCol>
              </a:tblGrid>
              <a:tr h="370840">
                <a:tc gridSpan="6">
                  <a:txBody>
                    <a:bodyPr/>
                    <a:lstStyle/>
                    <a:p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สรุปผลการตรวจสอบป้ายหรือสิ่งที่สร้างขึ้นสำหรับติดหรือตั้งป้าย และอุปกรณ์ประกอบของป้าย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1236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ลำดับ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รายการตรวจสอบ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ใช้ได้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มีการแก้ไขแล้ว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หมายเหตุ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327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MS Mincho" panose="02020609040205080304" pitchFamily="49" charset="-128"/>
                          <a:cs typeface="Angsana New" panose="02020603050405020304" pitchFamily="18" charset="-34"/>
                        </a:rPr>
                        <a:t> 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MS Mincho" panose="02020609040205080304" pitchFamily="49" charset="-128"/>
                          <a:cs typeface="Angsana New" panose="02020603050405020304" pitchFamily="18" charset="-34"/>
                        </a:rPr>
                        <a:t> 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7167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แผ่นป้าย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MS Mincho" panose="02020609040205080304" pitchFamily="49" charset="-128"/>
                          <a:cs typeface="Angsana New" panose="02020603050405020304" pitchFamily="18" charset="-34"/>
                        </a:rPr>
                        <a:t> 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MS Mincho" panose="02020609040205080304" pitchFamily="49" charset="-128"/>
                          <a:cs typeface="Angsana New" panose="02020603050405020304" pitchFamily="18" charset="-34"/>
                        </a:rPr>
                        <a:t> 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351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ระบบไฟฟ้าแสงสว่างและระบบไฟฟ้ากำลัง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1561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ระบบป้องกันฟ้าผ่า (ถ้ามี)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rgbClr val="FF0000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</a:t>
                      </a: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7763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ระบบอุปกรณ์ประกอบอื่นๆ (ถ้ามี)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3909989"/>
                  </a:ext>
                </a:extLst>
              </a:tr>
            </a:tbl>
          </a:graphicData>
        </a:graphic>
      </p:graphicFrame>
      <p:sp>
        <p:nvSpPr>
          <p:cNvPr id="230000" name="TextBox 230000"/>
          <p:cNvSpPr txBox="1"/>
          <p:nvPr/>
        </p:nvSpPr>
        <p:spPr>
          <a:xfrm>
            <a:off x="3599650" y="1993084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{{4sum_1_1}}</a:t>
            </a:r>
          </a:p>
        </p:txBody>
      </p:sp>
      <p:sp>
        <p:nvSpPr>
          <p:cNvPr id="230001" name="TextBox 230001"/>
          <p:cNvSpPr txBox="1"/>
          <p:nvPr/>
        </p:nvSpPr>
        <p:spPr>
          <a:xfrm>
            <a:off x="4174076" y="2003509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{{4sum_1_2}}</a:t>
            </a:r>
          </a:p>
        </p:txBody>
      </p:sp>
      <p:sp>
        <p:nvSpPr>
          <p:cNvPr id="230002" name="TextBox 230002"/>
          <p:cNvSpPr txBox="1"/>
          <p:nvPr/>
        </p:nvSpPr>
        <p:spPr>
          <a:xfrm>
            <a:off x="4902919" y="1991952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{{4sum_1_3}}</a:t>
            </a:r>
          </a:p>
        </p:txBody>
      </p:sp>
      <p:sp>
        <p:nvSpPr>
          <p:cNvPr id="230003" name="TextBox 230003"/>
          <p:cNvSpPr txBox="1"/>
          <p:nvPr/>
        </p:nvSpPr>
        <p:spPr>
          <a:xfrm>
            <a:off x="3599650" y="237383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{{4sum_2_1}}</a:t>
            </a:r>
          </a:p>
        </p:txBody>
      </p:sp>
      <p:sp>
        <p:nvSpPr>
          <p:cNvPr id="230004" name="TextBox 230004"/>
          <p:cNvSpPr txBox="1"/>
          <p:nvPr/>
        </p:nvSpPr>
        <p:spPr>
          <a:xfrm>
            <a:off x="4163470" y="2367576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{{4sum_2_2}}</a:t>
            </a:r>
          </a:p>
        </p:txBody>
      </p:sp>
      <p:sp>
        <p:nvSpPr>
          <p:cNvPr id="230005" name="TextBox 230005"/>
          <p:cNvSpPr txBox="1"/>
          <p:nvPr/>
        </p:nvSpPr>
        <p:spPr>
          <a:xfrm>
            <a:off x="4888222" y="2367576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{{4sum_2_3}}</a:t>
            </a:r>
          </a:p>
        </p:txBody>
      </p:sp>
      <p:sp>
        <p:nvSpPr>
          <p:cNvPr id="230006" name="TextBox 230006"/>
          <p:cNvSpPr txBox="1"/>
          <p:nvPr/>
        </p:nvSpPr>
        <p:spPr>
          <a:xfrm>
            <a:off x="3586513" y="2727223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{{4sum_3_1}}</a:t>
            </a:r>
          </a:p>
        </p:txBody>
      </p:sp>
      <p:sp>
        <p:nvSpPr>
          <p:cNvPr id="230007" name="TextBox 230007"/>
          <p:cNvSpPr txBox="1"/>
          <p:nvPr/>
        </p:nvSpPr>
        <p:spPr>
          <a:xfrm>
            <a:off x="4173100" y="2730616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{{4sum_3_2}}</a:t>
            </a:r>
          </a:p>
        </p:txBody>
      </p:sp>
      <p:sp>
        <p:nvSpPr>
          <p:cNvPr id="230008" name="TextBox 230008"/>
          <p:cNvSpPr txBox="1"/>
          <p:nvPr/>
        </p:nvSpPr>
        <p:spPr>
          <a:xfrm>
            <a:off x="4902919" y="2735881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{{4sum_3_3}}</a:t>
            </a:r>
          </a:p>
        </p:txBody>
      </p:sp>
      <p:sp>
        <p:nvSpPr>
          <p:cNvPr id="230009" name="TextBox 230009"/>
          <p:cNvSpPr txBox="1"/>
          <p:nvPr/>
        </p:nvSpPr>
        <p:spPr>
          <a:xfrm>
            <a:off x="3590551" y="307383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{{4sum_4_1}}</a:t>
            </a:r>
          </a:p>
        </p:txBody>
      </p:sp>
      <p:sp>
        <p:nvSpPr>
          <p:cNvPr id="230010" name="TextBox 230010"/>
          <p:cNvSpPr txBox="1"/>
          <p:nvPr/>
        </p:nvSpPr>
        <p:spPr>
          <a:xfrm>
            <a:off x="4161369" y="307383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{{4sum_4_2}}</a:t>
            </a:r>
          </a:p>
        </p:txBody>
      </p:sp>
      <p:sp>
        <p:nvSpPr>
          <p:cNvPr id="230011" name="TextBox 230011"/>
          <p:cNvSpPr txBox="1"/>
          <p:nvPr/>
        </p:nvSpPr>
        <p:spPr>
          <a:xfrm>
            <a:off x="4904827" y="306785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{{4sum_4_3}}</a:t>
            </a:r>
          </a:p>
        </p:txBody>
      </p:sp>
      <p:sp>
        <p:nvSpPr>
          <p:cNvPr id="230012" name="TextBox 230012"/>
          <p:cNvSpPr txBox="1"/>
          <p:nvPr/>
        </p:nvSpPr>
        <p:spPr>
          <a:xfrm>
            <a:off x="3577326" y="3478083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{{4sum_5_1}}</a:t>
            </a:r>
          </a:p>
        </p:txBody>
      </p:sp>
      <p:sp>
        <p:nvSpPr>
          <p:cNvPr id="230013" name="TextBox 230013"/>
          <p:cNvSpPr txBox="1"/>
          <p:nvPr/>
        </p:nvSpPr>
        <p:spPr>
          <a:xfrm>
            <a:off x="4182762" y="3478083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{{4sum_5_2}}</a:t>
            </a:r>
          </a:p>
        </p:txBody>
      </p:sp>
      <p:sp>
        <p:nvSpPr>
          <p:cNvPr id="230014" name="TextBox 230014"/>
          <p:cNvSpPr txBox="1"/>
          <p:nvPr/>
        </p:nvSpPr>
        <p:spPr>
          <a:xfrm>
            <a:off x="4902919" y="3481073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{{4sum_5_3}}</a:t>
            </a:r>
          </a:p>
        </p:txBody>
      </p:sp>
    </p:spTree>
    <p:extLst>
      <p:ext uri="{BB962C8B-B14F-4D97-AF65-F5344CB8AC3E}">
        <p14:creationId xmlns:p14="http://schemas.microsoft.com/office/powerpoint/2010/main" val="11472939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sz="1600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sz="1600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sz="16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23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3" name="ตาราง 9">
            <a:extLst>
              <a:ext uri="{FF2B5EF4-FFF2-40B4-BE49-F238E27FC236}">
                <a16:creationId xmlns:a16="http://schemas.microsoft.com/office/drawing/2014/main" id="{693DF894-7631-483E-990F-AA548EDC7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5179888"/>
              </p:ext>
            </p:extLst>
          </p:nvPr>
        </p:nvGraphicFramePr>
        <p:xfrm>
          <a:off x="557998" y="546654"/>
          <a:ext cx="6300002" cy="697992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417362">
                  <a:extLst>
                    <a:ext uri="{9D8B030D-6E8A-4147-A177-3AD203B41FA5}">
                      <a16:colId xmlns:a16="http://schemas.microsoft.com/office/drawing/2014/main" val="596843257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3263229312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4060675385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000" b="1" u="sng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600" b="1" u="sng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สรุปความเห็นผู้ตรวจสอบ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600" b="1" u="sng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7336522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000" b="1" u="sng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000" b="1" u="sng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3767312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indent="358775" algn="thaiDist">
                        <a:defRPr/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ตามที่บริษัท โปรไฟ</a:t>
                      </a:r>
                      <a:r>
                        <a:rPr lang="th-TH" sz="1600" dirty="0" err="1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ร์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อิน</a:t>
                      </a:r>
                      <a:r>
                        <a:rPr lang="th-TH" sz="1600" dirty="0" err="1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สเปคเต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อร์ จำกัด ได้ทำการตรวจสอบป้ายของ </a:t>
                      </a:r>
                      <a:r>
                        <a:rPr lang="th-TH" sz="1600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ชื่อโครงการที่ตรวจ {{report.signTitle}}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ป้าย</a:t>
                      </a:r>
                      <a:r>
                        <a:rPr lang="th-TH" sz="1600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ตามด้วยชื่อป้าย(ถ้ามี)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ตามหลักเกณฑ์การตรวจสอบแล้วเห็นว่า โครงสร้างป้ายมีความแข็งแรง อยู่ในสภาพปลอดภัยในการใช้งาน</a:t>
                      </a:r>
                    </a:p>
                    <a:p>
                      <a:pPr indent="358775" algn="thaiDist">
                        <a:defRPr/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ข้าพเจ้าในฐานะผู้ตรวจสอบป้ายขอรับรองว่าได้ทำการตรวจสอบสภาพป้ายดังกล่าว โดยผลการตรวจสอบป้ายและอุปกรณ์ประกอบของป้ายถูกต้อง และเป็นจริงตามที่ได้ระบุไว้ในรายงานฉบับนี้ รวมทั้งยังได้ให้เจ้าของป้าย ผู้ครอบครอง หรือผู้ดูแลป้าย ได้รับทราบผลการตรวจสอบสภาพป้ายและอุปกรณ์ประกอบของป้ายตามรายงานข้างต้นอย่างครบถ้วนแล้ว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R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indent="358775">
                        <a:defRPr/>
                      </a:pP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0978446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indent="358775">
                        <a:defRPr/>
                      </a:pPr>
                      <a:endParaRPr lang="th-TH" sz="10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0120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th-TH" sz="16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ลงชื่อ</a:t>
                      </a:r>
                    </a:p>
                  </a:txBody>
                  <a:tcPr marL="0" marR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2781300" algn="l"/>
                        </a:tabLst>
                      </a:pPr>
                      <a:r>
                        <a:rPr lang="th-TH" sz="1600" u="dotted" baseline="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6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ผู้ตรวจสอบ</a:t>
                      </a:r>
                    </a:p>
                  </a:txBody>
                  <a:tcPr marL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903042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(                                                 )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5370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วันที่                                                                       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2700438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endParaRPr lang="th-TH" sz="10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 sz="10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831866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r>
                        <a:rPr lang="th-TH" sz="1600" b="1" u="sng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เลขทะเบียนผู้ตรวจสอบ</a:t>
                      </a: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ผู้ตรวจสอบประเภทนิติบุคคล ทะเบียนเลขที่ น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.0</a:t>
                      </a: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022/2550 จาก กรมโยธา</a:t>
                      </a:r>
                      <a:r>
                        <a:rPr lang="th-TH" sz="1600" b="1" kern="1200" dirty="0" err="1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ธิ</a:t>
                      </a: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การและผังเมืองกระทรวงมหาดไทย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โดยนาม บริษัท โปรไฟ</a:t>
                      </a:r>
                      <a:r>
                        <a:rPr lang="th-TH" sz="1600" b="1" kern="1200" dirty="0" err="1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ร์</a:t>
                      </a: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อิน</a:t>
                      </a:r>
                      <a:r>
                        <a:rPr lang="th-TH" sz="1600" b="1" kern="1200" dirty="0" err="1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สเปคเต</a:t>
                      </a: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อร์ จำกัด 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เลขที่ 112 ซอยรามคำแหง 112 แขวงสะพานสูง เขตสะพานสูง กรุงเทพมหานคร 10240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 </a:t>
                      </a:r>
                    </a:p>
                    <a:p>
                      <a:pPr algn="thaiDist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ข้าพเจ้าในฐานะเจ้าของป้าย ผู้ครอบครองป้าย หรือผู้ดูแลป้าย ขอรับรองว่าได้มีการตรวจสอบป้ายตามรายงานดังกล่าวข้างต้นจริง โดยการตรวจสอบป้ายนั้นกระทำโดยผู้ตรวจสอบป้ายซึ่งได้รับใบอนุญาตจากกรมโยธา</a:t>
                      </a:r>
                      <a:r>
                        <a:rPr lang="th-TH" sz="1600" kern="1200" dirty="0" err="1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ธิ</a:t>
                      </a: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การและผังเมือง ข้าพเจ้าได้อ่านและเข้าใจในรายงานดังกล่าวครบถ้วนแล้ว จึงลงลายมือชื่อไว้เป็นสำคัญ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R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3560010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endParaRPr lang="en-US" sz="10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1481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th-TH" sz="16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ลงชื่อ</a:t>
                      </a:r>
                    </a:p>
                  </a:txBody>
                  <a:tcPr marL="0" marR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2781300" algn="l"/>
                        </a:tabLst>
                      </a:pPr>
                      <a:r>
                        <a:rPr lang="th-TH" sz="1600" u="dotted" baseline="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เจ้าของป้ายหรือสิ่งที่สร้างขึ้นสำหรับติดหรือตั้งป้าย/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64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th-TH" sz="160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                                                          )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ผู้ครอบครองป้าย หรือผู้รับมอบอำนาจ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4911176"/>
                  </a:ext>
                </a:extLst>
              </a:tr>
            </a:tbl>
          </a:graphicData>
        </a:graphic>
      </p:graphicFrame>
      <p:sp>
        <p:nvSpPr>
          <p:cNvPr id="12" name="สี่เหลี่ยมผืนผ้า: มุมมน 11">
            <a:extLst>
              <a:ext uri="{FF2B5EF4-FFF2-40B4-BE49-F238E27FC236}">
                <a16:creationId xmlns:a16="http://schemas.microsoft.com/office/drawing/2014/main" id="{71A0989E-7596-4AAD-866D-3470A7C80D0A}"/>
              </a:ext>
            </a:extLst>
          </p:cNvPr>
          <p:cNvSpPr/>
          <p:nvPr/>
        </p:nvSpPr>
        <p:spPr>
          <a:xfrm>
            <a:off x="2726736" y="7749459"/>
            <a:ext cx="1926529" cy="829601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Minor</a:t>
            </a:r>
            <a:endParaRPr lang="th-TH" sz="3600" b="1" dirty="0">
              <a:solidFill>
                <a:schemeClr val="tx1">
                  <a:lumMod val="95000"/>
                  <a:lumOff val="5000"/>
                </a:schemeClr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5789686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sz="1600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sz="1600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sz="16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24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3" name="ตาราง 9">
            <a:extLst>
              <a:ext uri="{FF2B5EF4-FFF2-40B4-BE49-F238E27FC236}">
                <a16:creationId xmlns:a16="http://schemas.microsoft.com/office/drawing/2014/main" id="{693DF894-7631-483E-990F-AA548EDC7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3882476"/>
              </p:ext>
            </p:extLst>
          </p:nvPr>
        </p:nvGraphicFramePr>
        <p:xfrm>
          <a:off x="557998" y="546654"/>
          <a:ext cx="6300002" cy="771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362">
                  <a:extLst>
                    <a:ext uri="{9D8B030D-6E8A-4147-A177-3AD203B41FA5}">
                      <a16:colId xmlns:a16="http://schemas.microsoft.com/office/drawing/2014/main" val="596843257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3263229312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4060675385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000" b="1" u="sng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600" b="1" u="sng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สรุปความเห็นผู้ตรวจสอบ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600" b="1" u="sng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7336522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000" b="1" u="sng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000" b="1" u="sng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3767312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indent="358775" algn="thaiDist">
                        <a:defRPr/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ตามที่บริษัท โปรไฟ</a:t>
                      </a:r>
                      <a:r>
                        <a:rPr lang="th-TH" sz="1600" dirty="0" err="1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ร์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อิน</a:t>
                      </a:r>
                      <a:r>
                        <a:rPr lang="th-TH" sz="1600" dirty="0" err="1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สเปคเต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อร์ จำกัด ได้ทำการตรวจสอบป้ายของ </a:t>
                      </a:r>
                      <a:r>
                        <a:rPr lang="th-TH" sz="1600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ชื่อโครงการที่ตรวจ {{report.signTitle}}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ป้าย</a:t>
                      </a:r>
                      <a:r>
                        <a:rPr lang="th-TH" sz="1600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ตามด้วยชื่อป้าย(ถ้ามี)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ตามหลักเกณฑ์การตรวจสอบแล้วเห็นว่า ควรดำเนินการแก้ไขในเรื่อง </a:t>
                      </a:r>
                      <a:r>
                        <a:rPr lang="th-TH" sz="1600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เรื่องที่เป็นปัญหา 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Major</a:t>
                      </a:r>
                      <a:endParaRPr lang="th-TH" sz="1600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indent="358775" algn="thaiDist">
                        <a:defRPr/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ข้าพเจ้าในฐานะผู้ตรวจสอบป้ายขอรับรองว่าได้ทำการตรวจสอบสภาพป้ายดังกล่าว โดยผลการตรวจสอบป้ายและอุปกรณ์ประกอบของป้ายถูกต้อง และเป็นจริงตามที่ได้ระบุไว้ในรายงานฉบับนี้ รวมทั้งยังได้ให้เจ้าของป้าย ผู้ครอบครอง หรือผู้ดูแลป้าย ได้รับทราบผลการตรวจสอบสภาพป้ายและอุปกรณ์ประกอบของป้ายตามรายงานข้างต้นอย่างครบถ้วนแล้ว และในการนี้บุคคลผู้รับผิดชอบป้ายดังกล่าวได้ทำแผนงานประกอบการปรับปรุงแก้ไขป้ายและอุปกรณ์ประกอบของป้ายตามคำแนะนำของผู้ตรวจสอบป้ายแนบมาพร้อมกับรายงานฉบับนี้ด้วย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R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indent="358775">
                        <a:defRPr/>
                      </a:pP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0978446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indent="358775">
                        <a:defRPr/>
                      </a:pPr>
                      <a:endParaRPr lang="th-TH" sz="10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0120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th-TH" sz="16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ลงชื่อ</a:t>
                      </a:r>
                    </a:p>
                  </a:txBody>
                  <a:tcPr marL="0" marR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2781300" algn="l"/>
                        </a:tabLst>
                      </a:pPr>
                      <a:r>
                        <a:rPr lang="th-TH" sz="1600" u="dotted" baseline="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6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ผู้ตรวจสอบ</a:t>
                      </a:r>
                    </a:p>
                  </a:txBody>
                  <a:tcPr marL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903042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                                                  )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5370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วันที่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</a:t>
                      </a:r>
                      <a:r>
                        <a:rPr lang="en-US" sz="1600" b="1" kern="1200" dirty="0">
                          <a:solidFill>
                            <a:srgbClr val="FF0000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XX XXXXX XXXX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2700438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endParaRPr lang="th-TH" sz="10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 sz="10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831866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r>
                        <a:rPr lang="th-TH" sz="1600" b="1" u="sng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เลขทะเบียนผู้ตรวจสอบ</a:t>
                      </a: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ผู้ตรวจสอบประเภทนิติบุคคล ทะเบียนเลขที่ น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.0</a:t>
                      </a: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022/2550 จาก กรมโยธา</a:t>
                      </a:r>
                      <a:r>
                        <a:rPr lang="th-TH" sz="1600" b="1" kern="1200" dirty="0" err="1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ธิ</a:t>
                      </a: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การและผังเมืองกระทรวงมหาดไทย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โดยนาม บริษัท โปรไฟ</a:t>
                      </a:r>
                      <a:r>
                        <a:rPr lang="th-TH" sz="1600" b="1" kern="1200" dirty="0" err="1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ร์</a:t>
                      </a: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อิน</a:t>
                      </a:r>
                      <a:r>
                        <a:rPr lang="th-TH" sz="1600" b="1" kern="1200" dirty="0" err="1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สเปคเต</a:t>
                      </a: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อร์ จำกัด 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เลขที่ 112 ซอยรามคำแหง 112 แขวงสะพานสูง เขตสะพานสูง กรุงเทพมหานคร 10240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 </a:t>
                      </a:r>
                    </a:p>
                    <a:p>
                      <a:pPr algn="thaiDist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ข้าพเจ้าในฐานะเจ้าของป้าย ผู้ครอบครองป้าย หรือผู้ดูแลป้าย ขอรับรองว่าได้มีการตรวจสอบป้ายตามรายงานดังกล่าวข้างต้นจริง โดยการตรวจสอบป้ายนั้นกระทำโดยผู้ตรวจสอบป้ายซึ่งได้รับใบอนุญาตจากกรมโยธา</a:t>
                      </a:r>
                      <a:r>
                        <a:rPr lang="th-TH" sz="1600" kern="1200" dirty="0" err="1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ธิ</a:t>
                      </a: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การและผังเมือง รวมทั้งข้าพเจ้ายังได้รับทราบข้อเสนอแนะและแนวทางในการปรับปรุงแก้ไขตามคำแนะนำของผู้ตรวจสอบป้ายอีกด้วย พร้อมกันนี้ยังได้จัดทำแผนในการปรับปรุงแก้ไขมาพร้อมกับรายงานการตรวจสอบป้ายในครั้งนี้ด้วย ข้าพเจ้าได้อ่านและเข้าใจในรายงานดังกล่าวครบถ้วนแล้ว จึงลงลายมือชื่อไว้เป็นสำคัญ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R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3560010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endParaRPr lang="en-US" sz="10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1481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th-TH" sz="16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ลงชื่อ</a:t>
                      </a:r>
                    </a:p>
                  </a:txBody>
                  <a:tcPr marL="0" marR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2781300" algn="l"/>
                        </a:tabLst>
                      </a:pPr>
                      <a:r>
                        <a:rPr lang="th-TH" sz="1600" u="dotted" baseline="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เจ้าของป้ายหรือสิ่งที่สร้างขึ้นสำหรับติดหรือตั้งป้าย/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64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th-TH" sz="160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                                                                      )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ผู้ครอบครองป้าย หรือผู้รับมอบอำนาจ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4911176"/>
                  </a:ext>
                </a:extLst>
              </a:tr>
            </a:tbl>
          </a:graphicData>
        </a:graphic>
      </p:graphicFrame>
      <p:sp>
        <p:nvSpPr>
          <p:cNvPr id="10" name="สี่เหลี่ยมผืนผ้า: มุมมน 9">
            <a:extLst>
              <a:ext uri="{FF2B5EF4-FFF2-40B4-BE49-F238E27FC236}">
                <a16:creationId xmlns:a16="http://schemas.microsoft.com/office/drawing/2014/main" id="{51A69101-B0A2-4BAA-A6BA-33846B97F515}"/>
              </a:ext>
            </a:extLst>
          </p:cNvPr>
          <p:cNvSpPr/>
          <p:nvPr/>
        </p:nvSpPr>
        <p:spPr>
          <a:xfrm>
            <a:off x="2574336" y="8382641"/>
            <a:ext cx="1926529" cy="82960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Major</a:t>
            </a:r>
            <a:endParaRPr lang="th-TH" sz="3600" b="1" dirty="0">
              <a:solidFill>
                <a:schemeClr val="tx1">
                  <a:lumMod val="95000"/>
                  <a:lumOff val="5000"/>
                </a:schemeClr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6839251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ตาราง 15">
            <a:extLst>
              <a:ext uri="{FF2B5EF4-FFF2-40B4-BE49-F238E27FC236}">
                <a16:creationId xmlns:a16="http://schemas.microsoft.com/office/drawing/2014/main" id="{C9EE0813-86F3-453A-B22B-312011618D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0563213"/>
              </p:ext>
            </p:extLst>
          </p:nvPr>
        </p:nvGraphicFramePr>
        <p:xfrm>
          <a:off x="557999" y="1449738"/>
          <a:ext cx="6310260" cy="594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10260">
                  <a:extLst>
                    <a:ext uri="{9D8B030D-6E8A-4147-A177-3AD203B41FA5}">
                      <a16:colId xmlns:a16="http://schemas.microsoft.com/office/drawing/2014/main" val="35658547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/>
                      <a:r>
                        <a:rPr lang="th-TH" sz="3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แผนปฏิบัติการการตรวจบำรุงรักษาป้าย</a:t>
                      </a:r>
                      <a:endParaRPr lang="en-US" sz="3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/>
                      <a:r>
                        <a:rPr lang="th-TH" sz="3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และอุปกรณ์ประกอบของป้าย</a:t>
                      </a:r>
                      <a:endParaRPr lang="en-US" sz="3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/>
                      <a:r>
                        <a:rPr lang="th-TH" sz="3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และคู่มือปฏิบัติการตามแผน</a:t>
                      </a:r>
                    </a:p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5626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h-TH" sz="20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/>
                      <a:r>
                        <a:rPr lang="th-TH" sz="30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สำหรับเจ้าของป้าย หรือผู้ดูแลป้าย</a:t>
                      </a:r>
                    </a:p>
                    <a:p>
                      <a:pPr algn="ctr"/>
                      <a:endParaRPr lang="en-US" sz="30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/>
                      <a:r>
                        <a:rPr lang="th-TH" sz="30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ป้ายโฆษณา</a:t>
                      </a:r>
                      <a:r>
                        <a:rPr lang="th-TH" sz="3000" b="1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บนส่วนหนึ่งส่วนใดของอาคาร</a:t>
                      </a:r>
                      <a:endParaRPr lang="en-US" sz="3000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/>
                      <a:r>
                        <a:rPr lang="th-TH" sz="30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ป้าย </a:t>
                      </a:r>
                      <a:r>
                        <a:rPr lang="en-US" sz="3000" b="1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Banner 1</a:t>
                      </a:r>
                      <a:endParaRPr lang="en-US" sz="3000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/>
                      <a:r>
                        <a:rPr lang="th-TH" sz="3000" b="1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ศูนย์การค้าเซ็นทรัล </a:t>
                      </a:r>
                      <a:r>
                        <a:rPr lang="th-TH" sz="3000" b="1" dirty="0" err="1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เฟส</a:t>
                      </a:r>
                      <a:r>
                        <a:rPr lang="th-TH" sz="3000" b="1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ติว</a:t>
                      </a:r>
                      <a:r>
                        <a:rPr lang="th-TH" sz="3000" b="1" dirty="0" err="1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ัล</a:t>
                      </a:r>
                      <a:r>
                        <a:rPr lang="th-TH" sz="3000" b="1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หาดใหญ่</a:t>
                      </a:r>
                      <a:endParaRPr lang="en-US" sz="3000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/>
                      <a:r>
                        <a:rPr lang="en-US" sz="3000" b="1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1518, 1518/1-2, 1520 </a:t>
                      </a:r>
                      <a:r>
                        <a:rPr lang="th-TH" sz="3000" b="1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ถ.กาญจนวณิช ต.หาดใหญ่ อ.หาดใหญ่</a:t>
                      </a:r>
                      <a:endParaRPr lang="en-US" sz="3000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/>
                      <a:r>
                        <a:rPr lang="th-TH" sz="3000" b="1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จ.สงขลา </a:t>
                      </a:r>
                      <a:r>
                        <a:rPr lang="en-US" sz="3000" b="1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90110</a:t>
                      </a:r>
                      <a:endParaRPr lang="th-TH" sz="30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3643916"/>
                  </a:ext>
                </a:extLst>
              </a:tr>
            </a:tbl>
          </a:graphicData>
        </a:graphic>
      </p:graphicFrame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2CB95B00-3785-45FC-B2FB-B0AE367D32DC}"/>
              </a:ext>
            </a:extLst>
          </p:cNvPr>
          <p:cNvSpPr/>
          <p:nvPr/>
        </p:nvSpPr>
        <p:spPr>
          <a:xfrm>
            <a:off x="558001" y="7452"/>
            <a:ext cx="6264000" cy="540168"/>
          </a:xfrm>
          <a:prstGeom prst="roundRect">
            <a:avLst/>
          </a:prstGeom>
          <a:noFill/>
          <a:ln cmpd="thickThin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Pro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fire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Inspector Co., Ltd.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  <a:p>
            <a:r>
              <a:t>{{12p11}}</a:t>
            </a:r>
          </a:p>
          <a:p>
            <a:r>
              <a:t>{{12p12}}</a:t>
            </a:r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B60B6D37-3BF5-461F-B861-1DA9D7AB4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r="5723"/>
          <a:stretch/>
        </p:blipFill>
        <p:spPr>
          <a:xfrm>
            <a:off x="640551" y="25536"/>
            <a:ext cx="318995" cy="504000"/>
          </a:xfrm>
          <a:prstGeom prst="roundRect">
            <a:avLst>
              <a:gd name="adj" fmla="val 6831"/>
            </a:avLst>
          </a:prstGeom>
          <a:ln>
            <a:noFill/>
          </a:ln>
          <a:effectLst/>
        </p:spPr>
      </p:pic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1</a:t>
            </a:r>
          </a:p>
        </p:txBody>
      </p: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62B959BF-7EF4-40E9-9FE4-C35024EDEBC0}"/>
              </a:ext>
            </a:extLst>
          </p:cNvPr>
          <p:cNvCxnSpPr>
            <a:cxnSpLocks/>
          </p:cNvCxnSpPr>
          <p:nvPr/>
        </p:nvCxnSpPr>
        <p:spPr>
          <a:xfrm flipH="1">
            <a:off x="558001" y="548997"/>
            <a:ext cx="6264000" cy="0"/>
          </a:xfrm>
          <a:prstGeom prst="line">
            <a:avLst/>
          </a:prstGeom>
          <a:ln w="41275" cmpd="thickThin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ตัวเชื่อมต่อตรง 22">
            <a:extLst>
              <a:ext uri="{FF2B5EF4-FFF2-40B4-BE49-F238E27FC236}">
                <a16:creationId xmlns:a16="http://schemas.microsoft.com/office/drawing/2014/main" id="{52198961-507F-4793-B45D-FC07B1CDDBCD}"/>
              </a:ext>
            </a:extLst>
          </p:cNvPr>
          <p:cNvCxnSpPr>
            <a:cxnSpLocks/>
          </p:cNvCxnSpPr>
          <p:nvPr/>
        </p:nvCxnSpPr>
        <p:spPr>
          <a:xfrm flipH="1">
            <a:off x="558001" y="9365832"/>
            <a:ext cx="6264000" cy="0"/>
          </a:xfrm>
          <a:prstGeom prst="line">
            <a:avLst/>
          </a:prstGeom>
          <a:ln w="41275" cmpd="thinThick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55739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2B609419-2213-4427-9349-3036B089663E}"/>
              </a:ext>
            </a:extLst>
          </p:cNvPr>
          <p:cNvSpPr txBox="1"/>
          <p:nvPr/>
        </p:nvSpPr>
        <p:spPr>
          <a:xfrm>
            <a:off x="557998" y="1121884"/>
            <a:ext cx="6300001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358775" algn="thaiDist">
              <a:tabLst>
                <a:tab pos="625475" algn="l"/>
              </a:tabLst>
            </a:pPr>
            <a:endParaRPr lang="th-TH" sz="10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62547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1.1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	</a:t>
            </a: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ในแผนปฏิบัติการการตรวจบำรุงรักษาป้ายและอุปกรณ์ประกอบของป้าย และคู่มือปฏิบัติการตาม   แผนนี้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en-US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“</a:t>
            </a: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ป้าย</a:t>
            </a:r>
            <a:r>
              <a:rPr lang="en-US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”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ใน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ที่นี้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ให้หมายความรวมถึง แผ่นป้ายและสิ่งที่สร้างขึ้นสำหรับติดหรือตั้งป้าย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การตรวจสอบป้าย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หมายถึง การตรวจสอบสภาพของป้ายด้านความมั่นคงแข็งแรง และตรวจสอบระบบอุปกรณ์ประกอบต่าง ๆ ของป้ายโดยผู้ตรวจสอบอาคาร ตามมาตรา 32 ทวิ แห่งพระราชบัญญัติควบคุมอาคาร     พ.ศ. 2522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การตรวจบำรุงรักษาป้ายและอุปกรณ์ประกอบของป้าย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หมายถึง การบำรุงรักษาป้าย และระบบอุปกรณ์ประกอบต่าง ๆ ของป้าย โดยเจ้าของป้าย หรือผู้ดูแลป้าย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ผู้ตรวจสอบอาคาร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หมายถึง ผู้ซึ่งได้รับใบอนุญาตประกอบวิชาชีพ วิศวกรรมควบคุม หรือผู้ซึ่งได้รับใบอนุญาตประกอบวิชาชีพสถาปัตยกรรมควบคุม ตามกฎหมายว่าด้วยการนั้น แล้วแต่กรณี ซึ่งได้ขึ้นทะเบียนเป็นผู้ตรวจสอบอาคารตามพระราชบัญญัติควบคุมอาคาร พ.ศ.2522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เจ้าของป้าย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หมายถึง ผู้ที่มีสิทธิ์เป็นเจ้าของป้าย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ผู้ดูแลป้าย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หมายถึง เจ้าของป้ายหรือ ผู้ที่ที่ได้รับมอบหมายจากเจ้าของป้ายให้มีหน้าที่ตรวจสอบการบำรุงรักษาป้าย และระบบอุปกรณ์ประกอบต่าง ๆ ของป้าย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แผนการตรวจสอบป้าย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หมายถึง แผนการตรวจสอบสภาพป้าย และอุปกรณ์ประกอบต่าง ๆ ของป้ายสำหรับ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thaiDist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ผู้ตรวจสอบอาคาร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แผนปฏิบัติการการตรวจบำรุงรักษาป้ายและอุปกรณ์ประกอบของป้าย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หมายถึง แผนปฏิบัติการการตรวจ บำรุงรักษาป้ายและอุปกรณ์ประกอบต่าง ๆ ของป้ายที่ผู้ตรวจสอบอาคารกำหนดให้กับเจ้าของป้ายหรือผู้ดูแลป้าย 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แบบแปลนป้าย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หมายถึง แบบแปลนของป้ายที่ต้องตรวจสอบ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62547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1.2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	</a:t>
            </a: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เจ้าของป้าย หรือผู้ดูแลป้าย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มีหน้าที่ตรวจสอบการบำรุงรักษาป้าย และระบบอุปกรณ์ประกอบต่าง ๆ ของป้าย ตามที่ผู้ตรวจสอบอาคารได้กำหนดไว้ และจัดให้มีการทดสอบการทำงานของระบบ และ ในระหว่างปี แล้วรายงานผลการตรวจสอบต่อเจ้าพนักงานท้องถิ่น ตามหลักเกณฑ์ วิธีการ และเงื่อนไข ที่กำหนดในกฎกระทรวงเกี่ยวกับการตรวจสอบอาคาร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62547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1.3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	ผู้ตรวจสอบอาคาร กำหนดแผนการตรวจสอบสภาพป้ายและอุปกรณ์ประกอบต่าง ๆ ของป้ายไว้ ตามแผนการตรวจสอบป้ายประจำปี ให้เจ้าของป้ายและหรือผู้ดูแลป้ายใช้เป็นแนวทางการปฏิบัติ ผู้ตรวจสอบอาคารสามารถแก้ไขเปลี่ยนแปลงแผนการตรวจสอบนี้ได้ตามความเหมาะสม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62547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1.4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	เจ้าของป้าย หรือผู้ดูแลป้ายจะต้องดำเนินการตรวจสอบบำรุงรักษาป้ายและระบบอุปกรณ์ประกอบ    ต่าง ๆ ของป้ายให้เป็นไป</a:t>
            </a: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ตามแผนปฏิบัติการการตรวจบำรุงรักษาป้ายและอุปกรณ์ประกอบของป้าย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และคู่มือปฏิบัติการตามแผน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ฉบับนี้ รวมทั้ง ตามคู่มือปฏิบัติของผู้ผลิตหรือผู้ติดตั้งระบบและ อุปกรณ์ของป้ายและต้องจัดให้มีการบันทึกข้อมูลการตรวจบำรุงรักษาป้ายตามช่วงระยะเวลาที่ได้กำหนดไว้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  <a:p>
            <a:r>
              <a:t>{{structImg1}}</a:t>
            </a:r>
          </a:p>
        </p:txBody>
      </p:sp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2CB95B00-3785-45FC-B2FB-B0AE367D32DC}"/>
              </a:ext>
            </a:extLst>
          </p:cNvPr>
          <p:cNvSpPr/>
          <p:nvPr/>
        </p:nvSpPr>
        <p:spPr>
          <a:xfrm>
            <a:off x="558001" y="7452"/>
            <a:ext cx="6264000" cy="540168"/>
          </a:xfrm>
          <a:prstGeom prst="roundRect">
            <a:avLst/>
          </a:prstGeom>
          <a:noFill/>
          <a:ln cmpd="thickThin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Pro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fire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Inspector Co., Ltd.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B60B6D37-3BF5-461F-B861-1DA9D7AB4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r="5723"/>
          <a:stretch/>
        </p:blipFill>
        <p:spPr>
          <a:xfrm>
            <a:off x="640551" y="25536"/>
            <a:ext cx="318995" cy="504000"/>
          </a:xfrm>
          <a:prstGeom prst="roundRect">
            <a:avLst>
              <a:gd name="adj" fmla="val 6831"/>
            </a:avLst>
          </a:prstGeom>
          <a:ln>
            <a:noFill/>
          </a:ln>
          <a:effectLst/>
        </p:spPr>
      </p:pic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2</a:t>
            </a:r>
          </a:p>
        </p:txBody>
      </p: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62B959BF-7EF4-40E9-9FE4-C35024EDEBC0}"/>
              </a:ext>
            </a:extLst>
          </p:cNvPr>
          <p:cNvCxnSpPr>
            <a:cxnSpLocks/>
          </p:cNvCxnSpPr>
          <p:nvPr/>
        </p:nvCxnSpPr>
        <p:spPr>
          <a:xfrm flipH="1">
            <a:off x="558001" y="548997"/>
            <a:ext cx="6264000" cy="0"/>
          </a:xfrm>
          <a:prstGeom prst="line">
            <a:avLst/>
          </a:prstGeom>
          <a:ln w="41275" cmpd="thickThin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ตัวเชื่อมต่อตรง 22">
            <a:extLst>
              <a:ext uri="{FF2B5EF4-FFF2-40B4-BE49-F238E27FC236}">
                <a16:creationId xmlns:a16="http://schemas.microsoft.com/office/drawing/2014/main" id="{52198961-507F-4793-B45D-FC07B1CDDBCD}"/>
              </a:ext>
            </a:extLst>
          </p:cNvPr>
          <p:cNvCxnSpPr>
            <a:cxnSpLocks/>
          </p:cNvCxnSpPr>
          <p:nvPr/>
        </p:nvCxnSpPr>
        <p:spPr>
          <a:xfrm flipH="1">
            <a:off x="558001" y="9413457"/>
            <a:ext cx="6264000" cy="0"/>
          </a:xfrm>
          <a:prstGeom prst="line">
            <a:avLst/>
          </a:prstGeom>
          <a:ln w="41275" cmpd="thinThick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357CDA8F-4D85-43B1-A53F-BEC5CFE8FDE8}"/>
              </a:ext>
            </a:extLst>
          </p:cNvPr>
          <p:cNvSpPr/>
          <p:nvPr/>
        </p:nvSpPr>
        <p:spPr>
          <a:xfrm>
            <a:off x="558000" y="565704"/>
            <a:ext cx="6300000" cy="8780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D7911DDF-72D0-4215-ABBF-1E79FA071889}"/>
              </a:ext>
            </a:extLst>
          </p:cNvPr>
          <p:cNvSpPr txBox="1"/>
          <p:nvPr/>
        </p:nvSpPr>
        <p:spPr>
          <a:xfrm>
            <a:off x="558000" y="711200"/>
            <a:ext cx="6300000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h-TH" sz="2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1 ขอบเขตของการตรวจบำรุงรักษาป้าย และอุปกรณ์ประกอบของป้าย</a:t>
            </a:r>
            <a:endParaRPr lang="th-TH" sz="10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4455204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2B609419-2213-4427-9349-3036B089663E}"/>
              </a:ext>
            </a:extLst>
          </p:cNvPr>
          <p:cNvSpPr txBox="1"/>
          <p:nvPr/>
        </p:nvSpPr>
        <p:spPr>
          <a:xfrm>
            <a:off x="557998" y="1121884"/>
            <a:ext cx="630000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358775" algn="thaiDist">
              <a:tabLst>
                <a:tab pos="625475" algn="l"/>
              </a:tabLst>
            </a:pPr>
            <a:endParaRPr lang="th-TH" sz="10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ผู้ตรวจสอบอาคาร 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กำหนดแผนปฏิบัติการการตรวจบำรุงรักษาป้ายและอุปกรณ์ประกอบของป้ายดังนี้</a:t>
            </a: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2.1	ให้เจ้าของป้าย หรือผู้ดูแลป้ายที่ได้รับมอบหมายจากเจ้าของป้ายมีหน้าที่ตรวจสอบการบำรุงรักษาป้ายและอุปกรณ์ประกอบต่าง ๆ ของป้าย จัดให้มีการทดสอบการทำงานของระบบและอุปกรณ์ในระหว่างปีตามที่ผู้ตรวจสอบอาคารกำหนด หรือตามคู่มือของผู้ผลิตหรือผู้ติดตั้งระบบอุปกรณ์ประกอบของป้าย</a:t>
            </a: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2.2	เจ้าของหรือผู้ดูแลป้ายต้องตรวจบำรุงรักษาป้ายอย่างสม่ำเสมอตาม</a:t>
            </a: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แผนปฏิบัติการการตรวจบำรุงรักษาป้ายและอุปกรณ์ประกอบของป้าย และคู่มือปฏิบัติการตามแผน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ที่ผู้ตรวจสอบอาคาร ได้จัดทำไว้ และบันทึกข้อมูลการตรวจบำรุงรักษาตามระยะเวลาที่ผู้ตรวจสอบอาคารกำหนด</a:t>
            </a: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2.3	ในการดำเนินการตรวจสอบบำรุงรักษาให้ตรวจตามรายการต่าง ๆ ตามแบบรายละเอียดการตรวจที่ผู้ตรวจสอบอาคารจัดทำไว้</a:t>
            </a: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2.4	ช่วงเวลา และความถี่ของการตรวจบำรุงรักษา ฯ การทดสอบการทำงานของระบบและอุปกรณ์ให้เป็นไปตามแผนการตรวจสอบที่ผู้ตรวจสอบอาคารกำหนด</a:t>
            </a: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2.5	ให้เจ้าของป้าย หรือผู้ดูแลป้ายจะต้องจัดเตรียมแบบแปลนป้ายเพื่อการตรวจสอบ และมีผลการตรวจบำรุงรักษาป้ายและอุปกรณ์ประกอบต่าง ๆ ของป้ายไว้ให้ผู้ตรวจสอบป้ายสามารถใช้ประกอบ การตรวจสอบป้าย ได้ตลอดเวลาตามที่ผู้ตรวจสอบได้กำหนดไว้ตามแผน การตรวจสอบป้าย</a:t>
            </a:r>
          </a:p>
        </p:txBody>
      </p:sp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2CB95B00-3785-45FC-B2FB-B0AE367D32DC}"/>
              </a:ext>
            </a:extLst>
          </p:cNvPr>
          <p:cNvSpPr/>
          <p:nvPr/>
        </p:nvSpPr>
        <p:spPr>
          <a:xfrm>
            <a:off x="558001" y="7452"/>
            <a:ext cx="6264000" cy="540168"/>
          </a:xfrm>
          <a:prstGeom prst="roundRect">
            <a:avLst/>
          </a:prstGeom>
          <a:noFill/>
          <a:ln cmpd="thickThin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Pro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fire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Inspector Co., Ltd.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B60B6D37-3BF5-461F-B861-1DA9D7AB4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r="5723"/>
          <a:stretch/>
        </p:blipFill>
        <p:spPr>
          <a:xfrm>
            <a:off x="640551" y="25536"/>
            <a:ext cx="318995" cy="504000"/>
          </a:xfrm>
          <a:prstGeom prst="roundRect">
            <a:avLst>
              <a:gd name="adj" fmla="val 6831"/>
            </a:avLst>
          </a:prstGeom>
          <a:ln>
            <a:noFill/>
          </a:ln>
          <a:effectLst/>
        </p:spPr>
      </p:pic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3</a:t>
            </a:r>
          </a:p>
        </p:txBody>
      </p: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62B959BF-7EF4-40E9-9FE4-C35024EDEBC0}"/>
              </a:ext>
            </a:extLst>
          </p:cNvPr>
          <p:cNvCxnSpPr>
            <a:cxnSpLocks/>
          </p:cNvCxnSpPr>
          <p:nvPr/>
        </p:nvCxnSpPr>
        <p:spPr>
          <a:xfrm flipH="1">
            <a:off x="558001" y="548997"/>
            <a:ext cx="6264000" cy="0"/>
          </a:xfrm>
          <a:prstGeom prst="line">
            <a:avLst/>
          </a:prstGeom>
          <a:ln w="41275" cmpd="thickThin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ตัวเชื่อมต่อตรง 22">
            <a:extLst>
              <a:ext uri="{FF2B5EF4-FFF2-40B4-BE49-F238E27FC236}">
                <a16:creationId xmlns:a16="http://schemas.microsoft.com/office/drawing/2014/main" id="{52198961-507F-4793-B45D-FC07B1CDDBCD}"/>
              </a:ext>
            </a:extLst>
          </p:cNvPr>
          <p:cNvCxnSpPr>
            <a:cxnSpLocks/>
          </p:cNvCxnSpPr>
          <p:nvPr/>
        </p:nvCxnSpPr>
        <p:spPr>
          <a:xfrm flipH="1">
            <a:off x="558001" y="9413457"/>
            <a:ext cx="6264000" cy="0"/>
          </a:xfrm>
          <a:prstGeom prst="line">
            <a:avLst/>
          </a:prstGeom>
          <a:ln w="41275" cmpd="thinThick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357CDA8F-4D85-43B1-A53F-BEC5CFE8FDE8}"/>
              </a:ext>
            </a:extLst>
          </p:cNvPr>
          <p:cNvSpPr/>
          <p:nvPr/>
        </p:nvSpPr>
        <p:spPr>
          <a:xfrm>
            <a:off x="558000" y="565704"/>
            <a:ext cx="6300000" cy="8780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D7911DDF-72D0-4215-ABBF-1E79FA071889}"/>
              </a:ext>
            </a:extLst>
          </p:cNvPr>
          <p:cNvSpPr txBox="1"/>
          <p:nvPr/>
        </p:nvSpPr>
        <p:spPr>
          <a:xfrm>
            <a:off x="558000" y="711200"/>
            <a:ext cx="6300000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h-TH" sz="2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2 แผนปฏิบัติการการตรวจบำรุงรักษาป้ายและอุปกรณ์ประกอบของป้าย</a:t>
            </a:r>
          </a:p>
        </p:txBody>
      </p:sp>
    </p:spTree>
    <p:extLst>
      <p:ext uri="{BB962C8B-B14F-4D97-AF65-F5344CB8AC3E}">
        <p14:creationId xmlns:p14="http://schemas.microsoft.com/office/powerpoint/2010/main" val="25875483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2B609419-2213-4427-9349-3036B089663E}"/>
              </a:ext>
            </a:extLst>
          </p:cNvPr>
          <p:cNvSpPr txBox="1"/>
          <p:nvPr/>
        </p:nvSpPr>
        <p:spPr>
          <a:xfrm>
            <a:off x="557998" y="1121884"/>
            <a:ext cx="6300001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358775" algn="thaiDist">
              <a:tabLst>
                <a:tab pos="625475" algn="l"/>
              </a:tabLst>
            </a:pPr>
            <a:endParaRPr lang="th-TH" sz="10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เจ้าของป้าย หรือผู้ดูแลป้าย 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ต้องทำการตรวจบำรุงรักษาป้าย หรืออุปกรณ์ประกอบต่าง ๆ ของป้าย ในเรื่องดังต่อไปนี้</a:t>
            </a: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(1)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	การตรวจสอบบำรุงรักษาตัวป้ายด้านความมั่นคงแข็งแรงของป้าย หรือสิ่งที่สร้างขึ้นสำหรับติดตั้งป้ายอย่างน้อยต้องทำการตรวจสอบ ดังต่อไปนี้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(ก)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การต่อเติม ดัดแปลง ปรับปรุงขนาดของป้ายหรือสิ่งที่สร้างขึ้นสำหรับติดหรือตั้งป้าย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(ข)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การเปลี่ยนแปลงน้ำหนักของแผ่นป้าย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(ค)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การเปลี่ยนสภาพการใช้งานของป้ายหรือสิ่งที่สร้างขึ้นสำหรับติดหรือตั้งป้าย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(ง)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การเปลี่ยนแปลงวัสดุของป้ายหรือสิ่งที่สร้างขึ้นสำหรับติดหรือตั้งป้าย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(จ)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การชำรุดสึกหรอของป้ายหรือสิ่งที่สร้างขึ้นสำหรับติดหรือตั้งป้าย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(ฉ)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การวิบัติของป้ายหรือสิ่งที่สร้างขึ้นสำหรับติดหรือตั้งป้าย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(ช)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ความมั่นคงแข็งแรงของโครงสร้างและฐานรากของสิ่งที่สร้างขึ้นสำหรับติดหรือตั้งป้าย</a:t>
            </a:r>
          </a:p>
          <a:p>
            <a:pPr marL="358775" lvl="1" algn="thaiDist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(กรณีป้ายที่ติดตั้งบนพื้นดิน)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(ซ)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ความมั่นคงแข็งแรงของอาคารที่ติดตั้งป้าย (กรณีป้ายบนหลังคา หรือบนดาดฟ้าอาคาร หรือบนส่วนหนึ่งส่วนใดของอาคาร)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(ฌ)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การเชื่อมยึดระหว่างแผ่นป้ายกับสิ่งที่สร้างขึ้นสำหรับติดหรือตั้งป้าย การเชื่อมยึดระหว่างชิ้นส่วนต่าง ๆ ของสิ่งที่สร้างขึ้นสำหรับติดหรือตั้งป้าย และการเชื่อมยึดระหว่างสิ่งที่สร้างขึ้นสำหรับติดหรือตั้งป้ายกับฐานรากหรืออาคาร</a:t>
            </a: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(2)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การตรวจบำรุงรักษาระบบและอุปกรณ์ประกอบของป้ายอย่างน้อยต้องตรวจสอบ ดังต่อไปนี้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(ก)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ระบบไฟฟ้าแสงสว่างและระบบไฟฟ้ากำลัง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(ข)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ระบบป้องกันฟ้าผ่า (ถ้ามี)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(ค)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ระบบและอุปกรณ์ประกอบอื่น ๆ (ถ้ามี)</a:t>
            </a:r>
          </a:p>
          <a:p>
            <a:pPr marL="711200" lvl="1" indent="358775" algn="thaiDist">
              <a:tabLst>
                <a:tab pos="1349375" algn="l"/>
              </a:tabLst>
            </a:pPr>
            <a:endParaRPr lang="th-TH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  <a:p>
            <a:r>
              <a:t>{{structImg3}}</a:t>
            </a:r>
          </a:p>
        </p:txBody>
      </p:sp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2CB95B00-3785-45FC-B2FB-B0AE367D32DC}"/>
              </a:ext>
            </a:extLst>
          </p:cNvPr>
          <p:cNvSpPr/>
          <p:nvPr/>
        </p:nvSpPr>
        <p:spPr>
          <a:xfrm>
            <a:off x="558001" y="7452"/>
            <a:ext cx="6264000" cy="540168"/>
          </a:xfrm>
          <a:prstGeom prst="roundRect">
            <a:avLst/>
          </a:prstGeom>
          <a:noFill/>
          <a:ln cmpd="thickThin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Pro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fire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Inspector Co., Ltd.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B60B6D37-3BF5-461F-B861-1DA9D7AB4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r="5723"/>
          <a:stretch/>
        </p:blipFill>
        <p:spPr>
          <a:xfrm>
            <a:off x="640551" y="25536"/>
            <a:ext cx="318995" cy="504000"/>
          </a:xfrm>
          <a:prstGeom prst="roundRect">
            <a:avLst>
              <a:gd name="adj" fmla="val 6831"/>
            </a:avLst>
          </a:prstGeom>
          <a:ln>
            <a:noFill/>
          </a:ln>
          <a:effectLst/>
        </p:spPr>
      </p:pic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4</a:t>
            </a:r>
          </a:p>
        </p:txBody>
      </p: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62B959BF-7EF4-40E9-9FE4-C35024EDEBC0}"/>
              </a:ext>
            </a:extLst>
          </p:cNvPr>
          <p:cNvCxnSpPr>
            <a:cxnSpLocks/>
          </p:cNvCxnSpPr>
          <p:nvPr/>
        </p:nvCxnSpPr>
        <p:spPr>
          <a:xfrm flipH="1">
            <a:off x="558001" y="548997"/>
            <a:ext cx="6264000" cy="0"/>
          </a:xfrm>
          <a:prstGeom prst="line">
            <a:avLst/>
          </a:prstGeom>
          <a:ln w="41275" cmpd="thickThin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ตัวเชื่อมต่อตรง 22">
            <a:extLst>
              <a:ext uri="{FF2B5EF4-FFF2-40B4-BE49-F238E27FC236}">
                <a16:creationId xmlns:a16="http://schemas.microsoft.com/office/drawing/2014/main" id="{52198961-507F-4793-B45D-FC07B1CDDBCD}"/>
              </a:ext>
            </a:extLst>
          </p:cNvPr>
          <p:cNvCxnSpPr>
            <a:cxnSpLocks/>
          </p:cNvCxnSpPr>
          <p:nvPr/>
        </p:nvCxnSpPr>
        <p:spPr>
          <a:xfrm flipH="1">
            <a:off x="558001" y="9413457"/>
            <a:ext cx="6264000" cy="0"/>
          </a:xfrm>
          <a:prstGeom prst="line">
            <a:avLst/>
          </a:prstGeom>
          <a:ln w="41275" cmpd="thinThick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357CDA8F-4D85-43B1-A53F-BEC5CFE8FDE8}"/>
              </a:ext>
            </a:extLst>
          </p:cNvPr>
          <p:cNvSpPr/>
          <p:nvPr/>
        </p:nvSpPr>
        <p:spPr>
          <a:xfrm>
            <a:off x="558000" y="565704"/>
            <a:ext cx="6300000" cy="8780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D7911DDF-72D0-4215-ABBF-1E79FA071889}"/>
              </a:ext>
            </a:extLst>
          </p:cNvPr>
          <p:cNvSpPr txBox="1"/>
          <p:nvPr/>
        </p:nvSpPr>
        <p:spPr>
          <a:xfrm>
            <a:off x="558000" y="711200"/>
            <a:ext cx="6300000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h-TH" sz="2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3 รายละเอียดที่ต้องตรวจบำรุงรักษาป้าย และอุปกรณ์ประกอบของป้าย</a:t>
            </a:r>
          </a:p>
        </p:txBody>
      </p:sp>
    </p:spTree>
    <p:extLst>
      <p:ext uri="{BB962C8B-B14F-4D97-AF65-F5344CB8AC3E}">
        <p14:creationId xmlns:p14="http://schemas.microsoft.com/office/powerpoint/2010/main" val="1340866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2B609419-2213-4427-9349-3036B089663E}"/>
              </a:ext>
            </a:extLst>
          </p:cNvPr>
          <p:cNvSpPr txBox="1"/>
          <p:nvPr/>
        </p:nvSpPr>
        <p:spPr>
          <a:xfrm>
            <a:off x="557998" y="1121884"/>
            <a:ext cx="630000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358775" algn="thaiDist">
              <a:tabLst>
                <a:tab pos="625475" algn="l"/>
              </a:tabLst>
            </a:pPr>
            <a:endParaRPr lang="th-TH" sz="10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ตรวจสอบอาคาร 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กำหนดแนวทางการตรวจบำรุงรักษาป้าย และอุปกรณ์ประกอบของป้ายประจำปีให้ แก่เจ้าของป้าย เพื่อเป็นแนวทางการตรวจบำรุงรักษาและการบันทึกข้อมูลการตรวจบำรุงรักษาป้าย ดังนี้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541338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1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เจ้าของป้ายต้องจัดหา หรือจัดทำแบบแปลนป้ายเพื่อใช้สำหรับการตรวจสอบจัดเก็บไว้ เพื่อให้ผู้ตรวจสอบ สามารถใช้ประกอบการตรวจสอบได้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541338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2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เจ้าของป้ายต้องจัดให้มีการตรวจบำรุงรักษาป้าย และอุปกรณ์ประกอบของป้ายตามคู่มือปฏิบัติของผู้ผลิต หรือผู้ติดตั้งระบบและอุปกรณ์ของป้าย และตามแผนปฏิบัติการการตรวจบำรุงรักษาฉบับนี้และจัดให้มี การบันทึกข้อมูลการตรวจบำรุงรักษาป้ายตามช่วงระยะเวลาที่ผู้ตรวจสอบกำหนดให้ผู้ตรวจสอบใช้ประกอบ ในการตรวจสอบป้าย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541338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3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เจ้าของป้ายต้องนำรายงานผลการตรวจสอบสภาพป้ายหรือสิ่งที่สร้างขึ้นสำหรับติดหรือตั้งป้ายและ อุปกรณ์ประกอบของป้าย ที่ผู้ตรวจสอบจัดทำแจ้งต่อเจ้าพนักงานท้องถิ่นเพื่อให้ออกหนังสือรับรอง การตรวจสอบป้ายเป็นประจำทุกสามปี โดยจะต้องเสนอภายในสามสิบวันก่อนวันที่ใบรับรอง การตรวจอาคารฉบับเดิมจะมีอายุครบสามปี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541338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4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กรณีที่เจ้าของป้าย หรือผู้ดูแลป้ายพบว่าสภาพของป้ายหรืออุปกรณ์ประกอบต่าง ๆ ของป้าย มีการชำรุดเสียหาย ต้องแก้ไข มีสิ่งที่ผิดปกติ หรือใช้งานไม่ได้ เจ้าของป้าย หรือผู้ดูแลป้ายจะต้องบันทึก รายละเอียดแต่ละรายการให้ชัดเจน และแจ้งผลให้ผู้ตรวจสอบทราบโดยเร็ว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541338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5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กรณีที่ป้ายมีการชำรุดเสียหาย ต้องแก้ไข มีสิ่งที่ผิดปกติ หรือ ใช้งานไม่ได้ เจ้าของป้ายจะต้องดำเนินการแก้ไขให้มีสภาพปลอดภัยโดยเร็ว พร้อมทั้งแจ้งให้ผู้ตรวจสอบทราบด้วย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541338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6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เมื่อเจ้าของป้ายได้แก้ไขให้ป้ายมีสภาพปลอดภัยแล้ว หรือเป็นกรณีที่เจ้าของป้ายไม่สามารถที่จะดำเนินการแก้ไขได้เองให้เจ้าของป้ายแจ้งให้ผู้ตรวจสอบทราบโดยเร็ว</a:t>
            </a:r>
          </a:p>
        </p:txBody>
      </p:sp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2CB95B00-3785-45FC-B2FB-B0AE367D32DC}"/>
              </a:ext>
            </a:extLst>
          </p:cNvPr>
          <p:cNvSpPr/>
          <p:nvPr/>
        </p:nvSpPr>
        <p:spPr>
          <a:xfrm>
            <a:off x="558001" y="7452"/>
            <a:ext cx="6264000" cy="540168"/>
          </a:xfrm>
          <a:prstGeom prst="roundRect">
            <a:avLst/>
          </a:prstGeom>
          <a:noFill/>
          <a:ln cmpd="thickThin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Pro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fire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Inspector Co., Ltd.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B60B6D37-3BF5-461F-B861-1DA9D7AB4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r="5723"/>
          <a:stretch/>
        </p:blipFill>
        <p:spPr>
          <a:xfrm>
            <a:off x="640551" y="25536"/>
            <a:ext cx="318995" cy="504000"/>
          </a:xfrm>
          <a:prstGeom prst="roundRect">
            <a:avLst>
              <a:gd name="adj" fmla="val 6831"/>
            </a:avLst>
          </a:prstGeom>
          <a:ln>
            <a:noFill/>
          </a:ln>
          <a:effectLst/>
        </p:spPr>
      </p:pic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5</a:t>
            </a:r>
          </a:p>
        </p:txBody>
      </p: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62B959BF-7EF4-40E9-9FE4-C35024EDEBC0}"/>
              </a:ext>
            </a:extLst>
          </p:cNvPr>
          <p:cNvCxnSpPr>
            <a:cxnSpLocks/>
          </p:cNvCxnSpPr>
          <p:nvPr/>
        </p:nvCxnSpPr>
        <p:spPr>
          <a:xfrm flipH="1">
            <a:off x="558001" y="548997"/>
            <a:ext cx="6264000" cy="0"/>
          </a:xfrm>
          <a:prstGeom prst="line">
            <a:avLst/>
          </a:prstGeom>
          <a:ln w="41275" cmpd="thickThin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ตัวเชื่อมต่อตรง 22">
            <a:extLst>
              <a:ext uri="{FF2B5EF4-FFF2-40B4-BE49-F238E27FC236}">
                <a16:creationId xmlns:a16="http://schemas.microsoft.com/office/drawing/2014/main" id="{52198961-507F-4793-B45D-FC07B1CDDBCD}"/>
              </a:ext>
            </a:extLst>
          </p:cNvPr>
          <p:cNvCxnSpPr>
            <a:cxnSpLocks/>
          </p:cNvCxnSpPr>
          <p:nvPr/>
        </p:nvCxnSpPr>
        <p:spPr>
          <a:xfrm flipH="1">
            <a:off x="558001" y="9413457"/>
            <a:ext cx="6264000" cy="0"/>
          </a:xfrm>
          <a:prstGeom prst="line">
            <a:avLst/>
          </a:prstGeom>
          <a:ln w="41275" cmpd="thinThick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357CDA8F-4D85-43B1-A53F-BEC5CFE8FDE8}"/>
              </a:ext>
            </a:extLst>
          </p:cNvPr>
          <p:cNvSpPr/>
          <p:nvPr/>
        </p:nvSpPr>
        <p:spPr>
          <a:xfrm>
            <a:off x="558000" y="565704"/>
            <a:ext cx="6300000" cy="8780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D7911DDF-72D0-4215-ABBF-1E79FA071889}"/>
              </a:ext>
            </a:extLst>
          </p:cNvPr>
          <p:cNvSpPr txBox="1"/>
          <p:nvPr/>
        </p:nvSpPr>
        <p:spPr>
          <a:xfrm>
            <a:off x="558000" y="711200"/>
            <a:ext cx="6300000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h-TH" sz="2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4 แนวทางการตรวจบำรุงรักษาป้าย และอุปกรณ์ประกอบของป้ายประจำปี</a:t>
            </a:r>
          </a:p>
        </p:txBody>
      </p:sp>
    </p:spTree>
    <p:extLst>
      <p:ext uri="{BB962C8B-B14F-4D97-AF65-F5344CB8AC3E}">
        <p14:creationId xmlns:p14="http://schemas.microsoft.com/office/powerpoint/2010/main" val="30759223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2B609419-2213-4427-9349-3036B089663E}"/>
              </a:ext>
            </a:extLst>
          </p:cNvPr>
          <p:cNvSpPr txBox="1"/>
          <p:nvPr/>
        </p:nvSpPr>
        <p:spPr>
          <a:xfrm>
            <a:off x="557998" y="1121884"/>
            <a:ext cx="63000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358775" algn="thaiDist">
              <a:tabLst>
                <a:tab pos="625475" algn="l"/>
              </a:tabLst>
            </a:pPr>
            <a:endParaRPr lang="th-TH" sz="10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541338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1.	ความถี่ในการตรวจบำรุงรักษาป้ายด้านความมั่นคงแข็งแรงของป้ายหรือสิ่งที่สร้างขึ้นสำหรับติด  </a:t>
            </a:r>
          </a:p>
          <a:p>
            <a:pPr algn="thaiDist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หรือตั้งป้าย</a:t>
            </a:r>
            <a:endParaRPr lang="th-TH" sz="10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endParaRPr dirty="0"/>
          </a:p>
        </p:txBody>
      </p:sp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2CB95B00-3785-45FC-B2FB-B0AE367D32DC}"/>
              </a:ext>
            </a:extLst>
          </p:cNvPr>
          <p:cNvSpPr/>
          <p:nvPr/>
        </p:nvSpPr>
        <p:spPr>
          <a:xfrm>
            <a:off x="558001" y="7452"/>
            <a:ext cx="6264000" cy="540168"/>
          </a:xfrm>
          <a:prstGeom prst="roundRect">
            <a:avLst/>
          </a:prstGeom>
          <a:noFill/>
          <a:ln cmpd="thickThin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Pro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fire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Inspector Co., Ltd.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B60B6D37-3BF5-461F-B861-1DA9D7AB4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r="5723"/>
          <a:stretch/>
        </p:blipFill>
        <p:spPr>
          <a:xfrm>
            <a:off x="640551" y="25536"/>
            <a:ext cx="318995" cy="504000"/>
          </a:xfrm>
          <a:prstGeom prst="roundRect">
            <a:avLst>
              <a:gd name="adj" fmla="val 6831"/>
            </a:avLst>
          </a:prstGeom>
          <a:ln>
            <a:noFill/>
          </a:ln>
          <a:effectLst/>
        </p:spPr>
      </p:pic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6</a:t>
            </a:r>
          </a:p>
        </p:txBody>
      </p: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62B959BF-7EF4-40E9-9FE4-C35024EDEBC0}"/>
              </a:ext>
            </a:extLst>
          </p:cNvPr>
          <p:cNvCxnSpPr>
            <a:cxnSpLocks/>
          </p:cNvCxnSpPr>
          <p:nvPr/>
        </p:nvCxnSpPr>
        <p:spPr>
          <a:xfrm flipH="1">
            <a:off x="558001" y="548997"/>
            <a:ext cx="6264000" cy="0"/>
          </a:xfrm>
          <a:prstGeom prst="line">
            <a:avLst/>
          </a:prstGeom>
          <a:ln w="41275" cmpd="thickThin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357CDA8F-4D85-43B1-A53F-BEC5CFE8FDE8}"/>
              </a:ext>
            </a:extLst>
          </p:cNvPr>
          <p:cNvSpPr/>
          <p:nvPr/>
        </p:nvSpPr>
        <p:spPr>
          <a:xfrm>
            <a:off x="558000" y="565704"/>
            <a:ext cx="6300000" cy="8847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D7911DDF-72D0-4215-ABBF-1E79FA071889}"/>
              </a:ext>
            </a:extLst>
          </p:cNvPr>
          <p:cNvSpPr txBox="1"/>
          <p:nvPr/>
        </p:nvSpPr>
        <p:spPr>
          <a:xfrm>
            <a:off x="558000" y="711200"/>
            <a:ext cx="6300000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h-TH" sz="2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5 ช่วงเวลา และความถี่ในการตรวจบำรุงรักษาป้าย และอุปกรณ์ประกอบของป้าย</a:t>
            </a:r>
          </a:p>
        </p:txBody>
      </p:sp>
      <p:graphicFrame>
        <p:nvGraphicFramePr>
          <p:cNvPr id="5" name="ตาราง 4">
            <a:extLst>
              <a:ext uri="{FF2B5EF4-FFF2-40B4-BE49-F238E27FC236}">
                <a16:creationId xmlns:a16="http://schemas.microsoft.com/office/drawing/2014/main" id="{E57A3880-5197-44C7-BF36-8A1298C081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909836"/>
              </p:ext>
            </p:extLst>
          </p:nvPr>
        </p:nvGraphicFramePr>
        <p:xfrm>
          <a:off x="448046" y="1909462"/>
          <a:ext cx="6156000" cy="717152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3944651281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4241226772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829460609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3923768568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284550167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865805648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302713655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104538933"/>
                    </a:ext>
                  </a:extLst>
                </a:gridCol>
              </a:tblGrid>
              <a:tr h="260897"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ลำดับ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1803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รายการตรวจบำรุงรักษา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ความถี่ในการตรวจสอบ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หมายเหตุ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8857346"/>
                  </a:ext>
                </a:extLst>
              </a:tr>
              <a:tr h="260897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4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6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3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603820"/>
                  </a:ext>
                </a:extLst>
              </a:tr>
              <a:tr h="327885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เดือน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เดือน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เดือน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ปี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ปี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9293514"/>
                  </a:ext>
                </a:extLst>
              </a:tr>
              <a:tr h="5767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การต่อเติม ดัดแปลง ปรับปรุงขนาดของ ป้ายหรือสิ่งที่สร้างขึ้นสำหรับติดหรือตั้งป้าย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5866550"/>
                  </a:ext>
                </a:extLst>
              </a:tr>
              <a:tr h="32118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2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การเปลี่ยนแปลงน้ำหนักของแผ่นป้าย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2700247"/>
                  </a:ext>
                </a:extLst>
              </a:tr>
              <a:tr h="32118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3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การเปลี่ยนแปลงสภาพการใช้งานของป้าย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303860"/>
                  </a:ext>
                </a:extLst>
              </a:tr>
              <a:tr h="5767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4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การเปลี่ยนแปลงวัสดุของป้าย หรือสิ่งที่สร้างขึ้นสำหรับติดหรือตั้งป้าย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2067559"/>
                  </a:ext>
                </a:extLst>
              </a:tr>
              <a:tr h="5767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5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การชำรุดสึกหรอของป้าย หรือสิ่งที่สร้างขึ้นสำหรับติดหรือตั้งป้าย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705716"/>
                  </a:ext>
                </a:extLst>
              </a:tr>
              <a:tr h="5767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6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การวิบัติของป้าย หรือสิ่งที่สร้างขึ้นสำหรับติดหรือตั้งป้าย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4670051"/>
                  </a:ext>
                </a:extLst>
              </a:tr>
              <a:tr h="83232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7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ความมั่นคงแข็งแรงของโครงสร้างและฐานรากของสิ่งที่สร้างขึ้นสำหรับติดหรือตั้งป้าย (กรณีป้ายที่ติดตั้งบนพื้นดิน)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3258975"/>
                  </a:ext>
                </a:extLst>
              </a:tr>
              <a:tr h="83232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8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ความมั่นคงแข็งแรงของอาคารที่ติดตั้งป้าย (กรณีป้ายบนหลังคา หรือบนดาดฟ้าอาคาร หรือบนส่วนหนึ่งส่วนใดของอาคาร)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620203"/>
                  </a:ext>
                </a:extLst>
              </a:tr>
              <a:tr h="137147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9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21590"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การเชื่อมยึดระหว่างแผ่นป้ายกับสิ่งที่สร้างขึ้นสำหรับติดหรือตั้งป้าย การเชื่อมยึดระหว่างชิ้นส่วนต่าง ๆ ของสิ่งที่สร้างขึ้นสำหรับติดหรือตั้งป้าย และการเชื่อมยึดระหว่างสิ่งที่สร้างขึ้นสำหรับติดหรือตั้งป้ายกับฐานรากหรืออาคาร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731570"/>
                  </a:ext>
                </a:extLst>
              </a:tr>
            </a:tbl>
          </a:graphicData>
        </a:graphic>
      </p:graphicFrame>
      <p:sp>
        <p:nvSpPr>
          <p:cNvPr id="310000" name="TextBox 310000"/>
          <p:cNvSpPr txBox="1"/>
          <p:nvPr/>
        </p:nvSpPr>
        <p:spPr>
          <a:xfrm>
            <a:off x="3493381" y="3043987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{{1freq_1_1}}</a:t>
            </a:r>
          </a:p>
        </p:txBody>
      </p:sp>
      <p:sp>
        <p:nvSpPr>
          <p:cNvPr id="310001" name="TextBox 310001"/>
          <p:cNvSpPr txBox="1"/>
          <p:nvPr/>
        </p:nvSpPr>
        <p:spPr>
          <a:xfrm>
            <a:off x="3895253" y="3043987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{{1freq_1_2}}</a:t>
            </a:r>
          </a:p>
        </p:txBody>
      </p:sp>
      <p:sp>
        <p:nvSpPr>
          <p:cNvPr id="310002" name="TextBox 310002"/>
          <p:cNvSpPr txBox="1"/>
          <p:nvPr/>
        </p:nvSpPr>
        <p:spPr>
          <a:xfrm>
            <a:off x="4285094" y="3043987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{{1freq_1_3}}</a:t>
            </a:r>
          </a:p>
        </p:txBody>
      </p:sp>
      <p:sp>
        <p:nvSpPr>
          <p:cNvPr id="310003" name="TextBox 310003"/>
          <p:cNvSpPr txBox="1"/>
          <p:nvPr/>
        </p:nvSpPr>
        <p:spPr>
          <a:xfrm>
            <a:off x="4686968" y="3043987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{{1freq_1_4}}</a:t>
            </a:r>
          </a:p>
        </p:txBody>
      </p:sp>
      <p:sp>
        <p:nvSpPr>
          <p:cNvPr id="310004" name="TextBox 310004"/>
          <p:cNvSpPr txBox="1"/>
          <p:nvPr/>
        </p:nvSpPr>
        <p:spPr>
          <a:xfrm>
            <a:off x="5088845" y="3043987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{{1freq_1_5}}</a:t>
            </a:r>
          </a:p>
        </p:txBody>
      </p:sp>
      <p:sp>
        <p:nvSpPr>
          <p:cNvPr id="310005" name="TextBox 310005"/>
          <p:cNvSpPr txBox="1"/>
          <p:nvPr/>
        </p:nvSpPr>
        <p:spPr>
          <a:xfrm>
            <a:off x="5743381" y="3043987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{{1freq_1_6}}</a:t>
            </a:r>
          </a:p>
        </p:txBody>
      </p:sp>
      <p:sp>
        <p:nvSpPr>
          <p:cNvPr id="310006" name="TextBox 310006"/>
          <p:cNvSpPr txBox="1"/>
          <p:nvPr/>
        </p:nvSpPr>
        <p:spPr>
          <a:xfrm>
            <a:off x="3493381" y="3444302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{{1freq_2_1}}</a:t>
            </a:r>
          </a:p>
        </p:txBody>
      </p:sp>
      <p:sp>
        <p:nvSpPr>
          <p:cNvPr id="310007" name="TextBox 310007"/>
          <p:cNvSpPr txBox="1"/>
          <p:nvPr/>
        </p:nvSpPr>
        <p:spPr>
          <a:xfrm>
            <a:off x="3895253" y="3444302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{{1freq_2_2}}</a:t>
            </a:r>
          </a:p>
        </p:txBody>
      </p:sp>
      <p:sp>
        <p:nvSpPr>
          <p:cNvPr id="310008" name="TextBox 310008"/>
          <p:cNvSpPr txBox="1"/>
          <p:nvPr/>
        </p:nvSpPr>
        <p:spPr>
          <a:xfrm>
            <a:off x="4285094" y="3444302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{{1freq_2_3}}</a:t>
            </a:r>
          </a:p>
        </p:txBody>
      </p:sp>
      <p:sp>
        <p:nvSpPr>
          <p:cNvPr id="310009" name="TextBox 310009"/>
          <p:cNvSpPr txBox="1"/>
          <p:nvPr/>
        </p:nvSpPr>
        <p:spPr>
          <a:xfrm>
            <a:off x="4686968" y="3444302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{{1freq_2_4}}</a:t>
            </a:r>
          </a:p>
        </p:txBody>
      </p:sp>
      <p:sp>
        <p:nvSpPr>
          <p:cNvPr id="310010" name="TextBox 310010"/>
          <p:cNvSpPr txBox="1"/>
          <p:nvPr/>
        </p:nvSpPr>
        <p:spPr>
          <a:xfrm>
            <a:off x="5088845" y="3444302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{{1freq_2_5}}</a:t>
            </a:r>
          </a:p>
        </p:txBody>
      </p:sp>
      <p:sp>
        <p:nvSpPr>
          <p:cNvPr id="310011" name="TextBox 310011"/>
          <p:cNvSpPr txBox="1"/>
          <p:nvPr/>
        </p:nvSpPr>
        <p:spPr>
          <a:xfrm>
            <a:off x="5743381" y="3444302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{{1freq_2_6}}</a:t>
            </a:r>
          </a:p>
        </p:txBody>
      </p:sp>
      <p:sp>
        <p:nvSpPr>
          <p:cNvPr id="310012" name="TextBox 310012"/>
          <p:cNvSpPr txBox="1"/>
          <p:nvPr/>
        </p:nvSpPr>
        <p:spPr>
          <a:xfrm>
            <a:off x="3493381" y="374836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{{1freq_3_1}}</a:t>
            </a:r>
          </a:p>
        </p:txBody>
      </p:sp>
      <p:sp>
        <p:nvSpPr>
          <p:cNvPr id="310013" name="TextBox 310013"/>
          <p:cNvSpPr txBox="1"/>
          <p:nvPr/>
        </p:nvSpPr>
        <p:spPr>
          <a:xfrm>
            <a:off x="3895253" y="374836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{{1freq_3_2}}</a:t>
            </a:r>
          </a:p>
        </p:txBody>
      </p:sp>
      <p:sp>
        <p:nvSpPr>
          <p:cNvPr id="310014" name="TextBox 310014"/>
          <p:cNvSpPr txBox="1"/>
          <p:nvPr/>
        </p:nvSpPr>
        <p:spPr>
          <a:xfrm>
            <a:off x="4285094" y="374836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{{1freq_3_3}}</a:t>
            </a:r>
          </a:p>
        </p:txBody>
      </p:sp>
      <p:sp>
        <p:nvSpPr>
          <p:cNvPr id="310015" name="TextBox 310015"/>
          <p:cNvSpPr txBox="1"/>
          <p:nvPr/>
        </p:nvSpPr>
        <p:spPr>
          <a:xfrm>
            <a:off x="4686968" y="374836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{{1freq_3_4}}</a:t>
            </a:r>
          </a:p>
        </p:txBody>
      </p:sp>
      <p:sp>
        <p:nvSpPr>
          <p:cNvPr id="310016" name="TextBox 310016"/>
          <p:cNvSpPr txBox="1"/>
          <p:nvPr/>
        </p:nvSpPr>
        <p:spPr>
          <a:xfrm>
            <a:off x="5088845" y="374836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{{1freq_3_5}}</a:t>
            </a:r>
          </a:p>
        </p:txBody>
      </p:sp>
      <p:sp>
        <p:nvSpPr>
          <p:cNvPr id="310017" name="TextBox 310017"/>
          <p:cNvSpPr txBox="1"/>
          <p:nvPr/>
        </p:nvSpPr>
        <p:spPr>
          <a:xfrm>
            <a:off x="5743381" y="374836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{{1freq_3_6}}</a:t>
            </a:r>
          </a:p>
        </p:txBody>
      </p:sp>
      <p:sp>
        <p:nvSpPr>
          <p:cNvPr id="310018" name="TextBox 310018"/>
          <p:cNvSpPr txBox="1"/>
          <p:nvPr/>
        </p:nvSpPr>
        <p:spPr>
          <a:xfrm>
            <a:off x="3493381" y="422087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{{1freq_4_1}}</a:t>
            </a:r>
          </a:p>
        </p:txBody>
      </p:sp>
      <p:sp>
        <p:nvSpPr>
          <p:cNvPr id="310019" name="TextBox 310019"/>
          <p:cNvSpPr txBox="1"/>
          <p:nvPr/>
        </p:nvSpPr>
        <p:spPr>
          <a:xfrm>
            <a:off x="3895253" y="422087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{{1freq_4_2}}</a:t>
            </a:r>
          </a:p>
        </p:txBody>
      </p:sp>
      <p:sp>
        <p:nvSpPr>
          <p:cNvPr id="310020" name="TextBox 310020"/>
          <p:cNvSpPr txBox="1"/>
          <p:nvPr/>
        </p:nvSpPr>
        <p:spPr>
          <a:xfrm>
            <a:off x="4285094" y="422087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{{1freq_4_3}}</a:t>
            </a:r>
          </a:p>
        </p:txBody>
      </p:sp>
      <p:sp>
        <p:nvSpPr>
          <p:cNvPr id="310021" name="TextBox 310021"/>
          <p:cNvSpPr txBox="1"/>
          <p:nvPr/>
        </p:nvSpPr>
        <p:spPr>
          <a:xfrm>
            <a:off x="4686968" y="422087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{{1freq_4_4}}</a:t>
            </a:r>
          </a:p>
        </p:txBody>
      </p:sp>
      <p:sp>
        <p:nvSpPr>
          <p:cNvPr id="310022" name="TextBox 310022"/>
          <p:cNvSpPr txBox="1"/>
          <p:nvPr/>
        </p:nvSpPr>
        <p:spPr>
          <a:xfrm>
            <a:off x="5088845" y="422087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{{1freq_4_5}}</a:t>
            </a:r>
          </a:p>
        </p:txBody>
      </p:sp>
      <p:sp>
        <p:nvSpPr>
          <p:cNvPr id="310023" name="TextBox 310023"/>
          <p:cNvSpPr txBox="1"/>
          <p:nvPr/>
        </p:nvSpPr>
        <p:spPr>
          <a:xfrm>
            <a:off x="5743381" y="422087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{{1freq_4_6}}</a:t>
            </a:r>
          </a:p>
        </p:txBody>
      </p:sp>
      <p:sp>
        <p:nvSpPr>
          <p:cNvPr id="310024" name="TextBox 310024"/>
          <p:cNvSpPr txBox="1"/>
          <p:nvPr/>
        </p:nvSpPr>
        <p:spPr>
          <a:xfrm>
            <a:off x="3493381" y="4861817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{{1freq_5_1}}</a:t>
            </a:r>
          </a:p>
        </p:txBody>
      </p:sp>
      <p:sp>
        <p:nvSpPr>
          <p:cNvPr id="310025" name="TextBox 310025"/>
          <p:cNvSpPr txBox="1"/>
          <p:nvPr/>
        </p:nvSpPr>
        <p:spPr>
          <a:xfrm>
            <a:off x="3895253" y="4861817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{{1freq_5_2}}</a:t>
            </a:r>
          </a:p>
        </p:txBody>
      </p:sp>
      <p:sp>
        <p:nvSpPr>
          <p:cNvPr id="310026" name="TextBox 310026"/>
          <p:cNvSpPr txBox="1"/>
          <p:nvPr/>
        </p:nvSpPr>
        <p:spPr>
          <a:xfrm>
            <a:off x="4285094" y="4861817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{{1freq_5_3}}</a:t>
            </a:r>
          </a:p>
        </p:txBody>
      </p:sp>
      <p:sp>
        <p:nvSpPr>
          <p:cNvPr id="310027" name="TextBox 310027"/>
          <p:cNvSpPr txBox="1"/>
          <p:nvPr/>
        </p:nvSpPr>
        <p:spPr>
          <a:xfrm>
            <a:off x="4686968" y="4861817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{{1freq_5_4}}</a:t>
            </a:r>
          </a:p>
        </p:txBody>
      </p:sp>
      <p:sp>
        <p:nvSpPr>
          <p:cNvPr id="310028" name="TextBox 310028"/>
          <p:cNvSpPr txBox="1"/>
          <p:nvPr/>
        </p:nvSpPr>
        <p:spPr>
          <a:xfrm>
            <a:off x="5088845" y="4861817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{{1freq_5_5}}</a:t>
            </a:r>
          </a:p>
        </p:txBody>
      </p:sp>
      <p:sp>
        <p:nvSpPr>
          <p:cNvPr id="310029" name="TextBox 310029"/>
          <p:cNvSpPr txBox="1"/>
          <p:nvPr/>
        </p:nvSpPr>
        <p:spPr>
          <a:xfrm>
            <a:off x="5743381" y="4861817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{{1freq_5_6}}</a:t>
            </a:r>
          </a:p>
        </p:txBody>
      </p:sp>
      <p:sp>
        <p:nvSpPr>
          <p:cNvPr id="310030" name="TextBox 310030"/>
          <p:cNvSpPr txBox="1"/>
          <p:nvPr/>
        </p:nvSpPr>
        <p:spPr>
          <a:xfrm>
            <a:off x="3493381" y="543057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{{1freq_6_1}}</a:t>
            </a:r>
          </a:p>
        </p:txBody>
      </p:sp>
      <p:sp>
        <p:nvSpPr>
          <p:cNvPr id="310031" name="TextBox 310031"/>
          <p:cNvSpPr txBox="1"/>
          <p:nvPr/>
        </p:nvSpPr>
        <p:spPr>
          <a:xfrm>
            <a:off x="3895253" y="543057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{{1freq_6_2}}</a:t>
            </a:r>
          </a:p>
        </p:txBody>
      </p:sp>
      <p:sp>
        <p:nvSpPr>
          <p:cNvPr id="310032" name="TextBox 310032"/>
          <p:cNvSpPr txBox="1"/>
          <p:nvPr/>
        </p:nvSpPr>
        <p:spPr>
          <a:xfrm>
            <a:off x="4285094" y="543057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{{1freq_6_3}}</a:t>
            </a:r>
          </a:p>
        </p:txBody>
      </p:sp>
      <p:sp>
        <p:nvSpPr>
          <p:cNvPr id="310033" name="TextBox 310033"/>
          <p:cNvSpPr txBox="1"/>
          <p:nvPr/>
        </p:nvSpPr>
        <p:spPr>
          <a:xfrm>
            <a:off x="4686968" y="543057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{{1freq_6_4}}</a:t>
            </a:r>
          </a:p>
        </p:txBody>
      </p:sp>
      <p:sp>
        <p:nvSpPr>
          <p:cNvPr id="310034" name="TextBox 310034"/>
          <p:cNvSpPr txBox="1"/>
          <p:nvPr/>
        </p:nvSpPr>
        <p:spPr>
          <a:xfrm>
            <a:off x="5088845" y="543057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{{1freq_6_5}}</a:t>
            </a:r>
          </a:p>
        </p:txBody>
      </p:sp>
      <p:sp>
        <p:nvSpPr>
          <p:cNvPr id="310035" name="TextBox 310035"/>
          <p:cNvSpPr txBox="1"/>
          <p:nvPr/>
        </p:nvSpPr>
        <p:spPr>
          <a:xfrm>
            <a:off x="5743381" y="543057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{{1freq_6_6}}</a:t>
            </a:r>
          </a:p>
        </p:txBody>
      </p:sp>
      <p:sp>
        <p:nvSpPr>
          <p:cNvPr id="310036" name="TextBox 310036"/>
          <p:cNvSpPr txBox="1"/>
          <p:nvPr/>
        </p:nvSpPr>
        <p:spPr>
          <a:xfrm>
            <a:off x="3493381" y="615573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{{1freq_7_1}}</a:t>
            </a:r>
          </a:p>
        </p:txBody>
      </p:sp>
      <p:sp>
        <p:nvSpPr>
          <p:cNvPr id="310037" name="TextBox 310037"/>
          <p:cNvSpPr txBox="1"/>
          <p:nvPr/>
        </p:nvSpPr>
        <p:spPr>
          <a:xfrm>
            <a:off x="3895253" y="615573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{{1freq_7_2}}</a:t>
            </a:r>
          </a:p>
        </p:txBody>
      </p:sp>
      <p:sp>
        <p:nvSpPr>
          <p:cNvPr id="310038" name="TextBox 310038"/>
          <p:cNvSpPr txBox="1"/>
          <p:nvPr/>
        </p:nvSpPr>
        <p:spPr>
          <a:xfrm>
            <a:off x="4285094" y="615573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{{1freq_7_3}}</a:t>
            </a:r>
          </a:p>
        </p:txBody>
      </p:sp>
      <p:sp>
        <p:nvSpPr>
          <p:cNvPr id="310039" name="TextBox 310039"/>
          <p:cNvSpPr txBox="1"/>
          <p:nvPr/>
        </p:nvSpPr>
        <p:spPr>
          <a:xfrm>
            <a:off x="4686968" y="615573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{{1freq_7_4}}</a:t>
            </a:r>
          </a:p>
        </p:txBody>
      </p:sp>
      <p:sp>
        <p:nvSpPr>
          <p:cNvPr id="310040" name="TextBox 310040"/>
          <p:cNvSpPr txBox="1"/>
          <p:nvPr/>
        </p:nvSpPr>
        <p:spPr>
          <a:xfrm>
            <a:off x="5088845" y="615573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{{1freq_7_5}}</a:t>
            </a:r>
          </a:p>
        </p:txBody>
      </p:sp>
      <p:sp>
        <p:nvSpPr>
          <p:cNvPr id="310041" name="TextBox 310041"/>
          <p:cNvSpPr txBox="1"/>
          <p:nvPr/>
        </p:nvSpPr>
        <p:spPr>
          <a:xfrm>
            <a:off x="5743381" y="615573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{{1freq_7_6}}</a:t>
            </a:r>
          </a:p>
        </p:txBody>
      </p:sp>
      <p:sp>
        <p:nvSpPr>
          <p:cNvPr id="310042" name="TextBox 310042"/>
          <p:cNvSpPr txBox="1"/>
          <p:nvPr/>
        </p:nvSpPr>
        <p:spPr>
          <a:xfrm>
            <a:off x="3493381" y="703732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{{1freq_8_1}}</a:t>
            </a:r>
          </a:p>
        </p:txBody>
      </p:sp>
      <p:sp>
        <p:nvSpPr>
          <p:cNvPr id="310043" name="TextBox 310043"/>
          <p:cNvSpPr txBox="1"/>
          <p:nvPr/>
        </p:nvSpPr>
        <p:spPr>
          <a:xfrm>
            <a:off x="3895253" y="703732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{{1freq_8_2}}</a:t>
            </a:r>
          </a:p>
        </p:txBody>
      </p:sp>
      <p:sp>
        <p:nvSpPr>
          <p:cNvPr id="310044" name="TextBox 310044"/>
          <p:cNvSpPr txBox="1"/>
          <p:nvPr/>
        </p:nvSpPr>
        <p:spPr>
          <a:xfrm>
            <a:off x="4285094" y="703732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{{1freq_8_3}}</a:t>
            </a:r>
          </a:p>
        </p:txBody>
      </p:sp>
      <p:sp>
        <p:nvSpPr>
          <p:cNvPr id="310045" name="TextBox 310045"/>
          <p:cNvSpPr txBox="1"/>
          <p:nvPr/>
        </p:nvSpPr>
        <p:spPr>
          <a:xfrm>
            <a:off x="4686968" y="703732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{{1freq_8_4}}</a:t>
            </a:r>
          </a:p>
        </p:txBody>
      </p:sp>
      <p:sp>
        <p:nvSpPr>
          <p:cNvPr id="310046" name="TextBox 310046"/>
          <p:cNvSpPr txBox="1"/>
          <p:nvPr/>
        </p:nvSpPr>
        <p:spPr>
          <a:xfrm>
            <a:off x="5088845" y="703732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{{1freq_8_5}}</a:t>
            </a:r>
          </a:p>
        </p:txBody>
      </p:sp>
      <p:sp>
        <p:nvSpPr>
          <p:cNvPr id="310047" name="TextBox 310047"/>
          <p:cNvSpPr txBox="1"/>
          <p:nvPr/>
        </p:nvSpPr>
        <p:spPr>
          <a:xfrm>
            <a:off x="5743381" y="703732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{{1freq_8_6}}</a:t>
            </a:r>
          </a:p>
        </p:txBody>
      </p:sp>
      <p:sp>
        <p:nvSpPr>
          <p:cNvPr id="310048" name="TextBox 310048"/>
          <p:cNvSpPr txBox="1"/>
          <p:nvPr/>
        </p:nvSpPr>
        <p:spPr>
          <a:xfrm>
            <a:off x="3493381" y="823172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{{1freq_9_1}}</a:t>
            </a:r>
          </a:p>
        </p:txBody>
      </p:sp>
      <p:sp>
        <p:nvSpPr>
          <p:cNvPr id="310049" name="TextBox 310049"/>
          <p:cNvSpPr txBox="1"/>
          <p:nvPr/>
        </p:nvSpPr>
        <p:spPr>
          <a:xfrm>
            <a:off x="3895253" y="823172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{{1freq_9_2}}</a:t>
            </a:r>
          </a:p>
        </p:txBody>
      </p:sp>
      <p:sp>
        <p:nvSpPr>
          <p:cNvPr id="310050" name="TextBox 310050"/>
          <p:cNvSpPr txBox="1"/>
          <p:nvPr/>
        </p:nvSpPr>
        <p:spPr>
          <a:xfrm>
            <a:off x="4285094" y="823172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{{1freq_9_3}}</a:t>
            </a:r>
          </a:p>
        </p:txBody>
      </p:sp>
      <p:sp>
        <p:nvSpPr>
          <p:cNvPr id="310051" name="TextBox 310051"/>
          <p:cNvSpPr txBox="1"/>
          <p:nvPr/>
        </p:nvSpPr>
        <p:spPr>
          <a:xfrm>
            <a:off x="4686968" y="823172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{{1freq_9_4}}</a:t>
            </a:r>
          </a:p>
        </p:txBody>
      </p:sp>
      <p:sp>
        <p:nvSpPr>
          <p:cNvPr id="310052" name="TextBox 310052"/>
          <p:cNvSpPr txBox="1"/>
          <p:nvPr/>
        </p:nvSpPr>
        <p:spPr>
          <a:xfrm>
            <a:off x="5088845" y="823172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{{1freq_9_5}}</a:t>
            </a:r>
          </a:p>
        </p:txBody>
      </p:sp>
      <p:sp>
        <p:nvSpPr>
          <p:cNvPr id="310053" name="TextBox 310053"/>
          <p:cNvSpPr txBox="1"/>
          <p:nvPr/>
        </p:nvSpPr>
        <p:spPr>
          <a:xfrm>
            <a:off x="5743381" y="823172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{{1freq_9_6}}</a:t>
            </a:r>
          </a:p>
        </p:txBody>
      </p:sp>
    </p:spTree>
    <p:extLst>
      <p:ext uri="{BB962C8B-B14F-4D97-AF65-F5344CB8AC3E}">
        <p14:creationId xmlns:p14="http://schemas.microsoft.com/office/powerpoint/2010/main" val="7096085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2CB95B00-3785-45FC-B2FB-B0AE367D32DC}"/>
              </a:ext>
            </a:extLst>
          </p:cNvPr>
          <p:cNvSpPr/>
          <p:nvPr/>
        </p:nvSpPr>
        <p:spPr>
          <a:xfrm>
            <a:off x="558001" y="7452"/>
            <a:ext cx="6264000" cy="540168"/>
          </a:xfrm>
          <a:prstGeom prst="roundRect">
            <a:avLst/>
          </a:prstGeom>
          <a:noFill/>
          <a:ln cmpd="thickThin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Pro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fire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Inspector Co., Ltd.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B60B6D37-3BF5-461F-B861-1DA9D7AB4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r="5723"/>
          <a:stretch/>
        </p:blipFill>
        <p:spPr>
          <a:xfrm>
            <a:off x="640551" y="25536"/>
            <a:ext cx="318995" cy="504000"/>
          </a:xfrm>
          <a:prstGeom prst="roundRect">
            <a:avLst>
              <a:gd name="adj" fmla="val 6831"/>
            </a:avLst>
          </a:prstGeom>
          <a:ln>
            <a:noFill/>
          </a:ln>
          <a:effectLst/>
        </p:spPr>
      </p:pic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7</a:t>
            </a:r>
          </a:p>
        </p:txBody>
      </p: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62B959BF-7EF4-40E9-9FE4-C35024EDEBC0}"/>
              </a:ext>
            </a:extLst>
          </p:cNvPr>
          <p:cNvCxnSpPr>
            <a:cxnSpLocks/>
          </p:cNvCxnSpPr>
          <p:nvPr/>
        </p:nvCxnSpPr>
        <p:spPr>
          <a:xfrm flipH="1">
            <a:off x="558001" y="548997"/>
            <a:ext cx="6264000" cy="0"/>
          </a:xfrm>
          <a:prstGeom prst="line">
            <a:avLst/>
          </a:prstGeom>
          <a:ln w="41275" cmpd="thickThin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ตัวเชื่อมต่อตรง 22">
            <a:extLst>
              <a:ext uri="{FF2B5EF4-FFF2-40B4-BE49-F238E27FC236}">
                <a16:creationId xmlns:a16="http://schemas.microsoft.com/office/drawing/2014/main" id="{52198961-507F-4793-B45D-FC07B1CDDBCD}"/>
              </a:ext>
            </a:extLst>
          </p:cNvPr>
          <p:cNvCxnSpPr>
            <a:cxnSpLocks/>
          </p:cNvCxnSpPr>
          <p:nvPr/>
        </p:nvCxnSpPr>
        <p:spPr>
          <a:xfrm flipH="1">
            <a:off x="558001" y="9413457"/>
            <a:ext cx="6264000" cy="0"/>
          </a:xfrm>
          <a:prstGeom prst="line">
            <a:avLst/>
          </a:prstGeom>
          <a:ln w="41275" cmpd="thinThick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357CDA8F-4D85-43B1-A53F-BEC5CFE8FDE8}"/>
              </a:ext>
            </a:extLst>
          </p:cNvPr>
          <p:cNvSpPr/>
          <p:nvPr/>
        </p:nvSpPr>
        <p:spPr>
          <a:xfrm>
            <a:off x="558000" y="565704"/>
            <a:ext cx="6300000" cy="8847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541338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	ความถี่ในการตรวจบำรุงรักษาระบบและอุปกรณ์ประกอบของป้าย</a:t>
            </a: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5" name="ตาราง 4">
            <a:extLst>
              <a:ext uri="{FF2B5EF4-FFF2-40B4-BE49-F238E27FC236}">
                <a16:creationId xmlns:a16="http://schemas.microsoft.com/office/drawing/2014/main" id="{E57A3880-5197-44C7-BF36-8A1298C081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7344280"/>
              </p:ext>
            </p:extLst>
          </p:nvPr>
        </p:nvGraphicFramePr>
        <p:xfrm>
          <a:off x="640551" y="1098904"/>
          <a:ext cx="6156000" cy="67150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3944651281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4241226772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829460609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3923768568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284550167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865805648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302713655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104538933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ลำดับ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1803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รายการตรวจบำรุงรักษา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ความถี่ในการตรวจสอบ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หมายเหตุ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885734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4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6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3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60382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เดือน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เดือน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เดือน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ปี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ปี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92935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ระบบไฟฟ้าแสงสว่างและระบบไฟฟ้ากำลัง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58665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tabLst>
                          <a:tab pos="266700" algn="l"/>
                        </a:tabLst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(1)	สภาพสายไฟฟ้า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2700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tabLst>
                          <a:tab pos="266700" algn="l"/>
                        </a:tabLst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(2)	สภาพท่อร้อยสาย รางเดินสายและรางเคเบิล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303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tabLst>
                          <a:tab pos="266700" algn="l"/>
                        </a:tabLst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(3)	สภาพเครื่องป้องกันกระแสเกิน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2067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tabLst>
                          <a:tab pos="266700" algn="l"/>
                        </a:tabLst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(4)	สภาพเครื่องตัดไฟรั่ว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705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tabLst>
                          <a:tab pos="266700" algn="l"/>
                        </a:tabLst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(5)	การต่อลงดินของบริภัณฑ์ ตัวนำต่อลงดินและความต่อเนื่องลงดินของท่อร้อยสาย 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algn="thaiDist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รางเดินสาย รางเคเบิล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4670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2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ระบบป้องกันฟ้าผ่า (ถ้ามี)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32589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-266700" algn="thaiDist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(1)	ตรวจสอบระบบตัวนำล่อฟ้าตัวนำต่อลงดิน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620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-266700" algn="thaiDist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(2)	ตรวจสอบระบบรากสายดิน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731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-266700" algn="thaiDist">
                        <a:buAutoNum type="arabicParenBoth" startAt="3"/>
                        <a:tabLst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ตรวจสอบจุดต่อประสานศักย์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3855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/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ระบบอุปกรณ์ประกอบอื่น ๆ (ถ้ามี)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8022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-266700" algn="thaiDist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(1)	 </a:t>
                      </a:r>
                      <a:r>
                        <a:rPr lang="th-TH" sz="1600" kern="1200" dirty="0" err="1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สลิง</a:t>
                      </a: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หรือสายยึด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0187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-266700" algn="thaiDist">
                        <a:buNone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(2)	สภาพบันไดขึ้นลง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79319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-266700" algn="thaiDist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(3)	สภาพราวจับ หรือราวกันตก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554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-266700" algn="thaiDist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(4)	สภาพ 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CATWALK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18416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-180975" algn="thaiDist">
                        <a:tabLst>
                          <a:tab pos="2600325" algn="l"/>
                        </a:tabLst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-	อื่น ๆ (โปรดระบุ)</a:t>
                      </a:r>
                      <a:r>
                        <a:rPr lang="th-TH" sz="1600" u="dotted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8950560"/>
                  </a:ext>
                </a:extLst>
              </a:tr>
            </a:tbl>
          </a:graphicData>
        </a:graphic>
      </p:graphicFrame>
      <p:sp>
        <p:nvSpPr>
          <p:cNvPr id="320000" name="TextBox 320000"/>
          <p:cNvSpPr txBox="1"/>
          <p:nvPr/>
        </p:nvSpPr>
        <p:spPr>
          <a:xfrm>
            <a:off x="3695879" y="229862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{{2freq_1_1}}</a:t>
            </a:r>
          </a:p>
        </p:txBody>
      </p:sp>
      <p:sp>
        <p:nvSpPr>
          <p:cNvPr id="320001" name="TextBox 320001"/>
          <p:cNvSpPr txBox="1"/>
          <p:nvPr/>
        </p:nvSpPr>
        <p:spPr>
          <a:xfrm>
            <a:off x="4085719" y="229862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{{2freq_1_2}}</a:t>
            </a:r>
          </a:p>
        </p:txBody>
      </p:sp>
      <p:sp>
        <p:nvSpPr>
          <p:cNvPr id="320002" name="TextBox 320002"/>
          <p:cNvSpPr txBox="1"/>
          <p:nvPr/>
        </p:nvSpPr>
        <p:spPr>
          <a:xfrm>
            <a:off x="4439465" y="229862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{{2freq_1_3}}</a:t>
            </a:r>
          </a:p>
        </p:txBody>
      </p:sp>
      <p:sp>
        <p:nvSpPr>
          <p:cNvPr id="320003" name="TextBox 320003"/>
          <p:cNvSpPr txBox="1"/>
          <p:nvPr/>
        </p:nvSpPr>
        <p:spPr>
          <a:xfrm>
            <a:off x="4877435" y="229862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{{2freq_1_4}}</a:t>
            </a:r>
          </a:p>
        </p:txBody>
      </p:sp>
      <p:sp>
        <p:nvSpPr>
          <p:cNvPr id="320004" name="TextBox 320004"/>
          <p:cNvSpPr txBox="1"/>
          <p:nvPr/>
        </p:nvSpPr>
        <p:spPr>
          <a:xfrm>
            <a:off x="5267277" y="229862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{{2freq_1_5}}</a:t>
            </a:r>
          </a:p>
        </p:txBody>
      </p:sp>
      <p:sp>
        <p:nvSpPr>
          <p:cNvPr id="320005" name="TextBox 320005"/>
          <p:cNvSpPr txBox="1"/>
          <p:nvPr/>
        </p:nvSpPr>
        <p:spPr>
          <a:xfrm>
            <a:off x="5981975" y="229862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{{2freq_1_6}}</a:t>
            </a:r>
          </a:p>
        </p:txBody>
      </p:sp>
      <p:sp>
        <p:nvSpPr>
          <p:cNvPr id="320006" name="TextBox 320006"/>
          <p:cNvSpPr txBox="1"/>
          <p:nvPr/>
        </p:nvSpPr>
        <p:spPr>
          <a:xfrm>
            <a:off x="3695879" y="263878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{{2freq_2_1}}</a:t>
            </a:r>
          </a:p>
        </p:txBody>
      </p:sp>
      <p:sp>
        <p:nvSpPr>
          <p:cNvPr id="320007" name="TextBox 320007"/>
          <p:cNvSpPr txBox="1"/>
          <p:nvPr/>
        </p:nvSpPr>
        <p:spPr>
          <a:xfrm>
            <a:off x="4085719" y="263878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{{2freq_2_2}}</a:t>
            </a:r>
          </a:p>
        </p:txBody>
      </p:sp>
      <p:sp>
        <p:nvSpPr>
          <p:cNvPr id="320008" name="TextBox 320008"/>
          <p:cNvSpPr txBox="1"/>
          <p:nvPr/>
        </p:nvSpPr>
        <p:spPr>
          <a:xfrm>
            <a:off x="4439465" y="263878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{{2freq_2_3}}</a:t>
            </a:r>
          </a:p>
        </p:txBody>
      </p:sp>
      <p:sp>
        <p:nvSpPr>
          <p:cNvPr id="320009" name="TextBox 320009"/>
          <p:cNvSpPr txBox="1"/>
          <p:nvPr/>
        </p:nvSpPr>
        <p:spPr>
          <a:xfrm>
            <a:off x="4877435" y="263878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{{2freq_2_4}}</a:t>
            </a:r>
          </a:p>
        </p:txBody>
      </p:sp>
      <p:sp>
        <p:nvSpPr>
          <p:cNvPr id="320010" name="TextBox 320010"/>
          <p:cNvSpPr txBox="1"/>
          <p:nvPr/>
        </p:nvSpPr>
        <p:spPr>
          <a:xfrm>
            <a:off x="5267277" y="263878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{{2freq_2_5}}</a:t>
            </a:r>
          </a:p>
        </p:txBody>
      </p:sp>
      <p:sp>
        <p:nvSpPr>
          <p:cNvPr id="320011" name="TextBox 320011"/>
          <p:cNvSpPr txBox="1"/>
          <p:nvPr/>
        </p:nvSpPr>
        <p:spPr>
          <a:xfrm>
            <a:off x="5981975" y="263878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{{2freq_2_6}}</a:t>
            </a:r>
          </a:p>
        </p:txBody>
      </p:sp>
      <p:sp>
        <p:nvSpPr>
          <p:cNvPr id="320012" name="TextBox 320012"/>
          <p:cNvSpPr txBox="1"/>
          <p:nvPr/>
        </p:nvSpPr>
        <p:spPr>
          <a:xfrm>
            <a:off x="3695879" y="296691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{{2freq_3_1}}</a:t>
            </a:r>
          </a:p>
        </p:txBody>
      </p:sp>
      <p:sp>
        <p:nvSpPr>
          <p:cNvPr id="320013" name="TextBox 320013"/>
          <p:cNvSpPr txBox="1"/>
          <p:nvPr/>
        </p:nvSpPr>
        <p:spPr>
          <a:xfrm>
            <a:off x="4085719" y="296691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{{2freq_3_2}}</a:t>
            </a:r>
          </a:p>
        </p:txBody>
      </p:sp>
      <p:sp>
        <p:nvSpPr>
          <p:cNvPr id="320014" name="TextBox 320014"/>
          <p:cNvSpPr txBox="1"/>
          <p:nvPr/>
        </p:nvSpPr>
        <p:spPr>
          <a:xfrm>
            <a:off x="4439465" y="296691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{{2freq_3_3}}</a:t>
            </a:r>
          </a:p>
        </p:txBody>
      </p:sp>
      <p:sp>
        <p:nvSpPr>
          <p:cNvPr id="320015" name="TextBox 320015"/>
          <p:cNvSpPr txBox="1"/>
          <p:nvPr/>
        </p:nvSpPr>
        <p:spPr>
          <a:xfrm>
            <a:off x="4877435" y="296691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{{2freq_3_4}}</a:t>
            </a:r>
          </a:p>
        </p:txBody>
      </p:sp>
      <p:sp>
        <p:nvSpPr>
          <p:cNvPr id="320016" name="TextBox 320016"/>
          <p:cNvSpPr txBox="1"/>
          <p:nvPr/>
        </p:nvSpPr>
        <p:spPr>
          <a:xfrm>
            <a:off x="5267277" y="296691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{{2freq_3_5}}</a:t>
            </a:r>
          </a:p>
        </p:txBody>
      </p:sp>
      <p:sp>
        <p:nvSpPr>
          <p:cNvPr id="320017" name="TextBox 320017"/>
          <p:cNvSpPr txBox="1"/>
          <p:nvPr/>
        </p:nvSpPr>
        <p:spPr>
          <a:xfrm>
            <a:off x="5981975" y="296691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{{2freq_3_6}}</a:t>
            </a:r>
          </a:p>
        </p:txBody>
      </p:sp>
      <p:sp>
        <p:nvSpPr>
          <p:cNvPr id="320018" name="TextBox 320018"/>
          <p:cNvSpPr txBox="1"/>
          <p:nvPr/>
        </p:nvSpPr>
        <p:spPr>
          <a:xfrm>
            <a:off x="3695879" y="327097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{{2freq_4_1}}</a:t>
            </a:r>
          </a:p>
        </p:txBody>
      </p:sp>
      <p:sp>
        <p:nvSpPr>
          <p:cNvPr id="320019" name="TextBox 320019"/>
          <p:cNvSpPr txBox="1"/>
          <p:nvPr/>
        </p:nvSpPr>
        <p:spPr>
          <a:xfrm>
            <a:off x="4085719" y="327097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{{2freq_4_2}}</a:t>
            </a:r>
          </a:p>
        </p:txBody>
      </p:sp>
      <p:sp>
        <p:nvSpPr>
          <p:cNvPr id="320020" name="TextBox 320020"/>
          <p:cNvSpPr txBox="1"/>
          <p:nvPr/>
        </p:nvSpPr>
        <p:spPr>
          <a:xfrm>
            <a:off x="4439465" y="327097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{{2freq_4_3}}</a:t>
            </a:r>
          </a:p>
        </p:txBody>
      </p:sp>
      <p:sp>
        <p:nvSpPr>
          <p:cNvPr id="320021" name="TextBox 320021"/>
          <p:cNvSpPr txBox="1"/>
          <p:nvPr/>
        </p:nvSpPr>
        <p:spPr>
          <a:xfrm>
            <a:off x="4877435" y="327097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{{2freq_4_4}}</a:t>
            </a:r>
          </a:p>
        </p:txBody>
      </p:sp>
      <p:sp>
        <p:nvSpPr>
          <p:cNvPr id="320022" name="TextBox 320022"/>
          <p:cNvSpPr txBox="1"/>
          <p:nvPr/>
        </p:nvSpPr>
        <p:spPr>
          <a:xfrm>
            <a:off x="5267277" y="327097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{{2freq_4_5}}</a:t>
            </a:r>
          </a:p>
        </p:txBody>
      </p:sp>
      <p:sp>
        <p:nvSpPr>
          <p:cNvPr id="320023" name="TextBox 320023"/>
          <p:cNvSpPr txBox="1"/>
          <p:nvPr/>
        </p:nvSpPr>
        <p:spPr>
          <a:xfrm>
            <a:off x="5981975" y="327097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{{2freq_4_6}}</a:t>
            </a:r>
          </a:p>
        </p:txBody>
      </p:sp>
      <p:sp>
        <p:nvSpPr>
          <p:cNvPr id="320024" name="TextBox 320024"/>
          <p:cNvSpPr txBox="1"/>
          <p:nvPr/>
        </p:nvSpPr>
        <p:spPr>
          <a:xfrm>
            <a:off x="3695879" y="358706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{{2freq_5_1}}</a:t>
            </a:r>
          </a:p>
        </p:txBody>
      </p:sp>
      <p:sp>
        <p:nvSpPr>
          <p:cNvPr id="320025" name="TextBox 320025"/>
          <p:cNvSpPr txBox="1"/>
          <p:nvPr/>
        </p:nvSpPr>
        <p:spPr>
          <a:xfrm>
            <a:off x="4085719" y="358706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{{2freq_5_2}}</a:t>
            </a:r>
          </a:p>
        </p:txBody>
      </p:sp>
      <p:sp>
        <p:nvSpPr>
          <p:cNvPr id="320026" name="TextBox 320026"/>
          <p:cNvSpPr txBox="1"/>
          <p:nvPr/>
        </p:nvSpPr>
        <p:spPr>
          <a:xfrm>
            <a:off x="4439465" y="358706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{{2freq_5_3}}</a:t>
            </a:r>
          </a:p>
        </p:txBody>
      </p:sp>
      <p:sp>
        <p:nvSpPr>
          <p:cNvPr id="320027" name="TextBox 320027"/>
          <p:cNvSpPr txBox="1"/>
          <p:nvPr/>
        </p:nvSpPr>
        <p:spPr>
          <a:xfrm>
            <a:off x="4877435" y="358706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{{2freq_5_4}}</a:t>
            </a:r>
          </a:p>
        </p:txBody>
      </p:sp>
      <p:sp>
        <p:nvSpPr>
          <p:cNvPr id="320028" name="TextBox 320028"/>
          <p:cNvSpPr txBox="1"/>
          <p:nvPr/>
        </p:nvSpPr>
        <p:spPr>
          <a:xfrm>
            <a:off x="5267277" y="358706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{{2freq_5_5}}</a:t>
            </a:r>
          </a:p>
        </p:txBody>
      </p:sp>
      <p:sp>
        <p:nvSpPr>
          <p:cNvPr id="320029" name="TextBox 320029"/>
          <p:cNvSpPr txBox="1"/>
          <p:nvPr/>
        </p:nvSpPr>
        <p:spPr>
          <a:xfrm>
            <a:off x="5981975" y="358706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{{2freq_5_6}}</a:t>
            </a:r>
          </a:p>
        </p:txBody>
      </p:sp>
      <p:sp>
        <p:nvSpPr>
          <p:cNvPr id="320030" name="TextBox 320030"/>
          <p:cNvSpPr txBox="1"/>
          <p:nvPr/>
        </p:nvSpPr>
        <p:spPr>
          <a:xfrm>
            <a:off x="3695879" y="467317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{{2freq_6_1}}</a:t>
            </a:r>
          </a:p>
        </p:txBody>
      </p:sp>
      <p:sp>
        <p:nvSpPr>
          <p:cNvPr id="320031" name="TextBox 320031"/>
          <p:cNvSpPr txBox="1"/>
          <p:nvPr/>
        </p:nvSpPr>
        <p:spPr>
          <a:xfrm>
            <a:off x="4085719" y="467317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{{2freq_6_2}}</a:t>
            </a:r>
          </a:p>
        </p:txBody>
      </p:sp>
      <p:sp>
        <p:nvSpPr>
          <p:cNvPr id="320032" name="TextBox 320032"/>
          <p:cNvSpPr txBox="1"/>
          <p:nvPr/>
        </p:nvSpPr>
        <p:spPr>
          <a:xfrm>
            <a:off x="4439465" y="467317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{{2freq_6_3}}</a:t>
            </a:r>
          </a:p>
        </p:txBody>
      </p:sp>
      <p:sp>
        <p:nvSpPr>
          <p:cNvPr id="320033" name="TextBox 320033"/>
          <p:cNvSpPr txBox="1"/>
          <p:nvPr/>
        </p:nvSpPr>
        <p:spPr>
          <a:xfrm>
            <a:off x="4877435" y="467317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{{2freq_6_4}}</a:t>
            </a:r>
          </a:p>
        </p:txBody>
      </p:sp>
      <p:sp>
        <p:nvSpPr>
          <p:cNvPr id="320034" name="TextBox 320034"/>
          <p:cNvSpPr txBox="1"/>
          <p:nvPr/>
        </p:nvSpPr>
        <p:spPr>
          <a:xfrm>
            <a:off x="5267277" y="467317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{{2freq_6_5}}</a:t>
            </a:r>
          </a:p>
        </p:txBody>
      </p:sp>
      <p:sp>
        <p:nvSpPr>
          <p:cNvPr id="320035" name="TextBox 320035"/>
          <p:cNvSpPr txBox="1"/>
          <p:nvPr/>
        </p:nvSpPr>
        <p:spPr>
          <a:xfrm>
            <a:off x="5981975" y="467317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{{2freq_6_6}}</a:t>
            </a:r>
          </a:p>
        </p:txBody>
      </p:sp>
      <p:sp>
        <p:nvSpPr>
          <p:cNvPr id="320036" name="TextBox 320036"/>
          <p:cNvSpPr txBox="1"/>
          <p:nvPr/>
        </p:nvSpPr>
        <p:spPr>
          <a:xfrm>
            <a:off x="3695879" y="498927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{{2freq_7_1}}</a:t>
            </a:r>
          </a:p>
        </p:txBody>
      </p:sp>
      <p:sp>
        <p:nvSpPr>
          <p:cNvPr id="320037" name="TextBox 320037"/>
          <p:cNvSpPr txBox="1"/>
          <p:nvPr/>
        </p:nvSpPr>
        <p:spPr>
          <a:xfrm>
            <a:off x="4085719" y="498927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{{2freq_7_2}}</a:t>
            </a:r>
          </a:p>
        </p:txBody>
      </p:sp>
      <p:sp>
        <p:nvSpPr>
          <p:cNvPr id="320038" name="TextBox 320038"/>
          <p:cNvSpPr txBox="1"/>
          <p:nvPr/>
        </p:nvSpPr>
        <p:spPr>
          <a:xfrm>
            <a:off x="4439465" y="498927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{{2freq_7_3}}</a:t>
            </a:r>
          </a:p>
        </p:txBody>
      </p:sp>
      <p:sp>
        <p:nvSpPr>
          <p:cNvPr id="320039" name="TextBox 320039"/>
          <p:cNvSpPr txBox="1"/>
          <p:nvPr/>
        </p:nvSpPr>
        <p:spPr>
          <a:xfrm>
            <a:off x="4877435" y="498927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{{2freq_7_4}}</a:t>
            </a:r>
          </a:p>
        </p:txBody>
      </p:sp>
      <p:sp>
        <p:nvSpPr>
          <p:cNvPr id="320040" name="TextBox 320040"/>
          <p:cNvSpPr txBox="1"/>
          <p:nvPr/>
        </p:nvSpPr>
        <p:spPr>
          <a:xfrm>
            <a:off x="5267277" y="498927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{{2freq_7_5}}</a:t>
            </a:r>
          </a:p>
        </p:txBody>
      </p:sp>
      <p:sp>
        <p:nvSpPr>
          <p:cNvPr id="320041" name="TextBox 320041"/>
          <p:cNvSpPr txBox="1"/>
          <p:nvPr/>
        </p:nvSpPr>
        <p:spPr>
          <a:xfrm>
            <a:off x="5981975" y="498927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{{2freq_7_6}}</a:t>
            </a:r>
          </a:p>
        </p:txBody>
      </p:sp>
      <p:sp>
        <p:nvSpPr>
          <p:cNvPr id="320042" name="TextBox 320042"/>
          <p:cNvSpPr txBox="1"/>
          <p:nvPr/>
        </p:nvSpPr>
        <p:spPr>
          <a:xfrm>
            <a:off x="3695879" y="537756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{{2freq_8_1}}</a:t>
            </a:r>
          </a:p>
        </p:txBody>
      </p:sp>
      <p:sp>
        <p:nvSpPr>
          <p:cNvPr id="320043" name="TextBox 320043"/>
          <p:cNvSpPr txBox="1"/>
          <p:nvPr/>
        </p:nvSpPr>
        <p:spPr>
          <a:xfrm>
            <a:off x="4085719" y="537756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{{2freq_8_2}}</a:t>
            </a:r>
          </a:p>
        </p:txBody>
      </p:sp>
      <p:sp>
        <p:nvSpPr>
          <p:cNvPr id="320044" name="TextBox 320044"/>
          <p:cNvSpPr txBox="1"/>
          <p:nvPr/>
        </p:nvSpPr>
        <p:spPr>
          <a:xfrm>
            <a:off x="4439465" y="537756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{{2freq_8_3}}</a:t>
            </a:r>
          </a:p>
        </p:txBody>
      </p:sp>
      <p:sp>
        <p:nvSpPr>
          <p:cNvPr id="320045" name="TextBox 320045"/>
          <p:cNvSpPr txBox="1"/>
          <p:nvPr/>
        </p:nvSpPr>
        <p:spPr>
          <a:xfrm>
            <a:off x="4877435" y="537756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{{2freq_8_4}}</a:t>
            </a:r>
          </a:p>
        </p:txBody>
      </p:sp>
      <p:sp>
        <p:nvSpPr>
          <p:cNvPr id="320046" name="TextBox 320046"/>
          <p:cNvSpPr txBox="1"/>
          <p:nvPr/>
        </p:nvSpPr>
        <p:spPr>
          <a:xfrm>
            <a:off x="5267277" y="537756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{{2freq_8_5}}</a:t>
            </a:r>
          </a:p>
        </p:txBody>
      </p:sp>
      <p:sp>
        <p:nvSpPr>
          <p:cNvPr id="320047" name="TextBox 320047"/>
          <p:cNvSpPr txBox="1"/>
          <p:nvPr/>
        </p:nvSpPr>
        <p:spPr>
          <a:xfrm>
            <a:off x="5981975" y="537756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{{2freq_8_6}}</a:t>
            </a:r>
          </a:p>
        </p:txBody>
      </p:sp>
      <p:sp>
        <p:nvSpPr>
          <p:cNvPr id="320048" name="TextBox 320048"/>
          <p:cNvSpPr txBox="1"/>
          <p:nvPr/>
        </p:nvSpPr>
        <p:spPr>
          <a:xfrm>
            <a:off x="3683847" y="6066644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{{2freq_9_1}}</a:t>
            </a:r>
          </a:p>
        </p:txBody>
      </p:sp>
      <p:sp>
        <p:nvSpPr>
          <p:cNvPr id="320049" name="TextBox 320049"/>
          <p:cNvSpPr txBox="1"/>
          <p:nvPr/>
        </p:nvSpPr>
        <p:spPr>
          <a:xfrm>
            <a:off x="4073687" y="6066644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{{2freq_9_2}}</a:t>
            </a:r>
          </a:p>
        </p:txBody>
      </p:sp>
      <p:sp>
        <p:nvSpPr>
          <p:cNvPr id="320050" name="TextBox 320050"/>
          <p:cNvSpPr txBox="1"/>
          <p:nvPr/>
        </p:nvSpPr>
        <p:spPr>
          <a:xfrm>
            <a:off x="4427433" y="6066644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{{2freq_9_3}}</a:t>
            </a:r>
          </a:p>
        </p:txBody>
      </p:sp>
      <p:sp>
        <p:nvSpPr>
          <p:cNvPr id="320051" name="TextBox 320051"/>
          <p:cNvSpPr txBox="1"/>
          <p:nvPr/>
        </p:nvSpPr>
        <p:spPr>
          <a:xfrm>
            <a:off x="4865403" y="6066644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{{2freq_9_4}}</a:t>
            </a:r>
          </a:p>
        </p:txBody>
      </p:sp>
      <p:sp>
        <p:nvSpPr>
          <p:cNvPr id="320052" name="TextBox 320052"/>
          <p:cNvSpPr txBox="1"/>
          <p:nvPr/>
        </p:nvSpPr>
        <p:spPr>
          <a:xfrm>
            <a:off x="5255245" y="6066644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{{2freq_9_5}}</a:t>
            </a:r>
          </a:p>
        </p:txBody>
      </p:sp>
      <p:sp>
        <p:nvSpPr>
          <p:cNvPr id="320053" name="TextBox 320053"/>
          <p:cNvSpPr txBox="1"/>
          <p:nvPr/>
        </p:nvSpPr>
        <p:spPr>
          <a:xfrm>
            <a:off x="5969943" y="6066644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{{2freq_9_6}}</a:t>
            </a:r>
          </a:p>
        </p:txBody>
      </p:sp>
      <p:sp>
        <p:nvSpPr>
          <p:cNvPr id="320054" name="TextBox 320054"/>
          <p:cNvSpPr txBox="1"/>
          <p:nvPr/>
        </p:nvSpPr>
        <p:spPr>
          <a:xfrm>
            <a:off x="3695879" y="638272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{{2freq_10_1}}</a:t>
            </a:r>
          </a:p>
        </p:txBody>
      </p:sp>
      <p:sp>
        <p:nvSpPr>
          <p:cNvPr id="320055" name="TextBox 320055"/>
          <p:cNvSpPr txBox="1"/>
          <p:nvPr/>
        </p:nvSpPr>
        <p:spPr>
          <a:xfrm>
            <a:off x="4085719" y="638272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{{2freq_10_2}}</a:t>
            </a:r>
          </a:p>
        </p:txBody>
      </p:sp>
      <p:sp>
        <p:nvSpPr>
          <p:cNvPr id="320056" name="TextBox 320056"/>
          <p:cNvSpPr txBox="1"/>
          <p:nvPr/>
        </p:nvSpPr>
        <p:spPr>
          <a:xfrm>
            <a:off x="4439465" y="638272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{{2freq_10_3}}</a:t>
            </a:r>
          </a:p>
        </p:txBody>
      </p:sp>
      <p:sp>
        <p:nvSpPr>
          <p:cNvPr id="320057" name="TextBox 320057"/>
          <p:cNvSpPr txBox="1"/>
          <p:nvPr/>
        </p:nvSpPr>
        <p:spPr>
          <a:xfrm>
            <a:off x="4877435" y="638272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{{2freq_10_4}}</a:t>
            </a:r>
          </a:p>
        </p:txBody>
      </p:sp>
      <p:sp>
        <p:nvSpPr>
          <p:cNvPr id="320058" name="TextBox 320058"/>
          <p:cNvSpPr txBox="1"/>
          <p:nvPr/>
        </p:nvSpPr>
        <p:spPr>
          <a:xfrm>
            <a:off x="5267277" y="638272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{{2freq_10_5}}</a:t>
            </a:r>
          </a:p>
        </p:txBody>
      </p:sp>
      <p:sp>
        <p:nvSpPr>
          <p:cNvPr id="320059" name="TextBox 320059"/>
          <p:cNvSpPr txBox="1"/>
          <p:nvPr/>
        </p:nvSpPr>
        <p:spPr>
          <a:xfrm>
            <a:off x="5981975" y="638272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{{2freq_10_6}}</a:t>
            </a:r>
          </a:p>
        </p:txBody>
      </p:sp>
      <p:sp>
        <p:nvSpPr>
          <p:cNvPr id="320060" name="TextBox 320060"/>
          <p:cNvSpPr txBox="1"/>
          <p:nvPr/>
        </p:nvSpPr>
        <p:spPr>
          <a:xfrm>
            <a:off x="3695879" y="677101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{{2freq_11_1}}</a:t>
            </a:r>
          </a:p>
        </p:txBody>
      </p:sp>
      <p:sp>
        <p:nvSpPr>
          <p:cNvPr id="320061" name="TextBox 320061"/>
          <p:cNvSpPr txBox="1"/>
          <p:nvPr/>
        </p:nvSpPr>
        <p:spPr>
          <a:xfrm>
            <a:off x="4085719" y="677101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{{2freq_11_2}}</a:t>
            </a:r>
          </a:p>
        </p:txBody>
      </p:sp>
      <p:sp>
        <p:nvSpPr>
          <p:cNvPr id="320062" name="TextBox 320062"/>
          <p:cNvSpPr txBox="1"/>
          <p:nvPr/>
        </p:nvSpPr>
        <p:spPr>
          <a:xfrm>
            <a:off x="4439465" y="677101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{{2freq_11_3}}</a:t>
            </a:r>
          </a:p>
        </p:txBody>
      </p:sp>
      <p:sp>
        <p:nvSpPr>
          <p:cNvPr id="320063" name="TextBox 320063"/>
          <p:cNvSpPr txBox="1"/>
          <p:nvPr/>
        </p:nvSpPr>
        <p:spPr>
          <a:xfrm>
            <a:off x="4877435" y="677101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{{2freq_11_4}}</a:t>
            </a:r>
          </a:p>
        </p:txBody>
      </p:sp>
      <p:sp>
        <p:nvSpPr>
          <p:cNvPr id="320064" name="TextBox 320064"/>
          <p:cNvSpPr txBox="1"/>
          <p:nvPr/>
        </p:nvSpPr>
        <p:spPr>
          <a:xfrm>
            <a:off x="5267277" y="677101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{{2freq_11_5}}</a:t>
            </a:r>
          </a:p>
        </p:txBody>
      </p:sp>
      <p:sp>
        <p:nvSpPr>
          <p:cNvPr id="320065" name="TextBox 320065"/>
          <p:cNvSpPr txBox="1"/>
          <p:nvPr/>
        </p:nvSpPr>
        <p:spPr>
          <a:xfrm>
            <a:off x="5981975" y="677101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{{2freq_11_6}}</a:t>
            </a:r>
          </a:p>
        </p:txBody>
      </p:sp>
      <p:sp>
        <p:nvSpPr>
          <p:cNvPr id="320066" name="TextBox 320066"/>
          <p:cNvSpPr txBox="1"/>
          <p:nvPr/>
        </p:nvSpPr>
        <p:spPr>
          <a:xfrm>
            <a:off x="3695879" y="713524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{{2freq_12_1}}</a:t>
            </a:r>
          </a:p>
        </p:txBody>
      </p:sp>
      <p:sp>
        <p:nvSpPr>
          <p:cNvPr id="320067" name="TextBox 320067"/>
          <p:cNvSpPr txBox="1"/>
          <p:nvPr/>
        </p:nvSpPr>
        <p:spPr>
          <a:xfrm>
            <a:off x="4085719" y="713524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{{2freq_12_2}}</a:t>
            </a:r>
          </a:p>
        </p:txBody>
      </p:sp>
      <p:sp>
        <p:nvSpPr>
          <p:cNvPr id="320068" name="TextBox 320068"/>
          <p:cNvSpPr txBox="1"/>
          <p:nvPr/>
        </p:nvSpPr>
        <p:spPr>
          <a:xfrm>
            <a:off x="4439465" y="713524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{{2freq_12_3}}</a:t>
            </a:r>
          </a:p>
        </p:txBody>
      </p:sp>
      <p:sp>
        <p:nvSpPr>
          <p:cNvPr id="320069" name="TextBox 320069"/>
          <p:cNvSpPr txBox="1"/>
          <p:nvPr/>
        </p:nvSpPr>
        <p:spPr>
          <a:xfrm>
            <a:off x="4877435" y="713524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{{2freq_12_4}}</a:t>
            </a:r>
          </a:p>
        </p:txBody>
      </p:sp>
      <p:sp>
        <p:nvSpPr>
          <p:cNvPr id="320070" name="TextBox 320070"/>
          <p:cNvSpPr txBox="1"/>
          <p:nvPr/>
        </p:nvSpPr>
        <p:spPr>
          <a:xfrm>
            <a:off x="5267277" y="713524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{{2freq_12_5}}</a:t>
            </a:r>
          </a:p>
        </p:txBody>
      </p:sp>
      <p:sp>
        <p:nvSpPr>
          <p:cNvPr id="320071" name="TextBox 320071"/>
          <p:cNvSpPr txBox="1"/>
          <p:nvPr/>
        </p:nvSpPr>
        <p:spPr>
          <a:xfrm>
            <a:off x="5981975" y="713524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{{2freq_12_6}}</a:t>
            </a:r>
          </a:p>
        </p:txBody>
      </p:sp>
      <p:sp>
        <p:nvSpPr>
          <p:cNvPr id="320072" name="TextBox 320072"/>
          <p:cNvSpPr txBox="1"/>
          <p:nvPr/>
        </p:nvSpPr>
        <p:spPr>
          <a:xfrm>
            <a:off x="3695879" y="7475384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{{2freq_13_1}}</a:t>
            </a:r>
          </a:p>
        </p:txBody>
      </p:sp>
      <p:sp>
        <p:nvSpPr>
          <p:cNvPr id="320073" name="TextBox 320073"/>
          <p:cNvSpPr txBox="1"/>
          <p:nvPr/>
        </p:nvSpPr>
        <p:spPr>
          <a:xfrm>
            <a:off x="4085719" y="7475384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{{2freq_13_2}}</a:t>
            </a:r>
          </a:p>
        </p:txBody>
      </p:sp>
      <p:sp>
        <p:nvSpPr>
          <p:cNvPr id="320074" name="TextBox 320074"/>
          <p:cNvSpPr txBox="1"/>
          <p:nvPr/>
        </p:nvSpPr>
        <p:spPr>
          <a:xfrm>
            <a:off x="4439465" y="7475384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{{2freq_13_3}}</a:t>
            </a:r>
          </a:p>
        </p:txBody>
      </p:sp>
      <p:sp>
        <p:nvSpPr>
          <p:cNvPr id="320075" name="TextBox 320075"/>
          <p:cNvSpPr txBox="1"/>
          <p:nvPr/>
        </p:nvSpPr>
        <p:spPr>
          <a:xfrm>
            <a:off x="4877435" y="7475384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{{2freq_13_4}}</a:t>
            </a:r>
          </a:p>
        </p:txBody>
      </p:sp>
      <p:sp>
        <p:nvSpPr>
          <p:cNvPr id="320076" name="TextBox 320076"/>
          <p:cNvSpPr txBox="1"/>
          <p:nvPr/>
        </p:nvSpPr>
        <p:spPr>
          <a:xfrm>
            <a:off x="5267277" y="7475384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{{2freq_13_5}}</a:t>
            </a:r>
          </a:p>
        </p:txBody>
      </p:sp>
      <p:sp>
        <p:nvSpPr>
          <p:cNvPr id="320077" name="TextBox 320077"/>
          <p:cNvSpPr txBox="1"/>
          <p:nvPr/>
        </p:nvSpPr>
        <p:spPr>
          <a:xfrm>
            <a:off x="5981975" y="7475384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{{2freq_13_6}}</a:t>
            </a:r>
          </a:p>
        </p:txBody>
      </p:sp>
    </p:spTree>
    <p:extLst>
      <p:ext uri="{BB962C8B-B14F-4D97-AF65-F5344CB8AC3E}">
        <p14:creationId xmlns:p14="http://schemas.microsoft.com/office/powerpoint/2010/main" val="24460149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ตาราง 1">
            <a:extLst>
              <a:ext uri="{FF2B5EF4-FFF2-40B4-BE49-F238E27FC236}">
                <a16:creationId xmlns:a16="http://schemas.microsoft.com/office/drawing/2014/main" id="{02E5D1F5-F7A8-4CC9-B3B9-E2A9CFA0D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8806810"/>
              </p:ext>
            </p:extLst>
          </p:nvPr>
        </p:nvGraphicFramePr>
        <p:xfrm>
          <a:off x="638175" y="3376205"/>
          <a:ext cx="6156000" cy="596265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4000">
                  <a:extLst>
                    <a:ext uri="{9D8B030D-6E8A-4147-A177-3AD203B41FA5}">
                      <a16:colId xmlns:a16="http://schemas.microsoft.com/office/drawing/2014/main" val="439563071"/>
                    </a:ext>
                  </a:extLst>
                </a:gridCol>
                <a:gridCol w="3780000">
                  <a:extLst>
                    <a:ext uri="{9D8B030D-6E8A-4147-A177-3AD203B41FA5}">
                      <a16:colId xmlns:a16="http://schemas.microsoft.com/office/drawing/2014/main" val="180819764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57931776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928680447"/>
                    </a:ext>
                  </a:extLst>
                </a:gridCol>
                <a:gridCol w="1476000">
                  <a:extLst>
                    <a:ext uri="{9D8B030D-6E8A-4147-A177-3AD203B41FA5}">
                      <a16:colId xmlns:a16="http://schemas.microsoft.com/office/drawing/2014/main" val="3838557773"/>
                    </a:ext>
                  </a:extLst>
                </a:gridCol>
              </a:tblGrid>
              <a:tr h="576000">
                <a:tc rowSpan="2">
                  <a:txBody>
                    <a:bodyPr/>
                    <a:lstStyle/>
                    <a:p>
                      <a:pPr marL="7175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ลำดับที่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รายการตรวจสอบ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71755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รอบที่ 1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หมายเหตุ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8256"/>
                  </a:ext>
                </a:extLst>
              </a:tr>
              <a:tr h="57600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ใช้ได้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4153371"/>
                  </a:ext>
                </a:extLst>
              </a:tr>
              <a:tr h="5602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u="sng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การตรวจสอบความมั่นคงแข็งแรงของป้าย หรือสิ่งที่สร้างขึ้นสำหรับติดหรือตั้งป้าย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8701368"/>
                  </a:ext>
                </a:extLst>
              </a:tr>
              <a:tr h="0">
                <a:tc rowSpan="8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1.1	การต่อเติมดัดแปลงปรับปรุงขนาดของป้ายหรือสิ่งที่สร้างขึ้นสำหรับติดหรือตั้งป้าย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184429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1.2	การเปลี่ยนแปลงน้ำหนักของแผ่นป้าย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131539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1.3	การเปลี่ยนสภาพการใช้งานของป้ายหรือสิ่งที่สร้างขึ้นสำหรับติดหรือตั้งป้าย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621488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1.4	การเปลี่ยนแปลงวัสดุของป้ายหรือสิ่งที่สร้างขึ้นสำหรับติดหรือตั้งป้าย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7655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1.5	การชำรุดสึกหรอของป้ายหรือสิ่งที่สร้างขึ้นสำหรับติดหรือตั้งป้าย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11117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1.6	การวิบัติของป้ายหรือสิ่งที่สร้างขึ้นสำหรับติดหรือตั้งป้าย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85811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1.7	ความมั่นคงแข็งแรงของโครงสร้างและฐานรากของสิ่งที่สร้างขึ้นสำหรับติดหรือตั้งป้าย (กรณีป้ายที่ติดตั้งบนพื้นดิน)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551940" algn="l"/>
                        </a:tabLs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17197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1.8	ความมั่นคงแข็งแรงของอาคารที่ติดตั้งป้าย (กรณีป้ายบนหลังคา หรือบนดาดฟ้าอาคาร หรือบนส่วนหนึ่งส่วนใดของอาคาร)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551940" algn="l"/>
                        </a:tabLs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6645579"/>
                  </a:ext>
                </a:extLst>
              </a:tr>
            </a:tbl>
          </a:graphicData>
        </a:graphic>
      </p:graphicFrame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2CB95B00-3785-45FC-B2FB-B0AE367D32DC}"/>
              </a:ext>
            </a:extLst>
          </p:cNvPr>
          <p:cNvSpPr/>
          <p:nvPr/>
        </p:nvSpPr>
        <p:spPr>
          <a:xfrm>
            <a:off x="558001" y="7452"/>
            <a:ext cx="6264000" cy="540168"/>
          </a:xfrm>
          <a:prstGeom prst="roundRect">
            <a:avLst/>
          </a:prstGeom>
          <a:noFill/>
          <a:ln cmpd="thickThin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Pro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fire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Inspector Co., Ltd.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B60B6D37-3BF5-461F-B861-1DA9D7AB4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r="5723"/>
          <a:stretch/>
        </p:blipFill>
        <p:spPr>
          <a:xfrm>
            <a:off x="640551" y="25536"/>
            <a:ext cx="318995" cy="504000"/>
          </a:xfrm>
          <a:prstGeom prst="roundRect">
            <a:avLst>
              <a:gd name="adj" fmla="val 6831"/>
            </a:avLst>
          </a:prstGeom>
          <a:ln>
            <a:noFill/>
          </a:ln>
          <a:effectLst/>
        </p:spPr>
      </p:pic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8</a:t>
            </a:r>
          </a:p>
        </p:txBody>
      </p: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62B959BF-7EF4-40E9-9FE4-C35024EDEBC0}"/>
              </a:ext>
            </a:extLst>
          </p:cNvPr>
          <p:cNvCxnSpPr>
            <a:cxnSpLocks/>
          </p:cNvCxnSpPr>
          <p:nvPr/>
        </p:nvCxnSpPr>
        <p:spPr>
          <a:xfrm flipH="1">
            <a:off x="558001" y="548997"/>
            <a:ext cx="6264000" cy="0"/>
          </a:xfrm>
          <a:prstGeom prst="line">
            <a:avLst/>
          </a:prstGeom>
          <a:ln w="41275" cmpd="thickThin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ตัวเชื่อมต่อตรง 22">
            <a:extLst>
              <a:ext uri="{FF2B5EF4-FFF2-40B4-BE49-F238E27FC236}">
                <a16:creationId xmlns:a16="http://schemas.microsoft.com/office/drawing/2014/main" id="{52198961-507F-4793-B45D-FC07B1CDDBCD}"/>
              </a:ext>
            </a:extLst>
          </p:cNvPr>
          <p:cNvCxnSpPr>
            <a:cxnSpLocks/>
          </p:cNvCxnSpPr>
          <p:nvPr/>
        </p:nvCxnSpPr>
        <p:spPr>
          <a:xfrm flipH="1">
            <a:off x="558001" y="9413457"/>
            <a:ext cx="6264000" cy="0"/>
          </a:xfrm>
          <a:prstGeom prst="line">
            <a:avLst/>
          </a:prstGeom>
          <a:ln w="41275" cmpd="thinThick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357CDA8F-4D85-43B1-A53F-BEC5CFE8FDE8}"/>
              </a:ext>
            </a:extLst>
          </p:cNvPr>
          <p:cNvSpPr/>
          <p:nvPr/>
        </p:nvSpPr>
        <p:spPr>
          <a:xfrm>
            <a:off x="558000" y="565704"/>
            <a:ext cx="6300000" cy="8847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29FA25DA-9DA5-4822-87CF-7B3F28E90F85}"/>
              </a:ext>
            </a:extLst>
          </p:cNvPr>
          <p:cNvSpPr txBox="1"/>
          <p:nvPr/>
        </p:nvSpPr>
        <p:spPr>
          <a:xfrm>
            <a:off x="558000" y="711200"/>
            <a:ext cx="6300000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h-TH" sz="2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6 ผลการตรวจสภาพป้าย และอุปกรณ์ประกอบของป้าย</a:t>
            </a:r>
          </a:p>
        </p:txBody>
      </p:sp>
      <p:sp>
        <p:nvSpPr>
          <p:cNvPr id="12" name="กล่องข้อความ 11">
            <a:extLst>
              <a:ext uri="{FF2B5EF4-FFF2-40B4-BE49-F238E27FC236}">
                <a16:creationId xmlns:a16="http://schemas.microsoft.com/office/drawing/2014/main" id="{3B490B19-25C9-4D75-8A39-FEA23236A568}"/>
              </a:ext>
            </a:extLst>
          </p:cNvPr>
          <p:cNvSpPr txBox="1"/>
          <p:nvPr/>
        </p:nvSpPr>
        <p:spPr>
          <a:xfrm>
            <a:off x="557998" y="1121884"/>
            <a:ext cx="6300001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358775" algn="thaiDist">
              <a:tabLst>
                <a:tab pos="625475" algn="l"/>
              </a:tabLst>
            </a:pPr>
            <a:endParaRPr lang="th-TH" sz="10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6 เป็นผลการตรวจสอบการบำรุงรักษาป้าย และอุปกรณ์ประกอบต่าง ๆ ของป้ายตามที่เจ้าของป้าย หรือผู้ดูแลป้ายสามารถสังเกตได้ด้วยสายตา ไม่รวมถึงการทดสอบที่ใช้เครื่องมือพิเศษเฉพาะ</a:t>
            </a: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การตรวจสอบการบำรุงรักษาป้าย และอุปกรณ์ประกอบต่าง ๆ ของป้าย เจ้าของ หรือ ผู้ดูแลป้ายจะต้องพิจารณาตามรายละเอียดในการตรวจบำรุงรักษาป้ายและอุปกรณ์ประกอบของป้าย และคู่มือปฏิบัติการตามแผน ที่ผู้ตรวจสอบอาคารได้กำหนดไว้ และความถี่ในการตรวจไม่น้อยกว่า ที่ผู้ตรวจสอบอาคารได้กำหนดไว้</a:t>
            </a: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กรณีที่พบว่าสภาพของป้าย หรืออุปกรณ์ประกอบต่าง ๆ ของป้ายมีการชำรุด เสียหาย ต้องแก้ไขผิดปกตหรือใช้งานไม่ได้เจ้าของป้าย หรือผู้ดูแลป้ายจะต้องบันทึกรายละเอียดแต่ละรายการให้ชัดเจนและแจ้งผลให้ ผู้ตรวจสอบทราบโดยเร็ว</a:t>
            </a:r>
            <a:endParaRPr lang="th-TH" sz="1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30000" name="TextBox 330000"/>
          <p:cNvSpPr txBox="1"/>
          <p:nvPr/>
        </p:nvSpPr>
        <p:spPr>
          <a:xfrm>
            <a:off x="4633061" y="2894915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{{6a_1_1}}</a:t>
            </a:r>
          </a:p>
        </p:txBody>
      </p:sp>
      <p:sp>
        <p:nvSpPr>
          <p:cNvPr id="330001" name="TextBox 330001"/>
          <p:cNvSpPr txBox="1"/>
          <p:nvPr/>
        </p:nvSpPr>
        <p:spPr>
          <a:xfrm>
            <a:off x="4940551" y="2894915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{{6a_1_2}}</a:t>
            </a:r>
          </a:p>
        </p:txBody>
      </p:sp>
      <p:sp>
        <p:nvSpPr>
          <p:cNvPr id="330002" name="TextBox 330002"/>
          <p:cNvSpPr txBox="1"/>
          <p:nvPr/>
        </p:nvSpPr>
        <p:spPr>
          <a:xfrm>
            <a:off x="4611270" y="4511139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{{6a_2_1}}</a:t>
            </a:r>
          </a:p>
        </p:txBody>
      </p:sp>
      <p:sp>
        <p:nvSpPr>
          <p:cNvPr id="330003" name="TextBox 330003"/>
          <p:cNvSpPr txBox="1"/>
          <p:nvPr/>
        </p:nvSpPr>
        <p:spPr>
          <a:xfrm>
            <a:off x="4918760" y="4511139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{{6a_2_2}}</a:t>
            </a:r>
          </a:p>
        </p:txBody>
      </p:sp>
      <p:sp>
        <p:nvSpPr>
          <p:cNvPr id="330004" name="TextBox 330004"/>
          <p:cNvSpPr txBox="1"/>
          <p:nvPr/>
        </p:nvSpPr>
        <p:spPr>
          <a:xfrm>
            <a:off x="4599599" y="5241044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{{6a_3_1}}</a:t>
            </a:r>
          </a:p>
        </p:txBody>
      </p:sp>
      <p:sp>
        <p:nvSpPr>
          <p:cNvPr id="330005" name="TextBox 330005"/>
          <p:cNvSpPr txBox="1"/>
          <p:nvPr/>
        </p:nvSpPr>
        <p:spPr>
          <a:xfrm>
            <a:off x="4907089" y="5241044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{{6a_3_2}}</a:t>
            </a:r>
          </a:p>
        </p:txBody>
      </p:sp>
      <p:sp>
        <p:nvSpPr>
          <p:cNvPr id="330006" name="TextBox 330006"/>
          <p:cNvSpPr txBox="1"/>
          <p:nvPr/>
        </p:nvSpPr>
        <p:spPr>
          <a:xfrm>
            <a:off x="4599599" y="5681689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{{6a_4_1}}</a:t>
            </a:r>
          </a:p>
        </p:txBody>
      </p:sp>
      <p:sp>
        <p:nvSpPr>
          <p:cNvPr id="330007" name="TextBox 330007"/>
          <p:cNvSpPr txBox="1"/>
          <p:nvPr/>
        </p:nvSpPr>
        <p:spPr>
          <a:xfrm>
            <a:off x="4907089" y="5681689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{{6a_4_2}}</a:t>
            </a:r>
          </a:p>
        </p:txBody>
      </p:sp>
      <p:sp>
        <p:nvSpPr>
          <p:cNvPr id="330008" name="TextBox 330008"/>
          <p:cNvSpPr txBox="1"/>
          <p:nvPr/>
        </p:nvSpPr>
        <p:spPr>
          <a:xfrm>
            <a:off x="4611667" y="6129817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{{6a_5_1}}</a:t>
            </a:r>
          </a:p>
        </p:txBody>
      </p:sp>
      <p:sp>
        <p:nvSpPr>
          <p:cNvPr id="330009" name="TextBox 330009"/>
          <p:cNvSpPr txBox="1"/>
          <p:nvPr/>
        </p:nvSpPr>
        <p:spPr>
          <a:xfrm>
            <a:off x="4919157" y="6129817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{{6a_5_2}}</a:t>
            </a:r>
          </a:p>
        </p:txBody>
      </p:sp>
      <p:sp>
        <p:nvSpPr>
          <p:cNvPr id="330010" name="TextBox 330010"/>
          <p:cNvSpPr txBox="1"/>
          <p:nvPr/>
        </p:nvSpPr>
        <p:spPr>
          <a:xfrm>
            <a:off x="4633061" y="6729817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{{6a_6_1}}</a:t>
            </a:r>
          </a:p>
        </p:txBody>
      </p:sp>
      <p:sp>
        <p:nvSpPr>
          <p:cNvPr id="330011" name="TextBox 330011"/>
          <p:cNvSpPr txBox="1"/>
          <p:nvPr/>
        </p:nvSpPr>
        <p:spPr>
          <a:xfrm>
            <a:off x="4940551" y="6729817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{{6a_6_2}}</a:t>
            </a:r>
          </a:p>
        </p:txBody>
      </p:sp>
      <p:sp>
        <p:nvSpPr>
          <p:cNvPr id="330012" name="TextBox 330012"/>
          <p:cNvSpPr txBox="1"/>
          <p:nvPr/>
        </p:nvSpPr>
        <p:spPr>
          <a:xfrm>
            <a:off x="4633061" y="7370462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{{6a_7_1}}</a:t>
            </a:r>
          </a:p>
        </p:txBody>
      </p:sp>
      <p:sp>
        <p:nvSpPr>
          <p:cNvPr id="330013" name="TextBox 330013"/>
          <p:cNvSpPr txBox="1"/>
          <p:nvPr/>
        </p:nvSpPr>
        <p:spPr>
          <a:xfrm>
            <a:off x="4940551" y="7370462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{{6a_7_2}}</a:t>
            </a:r>
          </a:p>
        </p:txBody>
      </p:sp>
      <p:sp>
        <p:nvSpPr>
          <p:cNvPr id="330014" name="TextBox 330014"/>
          <p:cNvSpPr txBox="1"/>
          <p:nvPr/>
        </p:nvSpPr>
        <p:spPr>
          <a:xfrm>
            <a:off x="4606333" y="7789627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{{6a_8_1}}</a:t>
            </a:r>
          </a:p>
        </p:txBody>
      </p:sp>
      <p:sp>
        <p:nvSpPr>
          <p:cNvPr id="330015" name="TextBox 330015"/>
          <p:cNvSpPr txBox="1"/>
          <p:nvPr/>
        </p:nvSpPr>
        <p:spPr>
          <a:xfrm>
            <a:off x="4925855" y="7789627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{{6a_8_2}}</a:t>
            </a:r>
          </a:p>
        </p:txBody>
      </p:sp>
      <p:sp>
        <p:nvSpPr>
          <p:cNvPr id="330016" name="TextBox 330016"/>
          <p:cNvSpPr txBox="1"/>
          <p:nvPr/>
        </p:nvSpPr>
        <p:spPr>
          <a:xfrm>
            <a:off x="4611270" y="8251752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{{6a_9_1}}</a:t>
            </a:r>
          </a:p>
        </p:txBody>
      </p:sp>
      <p:sp>
        <p:nvSpPr>
          <p:cNvPr id="330017" name="TextBox 330017"/>
          <p:cNvSpPr txBox="1"/>
          <p:nvPr/>
        </p:nvSpPr>
        <p:spPr>
          <a:xfrm>
            <a:off x="4930792" y="8251752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{{6a_9_2}}</a:t>
            </a:r>
          </a:p>
        </p:txBody>
      </p:sp>
      <p:sp>
        <p:nvSpPr>
          <p:cNvPr id="330018" name="TextBox 330018"/>
          <p:cNvSpPr txBox="1"/>
          <p:nvPr/>
        </p:nvSpPr>
        <p:spPr>
          <a:xfrm>
            <a:off x="4618364" y="8827957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{{6a_10_1}}</a:t>
            </a:r>
          </a:p>
        </p:txBody>
      </p:sp>
      <p:sp>
        <p:nvSpPr>
          <p:cNvPr id="330019" name="TextBox 330019"/>
          <p:cNvSpPr txBox="1"/>
          <p:nvPr/>
        </p:nvSpPr>
        <p:spPr>
          <a:xfrm>
            <a:off x="4925855" y="8827957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{{6a_10_2}}</a:t>
            </a:r>
          </a:p>
        </p:txBody>
      </p:sp>
    </p:spTree>
    <p:extLst>
      <p:ext uri="{BB962C8B-B14F-4D97-AF65-F5344CB8AC3E}">
        <p14:creationId xmlns:p14="http://schemas.microsoft.com/office/powerpoint/2010/main" val="17945003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ตาราง 1">
            <a:extLst>
              <a:ext uri="{FF2B5EF4-FFF2-40B4-BE49-F238E27FC236}">
                <a16:creationId xmlns:a16="http://schemas.microsoft.com/office/drawing/2014/main" id="{02E5D1F5-F7A8-4CC9-B3B9-E2A9CFA0D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0192151"/>
              </p:ext>
            </p:extLst>
          </p:nvPr>
        </p:nvGraphicFramePr>
        <p:xfrm>
          <a:off x="638175" y="709201"/>
          <a:ext cx="6156000" cy="85659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4000">
                  <a:extLst>
                    <a:ext uri="{9D8B030D-6E8A-4147-A177-3AD203B41FA5}">
                      <a16:colId xmlns:a16="http://schemas.microsoft.com/office/drawing/2014/main" val="439563071"/>
                    </a:ext>
                  </a:extLst>
                </a:gridCol>
                <a:gridCol w="3780000">
                  <a:extLst>
                    <a:ext uri="{9D8B030D-6E8A-4147-A177-3AD203B41FA5}">
                      <a16:colId xmlns:a16="http://schemas.microsoft.com/office/drawing/2014/main" val="180819764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57931776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928680447"/>
                    </a:ext>
                  </a:extLst>
                </a:gridCol>
                <a:gridCol w="1476000">
                  <a:extLst>
                    <a:ext uri="{9D8B030D-6E8A-4147-A177-3AD203B41FA5}">
                      <a16:colId xmlns:a16="http://schemas.microsoft.com/office/drawing/2014/main" val="3838557773"/>
                    </a:ext>
                  </a:extLst>
                </a:gridCol>
              </a:tblGrid>
              <a:tr h="576000">
                <a:tc rowSpan="2">
                  <a:txBody>
                    <a:bodyPr/>
                    <a:lstStyle/>
                    <a:p>
                      <a:pPr marL="7175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ลำดับที่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รายการตรวจสอบ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71755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รอบที่ 1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หมายเหตุ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8256"/>
                  </a:ext>
                </a:extLst>
              </a:tr>
              <a:tr h="57600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ใช้ได้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4153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u="sng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การตรวจสอบความมั่นคงแข็งแรงของป้าย หรือสิ่งที่สร้างขึ้นสำหรับติดหรือตั้งป้าย (ต่อ)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8701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1.9	การเชื่อมยึดระหว่างแผ่นป้ายกับสิ่งที่สร้างขึ้นสำหรับติดหรือตั้งป้าย การเชื่อมยึดระหว่างชิ้นส่วนต่าง ๆ ของสิ่งที่สร้างขึ้นสำหรับติดหรือตั้งป้ายและการเชื่อมยึดระหว่างสิ่งที่สร้างขึ้นสำหรับติดหรือตั้งป้ายกับฐานรากหรืออาคาร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1844293"/>
                  </a:ext>
                </a:extLst>
              </a:tr>
              <a:tr h="0">
                <a:tc rowSpan="8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2</a:t>
                      </a: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การตรวจสอบบำรุงรักษาระบบและอุปกรณ์ประกอบต่าง ๆ ของป้าย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131539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2.1	ระบบไฟฟ้าแสงสว่างและระบบไฟฟ้ากำลัง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621488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(1)	สภาพสายไฟฟ้า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7655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(2)	สภาพท่อร้อยสายรางเดินสาย และรางเคเบิล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11117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(3)	สภาพเครื่องป้องกันกระแสเกิน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85811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(4)	สภาพเครื่องตัดไฟรั่ว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551940" algn="l"/>
                        </a:tabLs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17197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(5)	การต่อลงดินของบริภัณฑ์ตัวนำต่อลงดินและความต่อเนื่องลงดินของท่อร้อยสายรางเดินสายรางเคเบิล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664557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2.2	ระบบป้องกันฟ้าผ่า (ถ้ามี)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7833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(1)	ตรวจสอบระบบตัวนำล่อฟ้าตัวนำต่อลงดิน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8150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(2)	ตรวจสอบระบบรากสายดิน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2969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(3)	ตรวจสอบจุดต่อประสานศักย์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6306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2.3	ระบบอุปกรณ์ประกอบอื่น ๆ (ถ้ามี)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4171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(1)	สภาพ</a:t>
                      </a:r>
                      <a:r>
                        <a:rPr lang="th-TH" sz="1600" dirty="0" err="1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สลิง</a:t>
                      </a: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หรือสายยึด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8822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(2)	สภาพบันไดขึ้นลง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055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(3)	สภาพราวจับ หรือราวกันตก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8372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(4)	สภาพ</a:t>
                      </a:r>
                      <a:r>
                        <a:rPr lang="en-US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CATWALK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995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58775" algn="l"/>
                          <a:tab pos="541338" algn="l"/>
                          <a:tab pos="3589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-	อื่น ๆ (โปรดระบุ)</a:t>
                      </a:r>
                      <a:r>
                        <a:rPr lang="th-TH" sz="1600" u="dotted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4862999"/>
                  </a:ext>
                </a:extLst>
              </a:tr>
            </a:tbl>
          </a:graphicData>
        </a:graphic>
      </p:graphicFrame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2CB95B00-3785-45FC-B2FB-B0AE367D32DC}"/>
              </a:ext>
            </a:extLst>
          </p:cNvPr>
          <p:cNvSpPr/>
          <p:nvPr/>
        </p:nvSpPr>
        <p:spPr>
          <a:xfrm>
            <a:off x="558001" y="7452"/>
            <a:ext cx="6264000" cy="540168"/>
          </a:xfrm>
          <a:prstGeom prst="roundRect">
            <a:avLst/>
          </a:prstGeom>
          <a:noFill/>
          <a:ln cmpd="thickThin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Pro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fire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Inspector Co., Ltd.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B60B6D37-3BF5-461F-B861-1DA9D7AB4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r="5723"/>
          <a:stretch/>
        </p:blipFill>
        <p:spPr>
          <a:xfrm>
            <a:off x="640551" y="25536"/>
            <a:ext cx="318995" cy="504000"/>
          </a:xfrm>
          <a:prstGeom prst="roundRect">
            <a:avLst>
              <a:gd name="adj" fmla="val 6831"/>
            </a:avLst>
          </a:prstGeom>
          <a:ln>
            <a:noFill/>
          </a:ln>
          <a:effectLst/>
        </p:spPr>
      </p:pic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9</a:t>
            </a:r>
          </a:p>
        </p:txBody>
      </p: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62B959BF-7EF4-40E9-9FE4-C35024EDEBC0}"/>
              </a:ext>
            </a:extLst>
          </p:cNvPr>
          <p:cNvCxnSpPr>
            <a:cxnSpLocks/>
          </p:cNvCxnSpPr>
          <p:nvPr/>
        </p:nvCxnSpPr>
        <p:spPr>
          <a:xfrm flipH="1">
            <a:off x="558001" y="548997"/>
            <a:ext cx="6264000" cy="0"/>
          </a:xfrm>
          <a:prstGeom prst="line">
            <a:avLst/>
          </a:prstGeom>
          <a:ln w="41275" cmpd="thickThin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ตัวเชื่อมต่อตรง 22">
            <a:extLst>
              <a:ext uri="{FF2B5EF4-FFF2-40B4-BE49-F238E27FC236}">
                <a16:creationId xmlns:a16="http://schemas.microsoft.com/office/drawing/2014/main" id="{52198961-507F-4793-B45D-FC07B1CDDBCD}"/>
              </a:ext>
            </a:extLst>
          </p:cNvPr>
          <p:cNvCxnSpPr>
            <a:cxnSpLocks/>
          </p:cNvCxnSpPr>
          <p:nvPr/>
        </p:nvCxnSpPr>
        <p:spPr>
          <a:xfrm flipH="1">
            <a:off x="558001" y="9413457"/>
            <a:ext cx="6264000" cy="0"/>
          </a:xfrm>
          <a:prstGeom prst="line">
            <a:avLst/>
          </a:prstGeom>
          <a:ln w="41275" cmpd="thinThick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357CDA8F-4D85-43B1-A53F-BEC5CFE8FDE8}"/>
              </a:ext>
            </a:extLst>
          </p:cNvPr>
          <p:cNvSpPr/>
          <p:nvPr/>
        </p:nvSpPr>
        <p:spPr>
          <a:xfrm>
            <a:off x="558000" y="565704"/>
            <a:ext cx="6300000" cy="8847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40000" name="TextBox 340000"/>
          <p:cNvSpPr txBox="1"/>
          <p:nvPr/>
        </p:nvSpPr>
        <p:spPr>
          <a:xfrm>
            <a:off x="4663823" y="200452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{{6b_1_1}}</a:t>
            </a:r>
          </a:p>
        </p:txBody>
      </p:sp>
      <p:sp>
        <p:nvSpPr>
          <p:cNvPr id="340001" name="TextBox 340001"/>
          <p:cNvSpPr txBox="1"/>
          <p:nvPr/>
        </p:nvSpPr>
        <p:spPr>
          <a:xfrm>
            <a:off x="5163823" y="200452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{{6b_1_2}}</a:t>
            </a:r>
          </a:p>
        </p:txBody>
      </p:sp>
      <p:sp>
        <p:nvSpPr>
          <p:cNvPr id="340002" name="TextBox 340002"/>
          <p:cNvSpPr txBox="1"/>
          <p:nvPr/>
        </p:nvSpPr>
        <p:spPr>
          <a:xfrm>
            <a:off x="4596965" y="2726429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{{6b_2_1}}</a:t>
            </a:r>
          </a:p>
        </p:txBody>
      </p:sp>
      <p:sp>
        <p:nvSpPr>
          <p:cNvPr id="340003" name="TextBox 340003"/>
          <p:cNvSpPr txBox="1"/>
          <p:nvPr/>
        </p:nvSpPr>
        <p:spPr>
          <a:xfrm>
            <a:off x="4940550" y="2726429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{{6b_2_2}}</a:t>
            </a:r>
          </a:p>
        </p:txBody>
      </p:sp>
      <p:sp>
        <p:nvSpPr>
          <p:cNvPr id="340004" name="TextBox 340004"/>
          <p:cNvSpPr txBox="1"/>
          <p:nvPr/>
        </p:nvSpPr>
        <p:spPr>
          <a:xfrm>
            <a:off x="4576123" y="3546209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{{6b_3_1}}</a:t>
            </a:r>
          </a:p>
        </p:txBody>
      </p:sp>
      <p:sp>
        <p:nvSpPr>
          <p:cNvPr id="340005" name="TextBox 340005"/>
          <p:cNvSpPr txBox="1"/>
          <p:nvPr/>
        </p:nvSpPr>
        <p:spPr>
          <a:xfrm>
            <a:off x="4883616" y="3546209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{{6b_3_2}}</a:t>
            </a:r>
          </a:p>
        </p:txBody>
      </p:sp>
      <p:sp>
        <p:nvSpPr>
          <p:cNvPr id="340006" name="TextBox 340006"/>
          <p:cNvSpPr txBox="1"/>
          <p:nvPr/>
        </p:nvSpPr>
        <p:spPr>
          <a:xfrm>
            <a:off x="4576123" y="3932982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{{6b_4_1}}</a:t>
            </a:r>
          </a:p>
        </p:txBody>
      </p:sp>
      <p:sp>
        <p:nvSpPr>
          <p:cNvPr id="340007" name="TextBox 340007"/>
          <p:cNvSpPr txBox="1"/>
          <p:nvPr/>
        </p:nvSpPr>
        <p:spPr>
          <a:xfrm>
            <a:off x="4883616" y="3932982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{{6b_4_2}}</a:t>
            </a:r>
          </a:p>
        </p:txBody>
      </p:sp>
      <p:sp>
        <p:nvSpPr>
          <p:cNvPr id="340008" name="TextBox 340008"/>
          <p:cNvSpPr txBox="1"/>
          <p:nvPr/>
        </p:nvSpPr>
        <p:spPr>
          <a:xfrm>
            <a:off x="4616089" y="4263475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{{6b_5_1}}</a:t>
            </a:r>
          </a:p>
        </p:txBody>
      </p:sp>
      <p:sp>
        <p:nvSpPr>
          <p:cNvPr id="340009" name="TextBox 340009"/>
          <p:cNvSpPr txBox="1"/>
          <p:nvPr/>
        </p:nvSpPr>
        <p:spPr>
          <a:xfrm>
            <a:off x="4899517" y="4263475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{{6b_5_2}}</a:t>
            </a:r>
          </a:p>
        </p:txBody>
      </p:sp>
      <p:sp>
        <p:nvSpPr>
          <p:cNvPr id="340010" name="TextBox 340010"/>
          <p:cNvSpPr txBox="1"/>
          <p:nvPr/>
        </p:nvSpPr>
        <p:spPr>
          <a:xfrm>
            <a:off x="4642162" y="4583475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{{6b_6_1}}</a:t>
            </a:r>
          </a:p>
        </p:txBody>
      </p:sp>
      <p:sp>
        <p:nvSpPr>
          <p:cNvPr id="340011" name="TextBox 340011"/>
          <p:cNvSpPr txBox="1"/>
          <p:nvPr/>
        </p:nvSpPr>
        <p:spPr>
          <a:xfrm>
            <a:off x="4925590" y="4583475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{{6b_6_2}}</a:t>
            </a:r>
          </a:p>
        </p:txBody>
      </p:sp>
      <p:sp>
        <p:nvSpPr>
          <p:cNvPr id="340012" name="TextBox 340012"/>
          <p:cNvSpPr txBox="1"/>
          <p:nvPr/>
        </p:nvSpPr>
        <p:spPr>
          <a:xfrm>
            <a:off x="4621631" y="4879411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{{6b_7_1}}</a:t>
            </a:r>
          </a:p>
        </p:txBody>
      </p:sp>
      <p:sp>
        <p:nvSpPr>
          <p:cNvPr id="340013" name="TextBox 340013"/>
          <p:cNvSpPr txBox="1"/>
          <p:nvPr/>
        </p:nvSpPr>
        <p:spPr>
          <a:xfrm>
            <a:off x="4929123" y="4879411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{{6b_7_2}}</a:t>
            </a:r>
          </a:p>
        </p:txBody>
      </p:sp>
      <p:sp>
        <p:nvSpPr>
          <p:cNvPr id="340014" name="TextBox 340014"/>
          <p:cNvSpPr txBox="1"/>
          <p:nvPr/>
        </p:nvSpPr>
        <p:spPr>
          <a:xfrm>
            <a:off x="4624339" y="5199411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{{6b_8_1}}</a:t>
            </a:r>
          </a:p>
        </p:txBody>
      </p:sp>
      <p:sp>
        <p:nvSpPr>
          <p:cNvPr id="340015" name="TextBox 340015"/>
          <p:cNvSpPr txBox="1"/>
          <p:nvPr/>
        </p:nvSpPr>
        <p:spPr>
          <a:xfrm>
            <a:off x="4931831" y="5199411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{{6b_8_2}}</a:t>
            </a:r>
          </a:p>
        </p:txBody>
      </p:sp>
      <p:sp>
        <p:nvSpPr>
          <p:cNvPr id="340016" name="TextBox 340016"/>
          <p:cNvSpPr txBox="1"/>
          <p:nvPr/>
        </p:nvSpPr>
        <p:spPr>
          <a:xfrm>
            <a:off x="4599674" y="5519411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{{6b_9_1}}</a:t>
            </a:r>
          </a:p>
        </p:txBody>
      </p:sp>
      <p:sp>
        <p:nvSpPr>
          <p:cNvPr id="340017" name="TextBox 340017"/>
          <p:cNvSpPr txBox="1"/>
          <p:nvPr/>
        </p:nvSpPr>
        <p:spPr>
          <a:xfrm>
            <a:off x="4895135" y="5519411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{{6b_9_2}}</a:t>
            </a:r>
          </a:p>
        </p:txBody>
      </p:sp>
      <p:sp>
        <p:nvSpPr>
          <p:cNvPr id="340018" name="TextBox 340018"/>
          <p:cNvSpPr txBox="1"/>
          <p:nvPr/>
        </p:nvSpPr>
        <p:spPr>
          <a:xfrm>
            <a:off x="4612952" y="5778155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{{6b_10_1}}</a:t>
            </a:r>
          </a:p>
        </p:txBody>
      </p:sp>
      <p:sp>
        <p:nvSpPr>
          <p:cNvPr id="340019" name="TextBox 340019"/>
          <p:cNvSpPr txBox="1"/>
          <p:nvPr/>
        </p:nvSpPr>
        <p:spPr>
          <a:xfrm>
            <a:off x="4884349" y="5778155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{{6b_10_2}}</a:t>
            </a:r>
          </a:p>
        </p:txBody>
      </p:sp>
      <p:sp>
        <p:nvSpPr>
          <p:cNvPr id="340020" name="TextBox 340020"/>
          <p:cNvSpPr txBox="1"/>
          <p:nvPr/>
        </p:nvSpPr>
        <p:spPr>
          <a:xfrm>
            <a:off x="4620558" y="6135347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{{6b_11_1}}</a:t>
            </a:r>
          </a:p>
        </p:txBody>
      </p:sp>
      <p:sp>
        <p:nvSpPr>
          <p:cNvPr id="340021" name="TextBox 340021"/>
          <p:cNvSpPr txBox="1"/>
          <p:nvPr/>
        </p:nvSpPr>
        <p:spPr>
          <a:xfrm>
            <a:off x="4903987" y="6135347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{{6b_11_2}}</a:t>
            </a:r>
          </a:p>
        </p:txBody>
      </p:sp>
      <p:sp>
        <p:nvSpPr>
          <p:cNvPr id="340022" name="TextBox 340022"/>
          <p:cNvSpPr txBox="1"/>
          <p:nvPr/>
        </p:nvSpPr>
        <p:spPr>
          <a:xfrm>
            <a:off x="4621806" y="6431283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{{6b_12_1}}</a:t>
            </a:r>
          </a:p>
        </p:txBody>
      </p:sp>
      <p:sp>
        <p:nvSpPr>
          <p:cNvPr id="340023" name="TextBox 340023"/>
          <p:cNvSpPr txBox="1"/>
          <p:nvPr/>
        </p:nvSpPr>
        <p:spPr>
          <a:xfrm>
            <a:off x="4881171" y="6431283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{{6b_12_2}}</a:t>
            </a:r>
          </a:p>
        </p:txBody>
      </p:sp>
      <p:sp>
        <p:nvSpPr>
          <p:cNvPr id="340024" name="TextBox 340024"/>
          <p:cNvSpPr txBox="1"/>
          <p:nvPr/>
        </p:nvSpPr>
        <p:spPr>
          <a:xfrm>
            <a:off x="4624511" y="6739251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{{6b_13_1}}</a:t>
            </a:r>
          </a:p>
        </p:txBody>
      </p:sp>
      <p:sp>
        <p:nvSpPr>
          <p:cNvPr id="340025" name="TextBox 340025"/>
          <p:cNvSpPr txBox="1"/>
          <p:nvPr/>
        </p:nvSpPr>
        <p:spPr>
          <a:xfrm>
            <a:off x="4883876" y="6739251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{{6b_13_2}}</a:t>
            </a:r>
          </a:p>
        </p:txBody>
      </p:sp>
      <p:sp>
        <p:nvSpPr>
          <p:cNvPr id="340026" name="TextBox 340026"/>
          <p:cNvSpPr txBox="1"/>
          <p:nvPr/>
        </p:nvSpPr>
        <p:spPr>
          <a:xfrm>
            <a:off x="4620558" y="7047219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{{6b_14_1}}</a:t>
            </a:r>
          </a:p>
        </p:txBody>
      </p:sp>
      <p:sp>
        <p:nvSpPr>
          <p:cNvPr id="340027" name="TextBox 340027"/>
          <p:cNvSpPr txBox="1"/>
          <p:nvPr/>
        </p:nvSpPr>
        <p:spPr>
          <a:xfrm>
            <a:off x="4903987" y="7047219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{{6b_14_2}}</a:t>
            </a:r>
          </a:p>
        </p:txBody>
      </p:sp>
      <p:sp>
        <p:nvSpPr>
          <p:cNvPr id="340028" name="TextBox 340028"/>
          <p:cNvSpPr txBox="1"/>
          <p:nvPr/>
        </p:nvSpPr>
        <p:spPr>
          <a:xfrm>
            <a:off x="4625460" y="7367219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{{6b_15_1}}</a:t>
            </a:r>
          </a:p>
        </p:txBody>
      </p:sp>
      <p:sp>
        <p:nvSpPr>
          <p:cNvPr id="340029" name="TextBox 340029"/>
          <p:cNvSpPr txBox="1"/>
          <p:nvPr/>
        </p:nvSpPr>
        <p:spPr>
          <a:xfrm>
            <a:off x="4908889" y="7367219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{{6b_15_2}}</a:t>
            </a:r>
          </a:p>
        </p:txBody>
      </p:sp>
      <p:sp>
        <p:nvSpPr>
          <p:cNvPr id="340030" name="TextBox 340030"/>
          <p:cNvSpPr txBox="1"/>
          <p:nvPr/>
        </p:nvSpPr>
        <p:spPr>
          <a:xfrm>
            <a:off x="4634537" y="7687219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{{6b_16_1}}</a:t>
            </a:r>
          </a:p>
        </p:txBody>
      </p:sp>
      <p:sp>
        <p:nvSpPr>
          <p:cNvPr id="340031" name="TextBox 340031"/>
          <p:cNvSpPr txBox="1"/>
          <p:nvPr/>
        </p:nvSpPr>
        <p:spPr>
          <a:xfrm>
            <a:off x="4917966" y="7687219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{{6b_16_2}}</a:t>
            </a:r>
          </a:p>
        </p:txBody>
      </p:sp>
      <p:sp>
        <p:nvSpPr>
          <p:cNvPr id="340032" name="TextBox 340032"/>
          <p:cNvSpPr txBox="1"/>
          <p:nvPr/>
        </p:nvSpPr>
        <p:spPr>
          <a:xfrm>
            <a:off x="4636771" y="8007219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{{6b_17_1}}</a:t>
            </a:r>
          </a:p>
        </p:txBody>
      </p:sp>
      <p:sp>
        <p:nvSpPr>
          <p:cNvPr id="340033" name="TextBox 340033"/>
          <p:cNvSpPr txBox="1"/>
          <p:nvPr/>
        </p:nvSpPr>
        <p:spPr>
          <a:xfrm>
            <a:off x="4920200" y="8007219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{{6b_17_2}}</a:t>
            </a:r>
          </a:p>
        </p:txBody>
      </p:sp>
      <p:sp>
        <p:nvSpPr>
          <p:cNvPr id="340034" name="TextBox 340034"/>
          <p:cNvSpPr txBox="1"/>
          <p:nvPr/>
        </p:nvSpPr>
        <p:spPr>
          <a:xfrm>
            <a:off x="4655357" y="8327219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{{6b_18_1}}</a:t>
            </a:r>
          </a:p>
        </p:txBody>
      </p:sp>
      <p:sp>
        <p:nvSpPr>
          <p:cNvPr id="340035" name="TextBox 340035"/>
          <p:cNvSpPr txBox="1"/>
          <p:nvPr/>
        </p:nvSpPr>
        <p:spPr>
          <a:xfrm>
            <a:off x="4938786" y="8327219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{{6b_18_2}}</a:t>
            </a:r>
          </a:p>
        </p:txBody>
      </p:sp>
      <p:sp>
        <p:nvSpPr>
          <p:cNvPr id="340036" name="TextBox 340036"/>
          <p:cNvSpPr txBox="1"/>
          <p:nvPr/>
        </p:nvSpPr>
        <p:spPr>
          <a:xfrm>
            <a:off x="4630394" y="8653046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{{6b_19_1}}</a:t>
            </a:r>
          </a:p>
        </p:txBody>
      </p:sp>
      <p:sp>
        <p:nvSpPr>
          <p:cNvPr id="340037" name="TextBox 340037"/>
          <p:cNvSpPr txBox="1"/>
          <p:nvPr/>
        </p:nvSpPr>
        <p:spPr>
          <a:xfrm>
            <a:off x="4913823" y="8653046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{{6b_19_2}}</a:t>
            </a:r>
          </a:p>
        </p:txBody>
      </p:sp>
      <p:sp>
        <p:nvSpPr>
          <p:cNvPr id="340038" name="TextBox 340038"/>
          <p:cNvSpPr txBox="1"/>
          <p:nvPr/>
        </p:nvSpPr>
        <p:spPr>
          <a:xfrm>
            <a:off x="4630394" y="8973046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{{6b_20_1}}</a:t>
            </a:r>
          </a:p>
        </p:txBody>
      </p:sp>
      <p:sp>
        <p:nvSpPr>
          <p:cNvPr id="340039" name="TextBox 340039"/>
          <p:cNvSpPr txBox="1"/>
          <p:nvPr/>
        </p:nvSpPr>
        <p:spPr>
          <a:xfrm>
            <a:off x="4905357" y="8967219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{{6b_20_2}}</a:t>
            </a:r>
          </a:p>
        </p:txBody>
      </p:sp>
    </p:spTree>
    <p:extLst>
      <p:ext uri="{BB962C8B-B14F-4D97-AF65-F5344CB8AC3E}">
        <p14:creationId xmlns:p14="http://schemas.microsoft.com/office/powerpoint/2010/main" val="24587412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ตาราง 1">
            <a:extLst>
              <a:ext uri="{FF2B5EF4-FFF2-40B4-BE49-F238E27FC236}">
                <a16:creationId xmlns:a16="http://schemas.microsoft.com/office/drawing/2014/main" id="{02E5D1F5-F7A8-4CC9-B3B9-E2A9CFA0D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0164115"/>
              </p:ext>
            </p:extLst>
          </p:nvPr>
        </p:nvGraphicFramePr>
        <p:xfrm>
          <a:off x="638175" y="2156275"/>
          <a:ext cx="6151776" cy="53923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9520">
                  <a:extLst>
                    <a:ext uri="{9D8B030D-6E8A-4147-A177-3AD203B41FA5}">
                      <a16:colId xmlns:a16="http://schemas.microsoft.com/office/drawing/2014/main" val="439563071"/>
                    </a:ext>
                  </a:extLst>
                </a:gridCol>
                <a:gridCol w="1589765">
                  <a:extLst>
                    <a:ext uri="{9D8B030D-6E8A-4147-A177-3AD203B41FA5}">
                      <a16:colId xmlns:a16="http://schemas.microsoft.com/office/drawing/2014/main" val="1808197646"/>
                    </a:ext>
                  </a:extLst>
                </a:gridCol>
                <a:gridCol w="1722235">
                  <a:extLst>
                    <a:ext uri="{9D8B030D-6E8A-4147-A177-3AD203B41FA5}">
                      <a16:colId xmlns:a16="http://schemas.microsoft.com/office/drawing/2014/main" val="891346342"/>
                    </a:ext>
                  </a:extLst>
                </a:gridCol>
                <a:gridCol w="275128">
                  <a:extLst>
                    <a:ext uri="{9D8B030D-6E8A-4147-A177-3AD203B41FA5}">
                      <a16:colId xmlns:a16="http://schemas.microsoft.com/office/drawing/2014/main" val="2579317762"/>
                    </a:ext>
                  </a:extLst>
                </a:gridCol>
                <a:gridCol w="275128">
                  <a:extLst>
                    <a:ext uri="{9D8B030D-6E8A-4147-A177-3AD203B41FA5}">
                      <a16:colId xmlns:a16="http://schemas.microsoft.com/office/drawing/2014/main" val="92868044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490746740"/>
                    </a:ext>
                  </a:extLst>
                </a:gridCol>
                <a:gridCol w="167469">
                  <a:extLst>
                    <a:ext uri="{9D8B030D-6E8A-4147-A177-3AD203B41FA5}">
                      <a16:colId xmlns:a16="http://schemas.microsoft.com/office/drawing/2014/main" val="3838557773"/>
                    </a:ext>
                  </a:extLst>
                </a:gridCol>
                <a:gridCol w="1524531">
                  <a:extLst>
                    <a:ext uri="{9D8B030D-6E8A-4147-A177-3AD203B41FA5}">
                      <a16:colId xmlns:a16="http://schemas.microsoft.com/office/drawing/2014/main" val="35788211"/>
                    </a:ext>
                  </a:extLst>
                </a:gridCol>
              </a:tblGrid>
              <a:tr h="936000">
                <a:tc>
                  <a:txBody>
                    <a:bodyPr/>
                    <a:lstStyle/>
                    <a:p>
                      <a:pPr marL="7175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ลำดับที่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รายการตรวจสอบ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ใช้ได้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มีการแก้ไขแล้ว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หมายเหตุ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38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1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การตรวจบำรุงรักษาป้ายด้านความมั่นคงแข็งแรงของป้ายหรือสิ่งที่สร้างขึ้นสำหรับติดหรือตั้งป้าย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8701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 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R="2159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000" u="none" strike="noStrike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 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1844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2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R="2159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การตรวจสอบบำรุงรักษาระบบและอุปกรณ์ประกอบของป้าย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8150186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indent="18034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R="2159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2.1 ระบบไฟฟ้าแสงสว่างและระบบไฟฟ้ากำลัง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296934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R="2159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2.2 ระบบป้องกันฟ้าผ่า (ถ้ามี)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630654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R="2159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2.3 ระบบอุปกรณ์ประกอบอื่น ๆ (ถ้ามี)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171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8034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R="2159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0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0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0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0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0536370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r>
                        <a:rPr lang="th-TH" sz="1600" b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รายละเอียดเพิ่มเติม :</a:t>
                      </a:r>
                      <a:r>
                        <a:rPr lang="th-TH" sz="1600" b="0" u="dotted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-		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R="2159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3836261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endParaRPr lang="th-TH" sz="1600" b="0" u="dotted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7996429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endParaRPr lang="th-TH" sz="1600" b="0" u="dotted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745674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indent="0" algn="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r>
                        <a:rPr lang="th-TH" sz="1600" b="1" u="none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ลายมือชื่อ</a:t>
                      </a:r>
                    </a:p>
                  </a:txBody>
                  <a:tcPr marL="0" marR="18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r>
                        <a:rPr lang="th-TH" sz="1600" b="0" u="dotted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r>
                        <a:rPr lang="th-TH" sz="1600" b="1" u="none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เจ้าของป้าย หรือผู้ดูแลป้าย</a:t>
                      </a:r>
                      <a:endParaRPr lang="th-TH" sz="1600" b="1" u="none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18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8955504"/>
                  </a:ext>
                </a:extLst>
              </a:tr>
              <a:tr h="95123">
                <a:tc gridSpan="2"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endParaRPr lang="th-TH" sz="1600" b="1" u="none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898525" algn="l"/>
                          <a:tab pos="6007100" algn="l"/>
                        </a:tabLst>
                      </a:pPr>
                      <a:r>
                        <a:rPr lang="ru-RU" sz="1600" b="1" u="none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                                                                      )</a:t>
                      </a:r>
                      <a:endParaRPr lang="th-TH" sz="1600" b="1" u="none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endParaRPr lang="th-TH" sz="1600" b="1" u="none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4138539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indent="0" algn="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r>
                        <a:rPr lang="th-TH" sz="1600" b="1" u="none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วัน เดือน ปี ที่ตรวจ</a:t>
                      </a:r>
                    </a:p>
                  </a:txBody>
                  <a:tcPr marL="0" marR="18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endParaRPr lang="th-TH" sz="1600" b="1" u="none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endParaRPr lang="th-TH" sz="1600" b="1" u="none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9712827"/>
                  </a:ext>
                </a:extLst>
              </a:tr>
            </a:tbl>
          </a:graphicData>
        </a:graphic>
      </p:graphicFrame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2CB95B00-3785-45FC-B2FB-B0AE367D32DC}"/>
              </a:ext>
            </a:extLst>
          </p:cNvPr>
          <p:cNvSpPr/>
          <p:nvPr/>
        </p:nvSpPr>
        <p:spPr>
          <a:xfrm>
            <a:off x="558001" y="7452"/>
            <a:ext cx="6264000" cy="540168"/>
          </a:xfrm>
          <a:prstGeom prst="roundRect">
            <a:avLst/>
          </a:prstGeom>
          <a:noFill/>
          <a:ln cmpd="thickThin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Pro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fire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Inspector Co., Ltd.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  <a:p>
            <a:r>
              <a:t>{{signoff.inspectorName}}</a:t>
            </a:r>
          </a:p>
          <a:p>
            <a:r>
              <a:t>{{signoff.inspectionDate}}</a:t>
            </a:r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B60B6D37-3BF5-461F-B861-1DA9D7AB4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r="5723"/>
          <a:stretch/>
        </p:blipFill>
        <p:spPr>
          <a:xfrm>
            <a:off x="640551" y="25536"/>
            <a:ext cx="318995" cy="504000"/>
          </a:xfrm>
          <a:prstGeom prst="roundRect">
            <a:avLst>
              <a:gd name="adj" fmla="val 6831"/>
            </a:avLst>
          </a:prstGeom>
          <a:ln>
            <a:noFill/>
          </a:ln>
          <a:effectLst/>
        </p:spPr>
      </p:pic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10</a:t>
            </a:r>
          </a:p>
        </p:txBody>
      </p: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62B959BF-7EF4-40E9-9FE4-C35024EDEBC0}"/>
              </a:ext>
            </a:extLst>
          </p:cNvPr>
          <p:cNvCxnSpPr>
            <a:cxnSpLocks/>
          </p:cNvCxnSpPr>
          <p:nvPr/>
        </p:nvCxnSpPr>
        <p:spPr>
          <a:xfrm flipH="1">
            <a:off x="558001" y="548997"/>
            <a:ext cx="6264000" cy="0"/>
          </a:xfrm>
          <a:prstGeom prst="line">
            <a:avLst/>
          </a:prstGeom>
          <a:ln w="41275" cmpd="thickThin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ตัวเชื่อมต่อตรง 22">
            <a:extLst>
              <a:ext uri="{FF2B5EF4-FFF2-40B4-BE49-F238E27FC236}">
                <a16:creationId xmlns:a16="http://schemas.microsoft.com/office/drawing/2014/main" id="{52198961-507F-4793-B45D-FC07B1CDDBCD}"/>
              </a:ext>
            </a:extLst>
          </p:cNvPr>
          <p:cNvCxnSpPr>
            <a:cxnSpLocks/>
          </p:cNvCxnSpPr>
          <p:nvPr/>
        </p:nvCxnSpPr>
        <p:spPr>
          <a:xfrm flipH="1">
            <a:off x="558001" y="9413457"/>
            <a:ext cx="6264000" cy="0"/>
          </a:xfrm>
          <a:prstGeom prst="line">
            <a:avLst/>
          </a:prstGeom>
          <a:ln w="41275" cmpd="thinThick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357CDA8F-4D85-43B1-A53F-BEC5CFE8FDE8}"/>
              </a:ext>
            </a:extLst>
          </p:cNvPr>
          <p:cNvSpPr/>
          <p:nvPr/>
        </p:nvSpPr>
        <p:spPr>
          <a:xfrm>
            <a:off x="558000" y="565704"/>
            <a:ext cx="6300000" cy="8847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F98346E7-530D-454B-B9AD-7346F155F2C9}"/>
              </a:ext>
            </a:extLst>
          </p:cNvPr>
          <p:cNvSpPr txBox="1"/>
          <p:nvPr/>
        </p:nvSpPr>
        <p:spPr>
          <a:xfrm>
            <a:off x="557998" y="1121884"/>
            <a:ext cx="6300001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358775" algn="thaiDist">
              <a:tabLst>
                <a:tab pos="625475" algn="l"/>
              </a:tabLst>
            </a:pPr>
            <a:endParaRPr lang="th-TH" sz="1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7 เป็นสรุปผลการตรวจสอบบำรุงรักษาป้าย ระบบและอุปกรณ์ประกอบต่าง ๆ ของป้าย รวมทั้งการตรวจสอบสมรรถนะของระบบและอุปกรณ์ต่าง ๆ ที่เกี่ยวข้องกับความปลอดภัยของป้ายอาคารตามที่ผู้ตรวจสอบอาคารได้กำหนดไว้</a:t>
            </a:r>
            <a:endParaRPr lang="th-TH" sz="1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2" name="กล่องข้อความ 11">
            <a:extLst>
              <a:ext uri="{FF2B5EF4-FFF2-40B4-BE49-F238E27FC236}">
                <a16:creationId xmlns:a16="http://schemas.microsoft.com/office/drawing/2014/main" id="{9E1AA897-1D3F-49B7-80C0-05C141853193}"/>
              </a:ext>
            </a:extLst>
          </p:cNvPr>
          <p:cNvSpPr txBox="1"/>
          <p:nvPr/>
        </p:nvSpPr>
        <p:spPr>
          <a:xfrm>
            <a:off x="558000" y="711200"/>
            <a:ext cx="6300000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h-TH" sz="2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7 สรุปผลการตรวจบำรุงรักษาป้ายและอุปกรณ์ประกอบของป้าย</a:t>
            </a:r>
          </a:p>
        </p:txBody>
      </p:sp>
      <p:sp>
        <p:nvSpPr>
          <p:cNvPr id="350000" name="TextBox 350000"/>
          <p:cNvSpPr txBox="1"/>
          <p:nvPr/>
        </p:nvSpPr>
        <p:spPr>
          <a:xfrm>
            <a:off x="4140038" y="3129245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{{7sum_1_1}}</a:t>
            </a:r>
          </a:p>
        </p:txBody>
      </p:sp>
      <p:sp>
        <p:nvSpPr>
          <p:cNvPr id="350001" name="TextBox 350001"/>
          <p:cNvSpPr txBox="1"/>
          <p:nvPr/>
        </p:nvSpPr>
        <p:spPr>
          <a:xfrm>
            <a:off x="4411829" y="3128735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{{7sum_1_2}}</a:t>
            </a:r>
          </a:p>
        </p:txBody>
      </p:sp>
      <p:sp>
        <p:nvSpPr>
          <p:cNvPr id="350002" name="TextBox 350002"/>
          <p:cNvSpPr txBox="1"/>
          <p:nvPr/>
        </p:nvSpPr>
        <p:spPr>
          <a:xfrm>
            <a:off x="4680502" y="3850962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{{7sum_1_3}}</a:t>
            </a:r>
          </a:p>
        </p:txBody>
      </p:sp>
      <p:sp>
        <p:nvSpPr>
          <p:cNvPr id="350003" name="TextBox 350003"/>
          <p:cNvSpPr txBox="1"/>
          <p:nvPr/>
        </p:nvSpPr>
        <p:spPr>
          <a:xfrm>
            <a:off x="4113701" y="3850962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{{7sum_2_1}}</a:t>
            </a:r>
          </a:p>
        </p:txBody>
      </p:sp>
      <p:sp>
        <p:nvSpPr>
          <p:cNvPr id="350004" name="TextBox 350004"/>
          <p:cNvSpPr txBox="1"/>
          <p:nvPr/>
        </p:nvSpPr>
        <p:spPr>
          <a:xfrm>
            <a:off x="4448032" y="3850962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{{7sum_2_2}}</a:t>
            </a:r>
          </a:p>
        </p:txBody>
      </p:sp>
      <p:sp>
        <p:nvSpPr>
          <p:cNvPr id="350005" name="TextBox 350005"/>
          <p:cNvSpPr txBox="1"/>
          <p:nvPr/>
        </p:nvSpPr>
        <p:spPr>
          <a:xfrm>
            <a:off x="4740551" y="3827151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{{7sum_2_3}}</a:t>
            </a:r>
          </a:p>
        </p:txBody>
      </p:sp>
      <p:sp>
        <p:nvSpPr>
          <p:cNvPr id="350006" name="TextBox 350006"/>
          <p:cNvSpPr txBox="1"/>
          <p:nvPr/>
        </p:nvSpPr>
        <p:spPr>
          <a:xfrm>
            <a:off x="4161875" y="4432182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{{7sum_3_1}}</a:t>
            </a:r>
          </a:p>
        </p:txBody>
      </p:sp>
      <p:sp>
        <p:nvSpPr>
          <p:cNvPr id="350007" name="TextBox 350007"/>
          <p:cNvSpPr txBox="1"/>
          <p:nvPr/>
        </p:nvSpPr>
        <p:spPr>
          <a:xfrm>
            <a:off x="4418534" y="4428478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{{7sum_3_2}}</a:t>
            </a:r>
          </a:p>
        </p:txBody>
      </p:sp>
      <p:sp>
        <p:nvSpPr>
          <p:cNvPr id="350008" name="TextBox 350008"/>
          <p:cNvSpPr txBox="1"/>
          <p:nvPr/>
        </p:nvSpPr>
        <p:spPr>
          <a:xfrm>
            <a:off x="4688654" y="4432976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{{7sum_3_3}}</a:t>
            </a:r>
          </a:p>
        </p:txBody>
      </p:sp>
      <p:sp>
        <p:nvSpPr>
          <p:cNvPr id="350009" name="TextBox 350009"/>
          <p:cNvSpPr txBox="1"/>
          <p:nvPr/>
        </p:nvSpPr>
        <p:spPr>
          <a:xfrm>
            <a:off x="4139034" y="4778482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{{7sum_4_1}}</a:t>
            </a:r>
          </a:p>
        </p:txBody>
      </p:sp>
      <p:sp>
        <p:nvSpPr>
          <p:cNvPr id="350010" name="TextBox 350010"/>
          <p:cNvSpPr txBox="1"/>
          <p:nvPr/>
        </p:nvSpPr>
        <p:spPr>
          <a:xfrm>
            <a:off x="4406502" y="4780635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{{7sum_4_2}}</a:t>
            </a:r>
          </a:p>
        </p:txBody>
      </p:sp>
      <p:sp>
        <p:nvSpPr>
          <p:cNvPr id="350011" name="TextBox 350011"/>
          <p:cNvSpPr txBox="1"/>
          <p:nvPr/>
        </p:nvSpPr>
        <p:spPr>
          <a:xfrm>
            <a:off x="4699194" y="4776283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{{7sum_4_3}}</a:t>
            </a:r>
          </a:p>
        </p:txBody>
      </p:sp>
      <p:sp>
        <p:nvSpPr>
          <p:cNvPr id="350012" name="TextBox 350012"/>
          <p:cNvSpPr txBox="1"/>
          <p:nvPr/>
        </p:nvSpPr>
        <p:spPr>
          <a:xfrm>
            <a:off x="4140257" y="5075349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{{7sum_5_1}}</a:t>
            </a:r>
          </a:p>
        </p:txBody>
      </p:sp>
      <p:sp>
        <p:nvSpPr>
          <p:cNvPr id="350013" name="TextBox 350013"/>
          <p:cNvSpPr txBox="1"/>
          <p:nvPr/>
        </p:nvSpPr>
        <p:spPr>
          <a:xfrm>
            <a:off x="4406327" y="5073802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{{7sum_5_2}}</a:t>
            </a:r>
          </a:p>
        </p:txBody>
      </p:sp>
      <p:sp>
        <p:nvSpPr>
          <p:cNvPr id="350014" name="TextBox 350014"/>
          <p:cNvSpPr txBox="1"/>
          <p:nvPr/>
        </p:nvSpPr>
        <p:spPr>
          <a:xfrm>
            <a:off x="4680391" y="5078476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{{7sum_5_3}}</a:t>
            </a:r>
          </a:p>
        </p:txBody>
      </p:sp>
    </p:spTree>
    <p:extLst>
      <p:ext uri="{BB962C8B-B14F-4D97-AF65-F5344CB8AC3E}">
        <p14:creationId xmlns:p14="http://schemas.microsoft.com/office/powerpoint/2010/main" val="868523081"/>
      </p:ext>
    </p:extLst>
  </p:cSld>
  <p:clrMapOvr>
    <a:masterClrMapping/>
  </p:clrMapOvr>
</p:sld>
</file>

<file path=ppt/theme/theme1.xml><?xml version="1.0" encoding="utf-8"?>
<a:theme xmlns:a="http://schemas.openxmlformats.org/drawingml/2006/main" name="ธีมของ Office">
  <a:themeElements>
    <a:clrScheme name="ธีมของ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ธีมของ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ธีมของ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1705</TotalTime>
  <Words>9937</Words>
  <Application>Microsoft Office PowerPoint</Application>
  <PresentationFormat>กระดาษ A4 (210x297 มม.)</PresentationFormat>
  <Paragraphs>1318</Paragraphs>
  <Slides>35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5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35</vt:i4>
      </vt:variant>
    </vt:vector>
  </HeadingPairs>
  <TitlesOfParts>
    <vt:vector size="41" baseType="lpstr">
      <vt:lpstr>Angsana New</vt:lpstr>
      <vt:lpstr>Arial</vt:lpstr>
      <vt:lpstr>Calibri</vt:lpstr>
      <vt:lpstr>Calibri Light</vt:lpstr>
      <vt:lpstr>Times New Roman</vt:lpstr>
      <vt:lpstr>ธีมของ Office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งานนำเสนอ PowerPoint</dc:title>
  <dc:creator>PFI-24-12-65</dc:creator>
  <cp:lastModifiedBy>admin</cp:lastModifiedBy>
  <cp:revision>145</cp:revision>
  <cp:lastPrinted>2022-05-18T12:52:10Z</cp:lastPrinted>
  <dcterms:created xsi:type="dcterms:W3CDTF">2022-05-17T06:17:34Z</dcterms:created>
  <dcterms:modified xsi:type="dcterms:W3CDTF">2025-11-27T12:29:04Z</dcterms:modified>
</cp:coreProperties>
</file>